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24" r:id="rId4"/>
    <p:sldId id="285" r:id="rId5"/>
    <p:sldId id="258" r:id="rId6"/>
    <p:sldId id="325" r:id="rId7"/>
    <p:sldId id="326" r:id="rId8"/>
    <p:sldId id="327" r:id="rId9"/>
    <p:sldId id="328" r:id="rId10"/>
    <p:sldId id="333" r:id="rId11"/>
    <p:sldId id="329" r:id="rId12"/>
    <p:sldId id="330" r:id="rId13"/>
    <p:sldId id="331" r:id="rId14"/>
    <p:sldId id="332" r:id="rId15"/>
    <p:sldId id="347" r:id="rId16"/>
    <p:sldId id="334" r:id="rId17"/>
    <p:sldId id="286" r:id="rId18"/>
    <p:sldId id="335" r:id="rId19"/>
    <p:sldId id="336" r:id="rId20"/>
    <p:sldId id="337" r:id="rId21"/>
    <p:sldId id="338" r:id="rId22"/>
    <p:sldId id="339" r:id="rId23"/>
    <p:sldId id="34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95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#4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#4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87A16-609F-41CD-8BE5-16BC207B83CD}" type="doc">
      <dgm:prSet loTypeId="urn:microsoft.com/office/officeart/2005/8/layout/default#1" loCatId="list" qsTypeId="urn:microsoft.com/office/officeart/2005/8/quickstyle/simple1#1" qsCatId="simple" csTypeId="urn:microsoft.com/office/officeart/2005/8/colors/accent0_3#1" csCatId="mainScheme" phldr="1"/>
      <dgm:spPr/>
      <dgm:t>
        <a:bodyPr/>
        <a:lstStyle/>
        <a:p>
          <a:endParaRPr lang="en-US"/>
        </a:p>
      </dgm:t>
    </dgm:pt>
    <dgm:pt modelId="{93CDC0EF-C149-4B18-8794-DC1EDF4EFBC2}">
      <dgm:prSet phldr="0" custT="0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latin typeface="Calibri" panose="020F0502020204030204"/>
              <a:ea typeface="Calibri" panose="020F0502020204030204"/>
              <a:cs typeface="Calibri" panose="020F0502020204030204"/>
            </a:rPr>
            <a:t>Abdullah </a:t>
          </a:r>
          <a:endParaRPr lang="en-US" dirty="0"/>
        </a:p>
      </dgm:t>
    </dgm:pt>
    <dgm:pt modelId="{D106B4BD-F908-4719-A040-71899BCD4907}" type="parTrans" cxnId="{957C4F8F-A013-4C7D-85AF-73C445196482}">
      <dgm:prSet/>
      <dgm:spPr/>
      <dgm:t>
        <a:bodyPr/>
        <a:lstStyle/>
        <a:p>
          <a:endParaRPr lang="en-US"/>
        </a:p>
      </dgm:t>
    </dgm:pt>
    <dgm:pt modelId="{37F301C6-CCF1-4D7F-99B2-F0B96AAE9C27}" type="sibTrans" cxnId="{957C4F8F-A013-4C7D-85AF-73C445196482}">
      <dgm:prSet/>
      <dgm:spPr/>
      <dgm:t>
        <a:bodyPr/>
        <a:lstStyle/>
        <a:p>
          <a:endParaRPr lang="en-US"/>
        </a:p>
      </dgm:t>
    </dgm:pt>
    <dgm:pt modelId="{475D51D8-5E17-4F8B-B092-D05B4BE7C0E6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Calibri" panose="020F0502020204030204"/>
              <a:ea typeface="Calibri" panose="020F0502020204030204"/>
              <a:cs typeface="Calibri" panose="020F0502020204030204"/>
            </a:rPr>
            <a:t>Sharjeel</a:t>
          </a:r>
          <a:endParaRPr lang="en-US" dirty="0"/>
        </a:p>
      </dgm:t>
    </dgm:pt>
    <dgm:pt modelId="{9E458BF6-EDA5-4DC8-B73A-A67F57660D74}" type="parTrans" cxnId="{E5AC3AE9-DEAB-4426-B1AD-EEB2B74DEB6F}">
      <dgm:prSet/>
      <dgm:spPr/>
      <dgm:t>
        <a:bodyPr/>
        <a:lstStyle/>
        <a:p>
          <a:endParaRPr lang="en-US"/>
        </a:p>
      </dgm:t>
    </dgm:pt>
    <dgm:pt modelId="{604BE404-8910-4AF0-AE01-0ED9EDA6A13E}" type="sibTrans" cxnId="{E5AC3AE9-DEAB-4426-B1AD-EEB2B74DEB6F}">
      <dgm:prSet/>
      <dgm:spPr/>
      <dgm:t>
        <a:bodyPr/>
        <a:lstStyle/>
        <a:p>
          <a:endParaRPr lang="en-US"/>
        </a:p>
      </dgm:t>
    </dgm:pt>
    <dgm:pt modelId="{EE583ED0-08CA-4ADF-A80D-FCDA01138C00}">
      <dgm:prSet phldr="0" custT="0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Calibri" panose="020F0502020204030204"/>
              <a:ea typeface="Calibri" panose="020F0502020204030204"/>
              <a:cs typeface="Calibri" panose="020F0502020204030204"/>
            </a:rPr>
            <a:t>Zain </a:t>
          </a:r>
          <a:endParaRPr lang="en-US" dirty="0"/>
        </a:p>
      </dgm:t>
    </dgm:pt>
    <dgm:pt modelId="{1F42BA62-954D-4E68-B4F2-435E182CD4F0}" type="parTrans" cxnId="{815CC37B-ED21-4244-B278-47B2B420E217}">
      <dgm:prSet/>
      <dgm:spPr/>
      <dgm:t>
        <a:bodyPr/>
        <a:lstStyle/>
        <a:p>
          <a:endParaRPr lang="en-US"/>
        </a:p>
      </dgm:t>
    </dgm:pt>
    <dgm:pt modelId="{0C146150-3566-4583-A76E-DD0C01718311}" type="sibTrans" cxnId="{815CC37B-ED21-4244-B278-47B2B420E217}">
      <dgm:prSet/>
      <dgm:spPr/>
      <dgm:t>
        <a:bodyPr/>
        <a:lstStyle/>
        <a:p>
          <a:endParaRPr lang="en-US"/>
        </a:p>
      </dgm:t>
    </dgm:pt>
    <dgm:pt modelId="{DB169C95-1FA8-46B4-BAD4-6D2054E625FD}" type="pres">
      <dgm:prSet presAssocID="{41887A16-609F-41CD-8BE5-16BC207B83CD}" presName="diagram" presStyleCnt="0">
        <dgm:presLayoutVars>
          <dgm:dir/>
          <dgm:resizeHandles val="exact"/>
        </dgm:presLayoutVars>
      </dgm:prSet>
      <dgm:spPr/>
    </dgm:pt>
    <dgm:pt modelId="{288B40AF-88C0-43BD-A1ED-FD2F86AC27EF}" type="pres">
      <dgm:prSet presAssocID="{93CDC0EF-C149-4B18-8794-DC1EDF4EFBC2}" presName="node" presStyleLbl="node1" presStyleIdx="0" presStyleCnt="3">
        <dgm:presLayoutVars>
          <dgm:bulletEnabled val="1"/>
        </dgm:presLayoutVars>
      </dgm:prSet>
      <dgm:spPr/>
    </dgm:pt>
    <dgm:pt modelId="{FBA6DACB-9EAA-428F-A615-A0C457E87259}" type="pres">
      <dgm:prSet presAssocID="{37F301C6-CCF1-4D7F-99B2-F0B96AAE9C27}" presName="sibTrans" presStyleCnt="0"/>
      <dgm:spPr/>
    </dgm:pt>
    <dgm:pt modelId="{619F3324-1919-4333-8F87-89E9A46A7916}" type="pres">
      <dgm:prSet presAssocID="{475D51D8-5E17-4F8B-B092-D05B4BE7C0E6}" presName="node" presStyleLbl="node1" presStyleIdx="1" presStyleCnt="3">
        <dgm:presLayoutVars>
          <dgm:bulletEnabled val="1"/>
        </dgm:presLayoutVars>
      </dgm:prSet>
      <dgm:spPr/>
    </dgm:pt>
    <dgm:pt modelId="{B6BA9B05-4D00-4BBD-9BF4-02BD41CB1722}" type="pres">
      <dgm:prSet presAssocID="{604BE404-8910-4AF0-AE01-0ED9EDA6A13E}" presName="sibTrans" presStyleCnt="0"/>
      <dgm:spPr/>
    </dgm:pt>
    <dgm:pt modelId="{D446C373-DCEB-4CDC-AD6B-EBE643871ACB}" type="pres">
      <dgm:prSet presAssocID="{EE583ED0-08CA-4ADF-A80D-FCDA01138C00}" presName="node" presStyleLbl="node1" presStyleIdx="2" presStyleCnt="3">
        <dgm:presLayoutVars>
          <dgm:bulletEnabled val="1"/>
        </dgm:presLayoutVars>
      </dgm:prSet>
      <dgm:spPr/>
    </dgm:pt>
  </dgm:ptLst>
  <dgm:cxnLst>
    <dgm:cxn modelId="{8A3A282A-99AF-49CC-9A81-5BEA61EA2795}" type="presOf" srcId="{41887A16-609F-41CD-8BE5-16BC207B83CD}" destId="{DB169C95-1FA8-46B4-BAD4-6D2054E625FD}" srcOrd="0" destOrd="0" presId="urn:microsoft.com/office/officeart/2005/8/layout/default#1"/>
    <dgm:cxn modelId="{CC143C46-A6F8-4C2C-8E45-75999470E555}" type="presOf" srcId="{EE583ED0-08CA-4ADF-A80D-FCDA01138C00}" destId="{D446C373-DCEB-4CDC-AD6B-EBE643871ACB}" srcOrd="0" destOrd="0" presId="urn:microsoft.com/office/officeart/2005/8/layout/default#1"/>
    <dgm:cxn modelId="{69E48751-35F5-4F37-9F90-3F6515A54F01}" type="presOf" srcId="{475D51D8-5E17-4F8B-B092-D05B4BE7C0E6}" destId="{619F3324-1919-4333-8F87-89E9A46A7916}" srcOrd="0" destOrd="0" presId="urn:microsoft.com/office/officeart/2005/8/layout/default#1"/>
    <dgm:cxn modelId="{815CC37B-ED21-4244-B278-47B2B420E217}" srcId="{41887A16-609F-41CD-8BE5-16BC207B83CD}" destId="{EE583ED0-08CA-4ADF-A80D-FCDA01138C00}" srcOrd="2" destOrd="0" parTransId="{1F42BA62-954D-4E68-B4F2-435E182CD4F0}" sibTransId="{0C146150-3566-4583-A76E-DD0C01718311}"/>
    <dgm:cxn modelId="{957C4F8F-A013-4C7D-85AF-73C445196482}" srcId="{41887A16-609F-41CD-8BE5-16BC207B83CD}" destId="{93CDC0EF-C149-4B18-8794-DC1EDF4EFBC2}" srcOrd="0" destOrd="0" parTransId="{D106B4BD-F908-4719-A040-71899BCD4907}" sibTransId="{37F301C6-CCF1-4D7F-99B2-F0B96AAE9C27}"/>
    <dgm:cxn modelId="{5F1092C3-FFC1-4716-ADD0-DC9C63DCA9DD}" type="presOf" srcId="{93CDC0EF-C149-4B18-8794-DC1EDF4EFBC2}" destId="{288B40AF-88C0-43BD-A1ED-FD2F86AC27EF}" srcOrd="0" destOrd="0" presId="urn:microsoft.com/office/officeart/2005/8/layout/default#1"/>
    <dgm:cxn modelId="{E5AC3AE9-DEAB-4426-B1AD-EEB2B74DEB6F}" srcId="{41887A16-609F-41CD-8BE5-16BC207B83CD}" destId="{475D51D8-5E17-4F8B-B092-D05B4BE7C0E6}" srcOrd="1" destOrd="0" parTransId="{9E458BF6-EDA5-4DC8-B73A-A67F57660D74}" sibTransId="{604BE404-8910-4AF0-AE01-0ED9EDA6A13E}"/>
    <dgm:cxn modelId="{692BB4C6-EFDA-499C-BCB9-E13ACEA7DC7C}" type="presParOf" srcId="{DB169C95-1FA8-46B4-BAD4-6D2054E625FD}" destId="{288B40AF-88C0-43BD-A1ED-FD2F86AC27EF}" srcOrd="0" destOrd="0" presId="urn:microsoft.com/office/officeart/2005/8/layout/default#1"/>
    <dgm:cxn modelId="{C3269161-617A-4168-B083-7964C8C5A29D}" type="presParOf" srcId="{DB169C95-1FA8-46B4-BAD4-6D2054E625FD}" destId="{FBA6DACB-9EAA-428F-A615-A0C457E87259}" srcOrd="1" destOrd="0" presId="urn:microsoft.com/office/officeart/2005/8/layout/default#1"/>
    <dgm:cxn modelId="{157CA676-579C-438A-BEB3-7C5C4846A738}" type="presParOf" srcId="{DB169C95-1FA8-46B4-BAD4-6D2054E625FD}" destId="{619F3324-1919-4333-8F87-89E9A46A7916}" srcOrd="2" destOrd="0" presId="urn:microsoft.com/office/officeart/2005/8/layout/default#1"/>
    <dgm:cxn modelId="{690B5ADC-3BB3-437E-B7F7-0F2F9BBC8F72}" type="presParOf" srcId="{DB169C95-1FA8-46B4-BAD4-6D2054E625FD}" destId="{B6BA9B05-4D00-4BBD-9BF4-02BD41CB1722}" srcOrd="3" destOrd="0" presId="urn:microsoft.com/office/officeart/2005/8/layout/default#1"/>
    <dgm:cxn modelId="{7EA69B1A-2EE4-43B1-93DB-40DB176D9D9B}" type="presParOf" srcId="{DB169C95-1FA8-46B4-BAD4-6D2054E625FD}" destId="{D446C373-DCEB-4CDC-AD6B-EBE643871ACB}" srcOrd="4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0461C0-3B3E-4E90-8960-5F55586F24D9}" type="doc">
      <dgm:prSet loTypeId="urn:microsoft.com/office/officeart/2005/8/layout/vList2#1" loCatId="list" qsTypeId="urn:microsoft.com/office/officeart/2005/8/quickstyle/simple1#4" qsCatId="simple" csTypeId="urn:microsoft.com/office/officeart/2005/8/colors/accent0_3#4" csCatId="mainScheme" phldr="1"/>
      <dgm:spPr/>
      <dgm:t>
        <a:bodyPr/>
        <a:lstStyle/>
        <a:p>
          <a:endParaRPr lang="en-US"/>
        </a:p>
      </dgm:t>
    </dgm:pt>
    <dgm:pt modelId="{0A171633-67F0-46F8-B895-D6711C6ED423}">
      <dgm:prSet/>
      <dgm:spPr/>
      <dgm:t>
        <a:bodyPr/>
        <a:lstStyle/>
        <a:p>
          <a:pPr rtl="0"/>
          <a:r>
            <a:rPr lang="en-US" dirty="0"/>
            <a:t>Do you know that while preparing this presentation, how much water and energy I wasted on my digital prompts and searches?</a:t>
          </a:r>
        </a:p>
      </dgm:t>
    </dgm:pt>
    <dgm:pt modelId="{186D76BD-EF79-47AE-BE04-41522DDF111E}" type="parTrans" cxnId="{A146DF48-AA01-4703-99C5-C7A41A8A1B1B}">
      <dgm:prSet/>
      <dgm:spPr/>
      <dgm:t>
        <a:bodyPr/>
        <a:lstStyle/>
        <a:p>
          <a:endParaRPr lang="en-US"/>
        </a:p>
      </dgm:t>
    </dgm:pt>
    <dgm:pt modelId="{64DCF448-8FB7-4D3E-B9C7-EA1B66D33045}" type="sibTrans" cxnId="{A146DF48-AA01-4703-99C5-C7A41A8A1B1B}">
      <dgm:prSet/>
      <dgm:spPr/>
      <dgm:t>
        <a:bodyPr/>
        <a:lstStyle/>
        <a:p>
          <a:endParaRPr lang="en-US"/>
        </a:p>
      </dgm:t>
    </dgm:pt>
    <dgm:pt modelId="{F6E22873-148A-48E4-BA59-A35A6A4272FC}" type="pres">
      <dgm:prSet presAssocID="{8D0461C0-3B3E-4E90-8960-5F55586F24D9}" presName="linear" presStyleCnt="0">
        <dgm:presLayoutVars>
          <dgm:animLvl val="lvl"/>
          <dgm:resizeHandles val="exact"/>
        </dgm:presLayoutVars>
      </dgm:prSet>
      <dgm:spPr/>
    </dgm:pt>
    <dgm:pt modelId="{958035B1-E65F-4EF3-AAEB-7B2CCB6F23E5}" type="pres">
      <dgm:prSet presAssocID="{0A171633-67F0-46F8-B895-D6711C6ED423}" presName="parentText" presStyleLbl="node1" presStyleIdx="0" presStyleCnt="1" custScaleY="83033">
        <dgm:presLayoutVars>
          <dgm:chMax val="0"/>
          <dgm:bulletEnabled val="1"/>
        </dgm:presLayoutVars>
      </dgm:prSet>
      <dgm:spPr/>
    </dgm:pt>
  </dgm:ptLst>
  <dgm:cxnLst>
    <dgm:cxn modelId="{A146DF48-AA01-4703-99C5-C7A41A8A1B1B}" srcId="{8D0461C0-3B3E-4E90-8960-5F55586F24D9}" destId="{0A171633-67F0-46F8-B895-D6711C6ED423}" srcOrd="0" destOrd="0" parTransId="{186D76BD-EF79-47AE-BE04-41522DDF111E}" sibTransId="{64DCF448-8FB7-4D3E-B9C7-EA1B66D33045}"/>
    <dgm:cxn modelId="{84D3334A-D7AC-4282-8CCB-A6E3DF30938C}" type="presOf" srcId="{8D0461C0-3B3E-4E90-8960-5F55586F24D9}" destId="{F6E22873-148A-48E4-BA59-A35A6A4272FC}" srcOrd="0" destOrd="0" presId="urn:microsoft.com/office/officeart/2005/8/layout/vList2#1"/>
    <dgm:cxn modelId="{24865D77-E957-45C5-AFC6-E4B3ECDB887F}" type="presOf" srcId="{0A171633-67F0-46F8-B895-D6711C6ED423}" destId="{958035B1-E65F-4EF3-AAEB-7B2CCB6F23E5}" srcOrd="0" destOrd="0" presId="urn:microsoft.com/office/officeart/2005/8/layout/vList2#1"/>
    <dgm:cxn modelId="{4A622B43-51F9-49FA-94ED-1078EE3314CE}" type="presParOf" srcId="{F6E22873-148A-48E4-BA59-A35A6A4272FC}" destId="{958035B1-E65F-4EF3-AAEB-7B2CCB6F23E5}" srcOrd="0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0461C0-3B3E-4E90-8960-5F55586F24D9}" type="doc">
      <dgm:prSet loTypeId="urn:microsoft.com/office/officeart/2005/8/layout/vList2#1" loCatId="list" qsTypeId="urn:microsoft.com/office/officeart/2005/8/quickstyle/simple1#4" qsCatId="simple" csTypeId="urn:microsoft.com/office/officeart/2005/8/colors/accent0_3#4" csCatId="mainScheme" phldr="1"/>
      <dgm:spPr/>
      <dgm:t>
        <a:bodyPr/>
        <a:lstStyle/>
        <a:p>
          <a:endParaRPr lang="en-US"/>
        </a:p>
      </dgm:t>
    </dgm:pt>
    <dgm:pt modelId="{F6E22873-148A-48E4-BA59-A35A6A4272FC}" type="pres">
      <dgm:prSet presAssocID="{8D0461C0-3B3E-4E90-8960-5F55586F24D9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84D3334A-D7AC-4282-8CCB-A6E3DF30938C}" type="presOf" srcId="{8D0461C0-3B3E-4E90-8960-5F55586F24D9}" destId="{F6E22873-148A-48E4-BA59-A35A6A4272FC}" srcOrd="0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B40AF-88C0-43BD-A1ED-FD2F86AC27EF}">
      <dsp:nvSpPr>
        <dsp:cNvPr id="0" name=""/>
        <dsp:cNvSpPr/>
      </dsp:nvSpPr>
      <dsp:spPr bwMode="white">
        <a:xfrm>
          <a:off x="1428331" y="1551"/>
          <a:ext cx="3117946" cy="187076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>
              <a:latin typeface="Calibri" panose="020F0502020204030204"/>
              <a:ea typeface="Calibri" panose="020F0502020204030204"/>
              <a:cs typeface="Calibri" panose="020F0502020204030204"/>
            </a:rPr>
            <a:t>Abdullah </a:t>
          </a:r>
          <a:endParaRPr lang="en-US" sz="5800" kern="1200" dirty="0"/>
        </a:p>
      </dsp:txBody>
      <dsp:txXfrm>
        <a:off x="1428331" y="1551"/>
        <a:ext cx="3117946" cy="1870768"/>
      </dsp:txXfrm>
    </dsp:sp>
    <dsp:sp modelId="{619F3324-1919-4333-8F87-89E9A46A7916}">
      <dsp:nvSpPr>
        <dsp:cNvPr id="0" name=""/>
        <dsp:cNvSpPr/>
      </dsp:nvSpPr>
      <dsp:spPr bwMode="white">
        <a:xfrm>
          <a:off x="4858073" y="1551"/>
          <a:ext cx="3117946" cy="187076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>
              <a:latin typeface="Calibri" panose="020F0502020204030204"/>
              <a:ea typeface="Calibri" panose="020F0502020204030204"/>
              <a:cs typeface="Calibri" panose="020F0502020204030204"/>
            </a:rPr>
            <a:t>Sharjeel</a:t>
          </a:r>
          <a:endParaRPr lang="en-US" sz="5800" kern="1200" dirty="0"/>
        </a:p>
      </dsp:txBody>
      <dsp:txXfrm>
        <a:off x="4858073" y="1551"/>
        <a:ext cx="3117946" cy="1870768"/>
      </dsp:txXfrm>
    </dsp:sp>
    <dsp:sp modelId="{D446C373-DCEB-4CDC-AD6B-EBE643871ACB}">
      <dsp:nvSpPr>
        <dsp:cNvPr id="0" name=""/>
        <dsp:cNvSpPr/>
      </dsp:nvSpPr>
      <dsp:spPr bwMode="white">
        <a:xfrm>
          <a:off x="3143202" y="2184114"/>
          <a:ext cx="3117946" cy="187076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>
              <a:latin typeface="Calibri" panose="020F0502020204030204"/>
              <a:ea typeface="Calibri" panose="020F0502020204030204"/>
              <a:cs typeface="Calibri" panose="020F0502020204030204"/>
            </a:rPr>
            <a:t>Zain </a:t>
          </a:r>
          <a:endParaRPr lang="en-US" sz="5800" kern="1200" dirty="0"/>
        </a:p>
      </dsp:txBody>
      <dsp:txXfrm>
        <a:off x="3143202" y="2184114"/>
        <a:ext cx="3117946" cy="18707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035B1-E65F-4EF3-AAEB-7B2CCB6F23E5}">
      <dsp:nvSpPr>
        <dsp:cNvPr id="0" name=""/>
        <dsp:cNvSpPr/>
      </dsp:nvSpPr>
      <dsp:spPr bwMode="white">
        <a:xfrm>
          <a:off x="0" y="21839"/>
          <a:ext cx="8801489" cy="287559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Do you know that while preparing this presentation, how much water and energy I wasted on my digital prompts and searches?</a:t>
          </a:r>
        </a:p>
      </dsp:txBody>
      <dsp:txXfrm>
        <a:off x="140375" y="162214"/>
        <a:ext cx="8520739" cy="25948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98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507" y="3090569"/>
            <a:ext cx="9404985" cy="2355215"/>
          </a:xfrm>
          <a:noFill/>
        </p:spPr>
        <p:txBody>
          <a:bodyPr/>
          <a:lstStyle/>
          <a:p>
            <a:pPr algn="ctr"/>
            <a:r>
              <a:rPr lang="en-US" sz="6000" dirty="0">
                <a:solidFill>
                  <a:srgbClr val="EBEBEB"/>
                </a:solidFill>
                <a:ea typeface="+mj-lt"/>
                <a:cs typeface="+mj-lt"/>
              </a:rPr>
              <a:t>Sustainable Technology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5337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/>
              <a:t>Presented by</a:t>
            </a:r>
          </a:p>
        </p:txBody>
      </p:sp>
      <p:graphicFrame>
        <p:nvGraphicFramePr>
          <p:cNvPr id="4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3573536"/>
              </p:ext>
            </p:extLst>
          </p:nvPr>
        </p:nvGraphicFramePr>
        <p:xfrm>
          <a:off x="1119821" y="183147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456" y="1818640"/>
            <a:ext cx="1161288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4400" dirty="0">
                <a:ea typeface="+mn-lt"/>
                <a:cs typeface="+mn-lt"/>
              </a:rPr>
              <a:t>The saddest aspect of life right now is that science gathers knowledge faster than society gathers wisdom.</a:t>
            </a:r>
          </a:p>
          <a:p>
            <a:pPr algn="ctr"/>
            <a:endParaRPr lang="en-US" sz="4400" dirty="0">
              <a:ea typeface="+mn-lt"/>
              <a:cs typeface="+mn-lt"/>
            </a:endParaRPr>
          </a:p>
          <a:p>
            <a:pPr algn="ctr"/>
            <a:r>
              <a:rPr lang="en-US" sz="4400" dirty="0">
                <a:ea typeface="+mn-lt"/>
                <a:cs typeface="+mn-lt"/>
              </a:rPr>
              <a:t>~ Isaac Asimov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62280" y="4297680"/>
            <a:ext cx="10821416" cy="2144395"/>
          </a:xfrm>
        </p:spPr>
        <p:txBody>
          <a:bodyPr/>
          <a:lstStyle/>
          <a:p>
            <a:r>
              <a:rPr lang="en-US" sz="7000" dirty="0"/>
              <a:t>From Stones to Silicon</a:t>
            </a:r>
            <a:endParaRPr lang="en-US" sz="70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511" y="404347"/>
            <a:ext cx="9393838" cy="1168202"/>
          </a:xfrm>
        </p:spPr>
        <p:txBody>
          <a:bodyPr/>
          <a:lstStyle/>
          <a:p>
            <a:r>
              <a:rPr lang="en-US" sz="4000" dirty="0"/>
              <a:t>Ancient Foundations</a:t>
            </a:r>
            <a:endParaRPr lang="en-US" sz="4000" dirty="0">
              <a:solidFill>
                <a:srgbClr val="EEF0FF"/>
              </a:solidFill>
              <a:ea typeface="+mj-lt"/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664" y="1884245"/>
            <a:ext cx="5816746" cy="116568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2.5 million years ago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                           Stone tools, control of fire</a:t>
            </a:r>
            <a:endParaRPr lang="en-US" sz="3200" dirty="0"/>
          </a:p>
          <a:p>
            <a:pPr marL="0" indent="0">
              <a:buClr>
                <a:srgbClr val="8AD0D6"/>
              </a:buClr>
              <a:buFont typeface="Arial" panose="020B0604020202020204" charset="2"/>
              <a:buNone/>
            </a:pP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BB94D1-4A10-979C-6B1A-545265B2CF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0168"/>
            <a:ext cx="5816746" cy="38935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CA1E77-65B7-F8FC-63A5-0A88B4EB18D6}"/>
              </a:ext>
            </a:extLst>
          </p:cNvPr>
          <p:cNvSpPr txBox="1"/>
          <p:nvPr/>
        </p:nvSpPr>
        <p:spPr>
          <a:xfrm>
            <a:off x="6096000" y="5991988"/>
            <a:ext cx="29984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Cueva de las Manos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C01A50-D9E3-44D3-20E4-F2005790267D}"/>
              </a:ext>
            </a:extLst>
          </p:cNvPr>
          <p:cNvSpPr txBox="1"/>
          <p:nvPr/>
        </p:nvSpPr>
        <p:spPr>
          <a:xfrm>
            <a:off x="485021" y="4793038"/>
            <a:ext cx="5471389" cy="1407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Creations like aqueducts, levers, and pulleys demonstrated early engineering.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F3EB9FA-DA6D-0975-991A-5EF12BB9228B}"/>
              </a:ext>
            </a:extLst>
          </p:cNvPr>
          <p:cNvSpPr txBox="1">
            <a:spLocks/>
          </p:cNvSpPr>
          <p:nvPr/>
        </p:nvSpPr>
        <p:spPr>
          <a:xfrm>
            <a:off x="205511" y="3157434"/>
            <a:ext cx="5816746" cy="11656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bg1"/>
                </a:solidFill>
              </a:rPr>
              <a:t>~3500 BC  </a:t>
            </a:r>
          </a:p>
          <a:p>
            <a:pPr marL="0" indent="0">
              <a:buClr>
                <a:srgbClr val="8AD0D6"/>
              </a:buClr>
              <a:buFont typeface="Arial" panose="020B0604020202020204" charset="2"/>
              <a:buNone/>
            </a:pPr>
            <a:r>
              <a:rPr lang="en-US" sz="3200" dirty="0"/>
              <a:t>             </a:t>
            </a:r>
            <a:r>
              <a:rPr lang="en-US" sz="2100" dirty="0"/>
              <a:t>Invention of the wheel, bronze tools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1250"/>
          </a:xfrm>
        </p:spPr>
        <p:txBody>
          <a:bodyPr/>
          <a:lstStyle/>
          <a:p>
            <a:r>
              <a:rPr lang="en-US" sz="3600" dirty="0"/>
              <a:t>Leap towards better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303" y="2020513"/>
            <a:ext cx="6183390" cy="10772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/>
              <a:buChar char="Ø"/>
            </a:pPr>
            <a:r>
              <a:rPr lang="en-US" sz="2000" b="1" dirty="0"/>
              <a:t>Industrial Age (1760–1840)</a:t>
            </a:r>
            <a:endParaRPr lang="en-US" sz="2000" dirty="0"/>
          </a:p>
          <a:p>
            <a:r>
              <a:rPr lang="en-US" sz="1600" dirty="0">
                <a:solidFill>
                  <a:schemeClr val="bg1"/>
                </a:solidFill>
              </a:rPr>
              <a:t>            Steam-powered factories enable mass production and urban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03" y="3854318"/>
            <a:ext cx="6103399" cy="1288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/>
              <a:buChar char="Ø"/>
            </a:pPr>
            <a:r>
              <a:rPr lang="en-US" sz="2000" b="1" dirty="0"/>
              <a:t>Early Modern Age (19th–20th Century)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</a:t>
            </a: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Efficiency and industrial expansion prioritized over environmental impact.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881246-7C97-7449-923B-AC4159C33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940" y="1250716"/>
            <a:ext cx="3603039" cy="50129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5519B9-3E3A-3291-A08A-F952A4E07F6D}"/>
              </a:ext>
            </a:extLst>
          </p:cNvPr>
          <p:cNvSpPr txBox="1"/>
          <p:nvPr/>
        </p:nvSpPr>
        <p:spPr>
          <a:xfrm>
            <a:off x="6644693" y="6281755"/>
            <a:ext cx="3406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House Mechanic by Hine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7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44384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Post-Tech</a:t>
            </a:r>
          </a:p>
        </p:txBody>
      </p:sp>
      <p:sp useBgFill="1">
        <p:nvSpPr>
          <p:cNvPr id="68" name="Freeform: Shape 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255345" y="2824966"/>
            <a:ext cx="7670090" cy="3178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endParaRPr lang="en-US" sz="2200" dirty="0">
              <a:cs typeface="+mj-lt"/>
            </a:endParaRPr>
          </a:p>
          <a:p>
            <a:pPr marL="0" indent="0">
              <a:lnSpc>
                <a:spcPct val="90000"/>
              </a:lnSpc>
              <a:buClr>
                <a:srgbClr val="EBEBEB">
                  <a:lumMod val="40000"/>
                  <a:lumOff val="60000"/>
                </a:srgbClr>
              </a:buClr>
              <a:buNone/>
            </a:pP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391886" y="2405743"/>
            <a:ext cx="5827760" cy="13381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/>
              <a:buChar char="Ø"/>
            </a:pPr>
            <a:r>
              <a:rPr lang="en-US" sz="2000" b="1" dirty="0"/>
              <a:t>Digital Age (1950s–2000s):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           </a:t>
            </a:r>
            <a:r>
              <a:rPr lang="en-US" sz="1600" dirty="0"/>
              <a:t>Electricity, early computers, and personal computing transform industry and daily life.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91886" y="4310032"/>
            <a:ext cx="523650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/>
              <a:buChar char="Ø"/>
            </a:pPr>
            <a:r>
              <a:rPr lang="en-US" sz="2000" b="1" dirty="0"/>
              <a:t>21st Century &amp; Post-AI Era:</a:t>
            </a:r>
            <a:endParaRPr lang="en-US" sz="2000" dirty="0"/>
          </a:p>
          <a:p>
            <a:pPr marL="0" lvl="1">
              <a:lnSpc>
                <a:spcPct val="150000"/>
              </a:lnSpc>
            </a:pPr>
            <a:r>
              <a:rPr lang="en-US" sz="1600" dirty="0"/>
              <a:t>              AI, automation, and smart technologies accelerate innovation but increase energy use and e-waste.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728321" y="641415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ENIAC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BCD0AC-1A68-33CE-BB7F-557C068D4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321" y="2905067"/>
            <a:ext cx="6331914" cy="348255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82" y="224118"/>
            <a:ext cx="9404723" cy="692959"/>
          </a:xfrm>
        </p:spPr>
        <p:txBody>
          <a:bodyPr>
            <a:noAutofit/>
          </a:bodyPr>
          <a:lstStyle/>
          <a:p>
            <a:r>
              <a:rPr lang="en-US" sz="4800" dirty="0">
                <a:cs typeface="+mj-lt"/>
              </a:rPr>
              <a:t>Cost we pay</a:t>
            </a:r>
          </a:p>
        </p:txBody>
      </p:sp>
      <p:graphicFrame>
        <p:nvGraphicFramePr>
          <p:cNvPr id="20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429594"/>
              </p:ext>
            </p:extLst>
          </p:nvPr>
        </p:nvGraphicFramePr>
        <p:xfrm>
          <a:off x="1291416" y="2689889"/>
          <a:ext cx="8801489" cy="2919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76" name="Content Placeholder 2"/>
          <p:cNvGraphicFramePr/>
          <p:nvPr>
            <p:extLst>
              <p:ext uri="{D42A27DB-BD31-4B8C-83A1-F6EECF244321}">
                <p14:modId xmlns:p14="http://schemas.microsoft.com/office/powerpoint/2010/main" val="4077140509"/>
              </p:ext>
            </p:extLst>
          </p:nvPr>
        </p:nvGraphicFramePr>
        <p:xfrm>
          <a:off x="836476" y="3881664"/>
          <a:ext cx="6484166" cy="2538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1250"/>
          </a:xfrm>
        </p:spPr>
        <p:txBody>
          <a:bodyPr/>
          <a:lstStyle/>
          <a:p>
            <a:r>
              <a:rPr lang="en-US" sz="4000" dirty="0"/>
              <a:t>Responsible Future ??</a:t>
            </a:r>
            <a:endParaRPr lang="en-US" sz="3800" dirty="0"/>
          </a:p>
        </p:txBody>
      </p:sp>
      <p:sp>
        <p:nvSpPr>
          <p:cNvPr id="8" name="TextBox 7"/>
          <p:cNvSpPr txBox="1"/>
          <p:nvPr/>
        </p:nvSpPr>
        <p:spPr>
          <a:xfrm>
            <a:off x="312782" y="1693314"/>
            <a:ext cx="5783218" cy="14708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/>
              <a:buChar char="Ø"/>
            </a:pPr>
            <a:r>
              <a:rPr lang="en-US" sz="2400" b="1" dirty="0">
                <a:solidFill>
                  <a:schemeClr val="bg1"/>
                </a:solidFill>
              </a:rPr>
              <a:t>Definition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                      </a:t>
            </a:r>
            <a:r>
              <a:rPr lang="en-US" dirty="0"/>
              <a:t>Technology designed to meet present needs without compromising the 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361" y="4082023"/>
            <a:ext cx="5993127" cy="1418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/>
              <a:buChar char="Ø"/>
            </a:pPr>
            <a:r>
              <a:rPr lang="en-US" sz="2000" i="1" dirty="0">
                <a:solidFill>
                  <a:schemeClr val="bg1"/>
                </a:solidFill>
                <a:ea typeface="+mn-lt"/>
                <a:cs typeface="+mn-lt"/>
              </a:rPr>
              <a:t>Because </a:t>
            </a:r>
            <a:r>
              <a:rPr lang="en-US" sz="2000" i="1" dirty="0">
                <a:solidFill>
                  <a:schemeClr val="bg1"/>
                </a:solidFill>
              </a:rPr>
              <a:t>every choice in technology today is a choice for the world we leave behind</a:t>
            </a: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Ø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0655EB-166B-C857-7AC7-60A2B6432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488" y="1263968"/>
            <a:ext cx="5306156" cy="5402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2729" y="2995251"/>
            <a:ext cx="8946541" cy="3198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ea typeface="+mj-lt"/>
                <a:cs typeface="+mj-lt"/>
              </a:rPr>
              <a:t>There is no planet ‘B’…</a:t>
            </a:r>
          </a:p>
          <a:p>
            <a:pPr marL="0" indent="0" algn="ctr">
              <a:buNone/>
            </a:pPr>
            <a:r>
              <a:rPr lang="en-US" sz="4400" dirty="0">
                <a:ea typeface="+mj-lt"/>
                <a:cs typeface="+mj-lt"/>
              </a:rPr>
              <a:t>~ Mike Berners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3290" y="3934369"/>
            <a:ext cx="11047645" cy="2115820"/>
          </a:xfrm>
        </p:spPr>
        <p:txBody>
          <a:bodyPr/>
          <a:lstStyle/>
          <a:p>
            <a:r>
              <a:rPr lang="en-US" sz="4000" dirty="0"/>
              <a:t>Why Sustainable Technology Matters now..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1" y="354747"/>
            <a:ext cx="9404723" cy="1019530"/>
          </a:xfrm>
        </p:spPr>
        <p:txBody>
          <a:bodyPr/>
          <a:lstStyle/>
          <a:p>
            <a:r>
              <a:rPr lang="en-US" sz="3600" dirty="0"/>
              <a:t>Exploding E-Waste Crisis</a:t>
            </a:r>
            <a:endParaRPr lang="en-US" sz="3500" dirty="0">
              <a:effectLst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7457" y="1730578"/>
            <a:ext cx="562339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In 2022, </a:t>
            </a:r>
            <a:r>
              <a:rPr lang="en-US" sz="2400" b="1" dirty="0">
                <a:latin typeface="+mj-lt"/>
                <a:cs typeface="Times New Roman" panose="02020603050405020304" pitchFamily="18" charset="0"/>
              </a:rPr>
              <a:t>62 million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tones of e-waste were generated globally, projected to rise to </a:t>
            </a:r>
            <a:r>
              <a:rPr lang="en-US" sz="2400" b="1" dirty="0">
                <a:latin typeface="+mj-lt"/>
                <a:cs typeface="Times New Roman" panose="02020603050405020304" pitchFamily="18" charset="0"/>
              </a:rPr>
              <a:t>82 million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tones by 2030.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7457" y="3991430"/>
            <a:ext cx="575854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Only </a:t>
            </a:r>
            <a:r>
              <a:rPr lang="en-US" sz="2400" b="1" dirty="0"/>
              <a:t>~22% </a:t>
            </a:r>
            <a:r>
              <a:rPr lang="en-US" sz="2400" dirty="0"/>
              <a:t>is formally recycled, creating supply chain vulnerabilities and toxic pollution risks.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83A7E2C-3A4A-D8B2-8EBB-F92AAB2F3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902" y="3656539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DA05BB-4EB7-009A-F91F-AF8B0F0F8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853" y="1668682"/>
            <a:ext cx="6040748" cy="39757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2B3FB4-65EB-6889-73E3-7B527F2B1F00}"/>
              </a:ext>
            </a:extLst>
          </p:cNvPr>
          <p:cNvSpPr txBox="1"/>
          <p:nvPr/>
        </p:nvSpPr>
        <p:spPr>
          <a:xfrm>
            <a:off x="5907039" y="5695926"/>
            <a:ext cx="6094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</a:rPr>
              <a:t>From The Guardian</a:t>
            </a:r>
            <a:endParaRPr lang="en-US" sz="2000" b="1" dirty="0">
              <a:solidFill>
                <a:schemeClr val="accent1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28" y="296689"/>
            <a:ext cx="9404723" cy="750290"/>
          </a:xfrm>
        </p:spPr>
        <p:txBody>
          <a:bodyPr/>
          <a:lstStyle/>
          <a:p>
            <a:r>
              <a:rPr lang="en-US" sz="3800" dirty="0"/>
              <a:t>Carbon Footprint and Emissions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926" y="4215604"/>
            <a:ext cx="6585063" cy="21171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Professional Impact:</a:t>
            </a:r>
          </a:p>
          <a:p>
            <a:endParaRPr lang="en-US" sz="2400" dirty="0"/>
          </a:p>
          <a:p>
            <a:r>
              <a:rPr lang="en-US" sz="2000" dirty="0"/>
              <a:t>Rising emissions lead to </a:t>
            </a:r>
            <a:r>
              <a:rPr lang="en-US" sz="2000" b="1" dirty="0"/>
              <a:t>ESG regulations, investor scrutiny, and reputational risks</a:t>
            </a:r>
            <a:r>
              <a:rPr lang="en-US" sz="2000" dirty="0"/>
              <a:t> for companies and engineers.</a:t>
            </a:r>
          </a:p>
          <a:p>
            <a:pPr marL="228600" indent="-228600">
              <a:lnSpc>
                <a:spcPct val="150000"/>
              </a:lnSpc>
              <a:buChar char="•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3926" y="1611344"/>
            <a:ext cx="6412534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Carbon Costs of Tech &amp; AI:</a:t>
            </a:r>
          </a:p>
          <a:p>
            <a:endParaRPr lang="en-US" sz="2400" b="1" dirty="0"/>
          </a:p>
          <a:p>
            <a:r>
              <a:rPr lang="en-US" sz="2000" dirty="0"/>
              <a:t>         The tech sector’s emissions rival aviation, with AI systems alone projected to produce </a:t>
            </a:r>
            <a:r>
              <a:rPr lang="en-US" sz="2000" b="1" dirty="0"/>
              <a:t>~33–80 million tones of CO₂ by 2025</a:t>
            </a:r>
            <a:r>
              <a:rPr lang="en-US" sz="2000" dirty="0"/>
              <a:t>, often powered by fossil fuels.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87267A-C83B-0618-B2AA-9078EA8A9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154" y="1193040"/>
            <a:ext cx="4075569" cy="54956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40" y="224118"/>
            <a:ext cx="9404723" cy="1400530"/>
          </a:xfrm>
        </p:spPr>
        <p:txBody>
          <a:bodyPr/>
          <a:lstStyle/>
          <a:p>
            <a:r>
              <a:rPr lang="en-US" dirty="0"/>
              <a:t>oh mother earth…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340" y="1624648"/>
            <a:ext cx="6110925" cy="17478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Depleting Minerals for AI &amp; Electronics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AI systems and modern devices rely heavily on </a:t>
            </a:r>
            <a:r>
              <a:rPr lang="en-US" sz="2000" b="1" dirty="0"/>
              <a:t>lithium, cobalt, and rare earths</a:t>
            </a:r>
            <a:r>
              <a:rPr lang="en-US" sz="2000" dirty="0"/>
              <a:t>, with supply risks and projected shortages by 2030.</a:t>
            </a:r>
          </a:p>
          <a:p>
            <a:pPr marL="285750" indent="-285750">
              <a:lnSpc>
                <a:spcPct val="150000"/>
              </a:lnSpc>
              <a:buFont typeface="Wingdings" panose="05000000000000000000"/>
              <a:buChar char="Ø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340" y="3855057"/>
            <a:ext cx="5431971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Professional Impact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Engineers and companies face </a:t>
            </a:r>
            <a:r>
              <a:rPr lang="en-US" sz="2000" b="1" dirty="0"/>
              <a:t>higher costs, innovation delays, and pressure for ethical sourcing</a:t>
            </a:r>
            <a:r>
              <a:rPr lang="en-US" sz="2000" dirty="0"/>
              <a:t> in AI development.</a:t>
            </a:r>
          </a:p>
          <a:p>
            <a:pPr marL="285750" indent="-285750">
              <a:buFont typeface="Wingdings" panose="05000000000000000000"/>
              <a:buChar char="Ø"/>
            </a:pP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35997-9E47-C638-903E-3A9EE0447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265" y="1252367"/>
            <a:ext cx="5289068" cy="5316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2B968C-CA5F-B4FF-FD39-9FC55D14CE50}"/>
              </a:ext>
            </a:extLst>
          </p:cNvPr>
          <p:cNvSpPr txBox="1"/>
          <p:nvPr/>
        </p:nvSpPr>
        <p:spPr>
          <a:xfrm>
            <a:off x="6354265" y="839122"/>
            <a:ext cx="42646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</a:pPr>
            <a:r>
              <a:rPr lang="en-US" sz="15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Mother Earth by </a:t>
            </a:r>
            <a:r>
              <a:rPr lang="en-US" sz="15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Diana Cheren Nygren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F2283-471C-AB3F-0B60-5EAFD72A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EBEB-9CC8-9F9F-7EE2-F0A32CBD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40" y="224118"/>
            <a:ext cx="9404723" cy="1400530"/>
          </a:xfrm>
        </p:spPr>
        <p:txBody>
          <a:bodyPr/>
          <a:lstStyle/>
          <a:p>
            <a:r>
              <a:rPr lang="en-US" dirty="0"/>
              <a:t>Moment to Reflect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47E20-C665-F000-3A39-7881FE0978F7}"/>
              </a:ext>
            </a:extLst>
          </p:cNvPr>
          <p:cNvSpPr txBox="1"/>
          <p:nvPr/>
        </p:nvSpPr>
        <p:spPr>
          <a:xfrm>
            <a:off x="243340" y="1624648"/>
            <a:ext cx="6110925" cy="17478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Three Challenges, One Question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E-waste, carbon emissions, and mineral depletion show that technology’s</a:t>
            </a:r>
            <a:r>
              <a:rPr lang="en-US" sz="2000" b="1" dirty="0"/>
              <a:t> cost is often hidden, not absent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/>
              <a:buChar char="Ø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C978A-63F7-B2F8-9890-F61057C265FE}"/>
              </a:ext>
            </a:extLst>
          </p:cNvPr>
          <p:cNvSpPr txBox="1"/>
          <p:nvPr/>
        </p:nvSpPr>
        <p:spPr>
          <a:xfrm>
            <a:off x="243340" y="3855057"/>
            <a:ext cx="543197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Can innovation still be called progress if it exhausts the planet that sustains it?</a:t>
            </a:r>
          </a:p>
          <a:p>
            <a:pPr marL="285750" indent="-285750">
              <a:buFont typeface="Wingdings" panose="05000000000000000000"/>
              <a:buChar char="Ø"/>
            </a:pP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D2AA14-73D1-9D14-4100-4FCB81AAEA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75895" y="804260"/>
            <a:ext cx="3552063" cy="59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12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258" y="2056752"/>
            <a:ext cx="9696090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ea typeface="+mj-lt"/>
                <a:cs typeface="+mj-lt"/>
              </a:rPr>
              <a:t>The Stone Age did not end because humans ran out of stones. It ended because it was time to rethink about how we live now.</a:t>
            </a:r>
          </a:p>
          <a:p>
            <a:pPr marL="0" indent="0" algn="ctr">
              <a:buNone/>
            </a:pPr>
            <a:endParaRPr lang="en-US" sz="3600" dirty="0">
              <a:ea typeface="+mj-lt"/>
              <a:cs typeface="+mj-lt"/>
            </a:endParaRPr>
          </a:p>
          <a:p>
            <a:pPr marL="0" indent="0" algn="ctr">
              <a:buNone/>
            </a:pPr>
            <a:r>
              <a:rPr lang="en-US" sz="3600" dirty="0">
                <a:ea typeface="+mj-lt"/>
                <a:cs typeface="+mj-lt"/>
              </a:rPr>
              <a:t>~ William McDonough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40555" y="4924425"/>
            <a:ext cx="10844388" cy="1338221"/>
          </a:xfrm>
        </p:spPr>
        <p:txBody>
          <a:bodyPr/>
          <a:lstStyle/>
          <a:p>
            <a:r>
              <a:rPr lang="en-US" sz="4400" dirty="0"/>
              <a:t>Pathways to Sustainable Technology</a:t>
            </a:r>
            <a:endParaRPr lang="en-US" sz="44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974" y="1693855"/>
            <a:ext cx="5379494" cy="233910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/>
              <a:t>Green Coding: Reducing Digital Energy Waste:</a:t>
            </a:r>
            <a:endParaRPr lang="en-US" sz="2400" dirty="0"/>
          </a:p>
          <a:p>
            <a:r>
              <a:rPr lang="en-US" dirty="0"/>
              <a:t>Optimized algorithms and carbon-aware computing can </a:t>
            </a:r>
            <a:r>
              <a:rPr lang="en-US" b="1" dirty="0"/>
              <a:t>cut compute energy use by 30–50%</a:t>
            </a:r>
            <a:endParaRPr lang="en-US" dirty="0"/>
          </a:p>
          <a:p>
            <a:pPr>
              <a:lnSpc>
                <a:spcPct val="150000"/>
              </a:lnSpc>
              <a:buClr>
                <a:srgbClr val="8AD0D6"/>
              </a:buClr>
              <a:buFont typeface="Wingdings,Sans-Serif"/>
              <a:buChar char="Ø"/>
            </a:pPr>
            <a:endParaRPr lang="en-US" dirty="0"/>
          </a:p>
          <a:p>
            <a:pPr>
              <a:lnSpc>
                <a:spcPct val="150000"/>
              </a:lnSpc>
              <a:buClr>
                <a:srgbClr val="8AD0D6"/>
              </a:buClr>
              <a:buFont typeface="Wingdings,Sans-Serif"/>
              <a:buChar char="Ø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08298" y="4047308"/>
            <a:ext cx="538117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Professional Practice</a:t>
            </a: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/>
              <a:t>Developers </a:t>
            </a:r>
            <a:r>
              <a:rPr lang="en-US" sz="2000" b="1" dirty="0"/>
              <a:t>audit, refactor, and design software for efficiency</a:t>
            </a:r>
            <a:r>
              <a:rPr lang="en-US" sz="2000" dirty="0"/>
              <a:t>, following green software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045" y="526637"/>
            <a:ext cx="10470072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000" dirty="0"/>
              <a:t>Reducing Digital Energy Waste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5E6C5-3AC1-C6A9-E0E1-8E7104644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243" y="1234523"/>
            <a:ext cx="3532403" cy="5499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2370"/>
          </a:xfrm>
        </p:spPr>
        <p:txBody>
          <a:bodyPr/>
          <a:lstStyle/>
          <a:p>
            <a:r>
              <a:rPr lang="en-US" sz="3800" dirty="0"/>
              <a:t>Circular Economy &amp; Modular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240" y="1503680"/>
            <a:ext cx="5552152" cy="17478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Extending Device Lifecycles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Modular, repairable devices and recycled materials </a:t>
            </a:r>
            <a:r>
              <a:rPr lang="en-US" sz="2000" b="1" dirty="0"/>
              <a:t>reduce e-waste and resource extraction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/>
              <a:buChar char="Ø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6111" y="3589164"/>
            <a:ext cx="5552152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Professional Practice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Engineers </a:t>
            </a:r>
            <a:r>
              <a:rPr lang="en-US" sz="2000" b="1" dirty="0"/>
              <a:t>design for longevity, repairability, and recyclability from day one</a:t>
            </a:r>
            <a:endParaRPr lang="en-US" sz="2000" dirty="0"/>
          </a:p>
          <a:p>
            <a:pPr marL="228600" indent="-228600">
              <a:buFont typeface="Wingdings" panose="05000000000000000000"/>
              <a:buChar char="Ø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A7CA0-FC65-D2D5-2D69-F89198C25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263" y="1335088"/>
            <a:ext cx="5229045" cy="5229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71" y="340958"/>
            <a:ext cx="9404723" cy="750290"/>
          </a:xfrm>
        </p:spPr>
        <p:txBody>
          <a:bodyPr/>
          <a:lstStyle/>
          <a:p>
            <a:r>
              <a:rPr lang="en-US" sz="3400" dirty="0"/>
              <a:t>Renewable Infrastructure &amp;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375" y="1560204"/>
            <a:ext cx="579845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Renewable-powered data centers, low-power chips, and AI optimization </a:t>
            </a:r>
            <a:r>
              <a:rPr lang="en-US" sz="2400" b="1" dirty="0"/>
              <a:t>reduce emissions and energy waste</a:t>
            </a:r>
            <a:endParaRPr lang="en-US" sz="2400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5375" y="3875819"/>
            <a:ext cx="6255809" cy="11298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/>
              <a:buChar char="Ø"/>
            </a:pPr>
            <a:r>
              <a:rPr lang="en-US" sz="2400" dirty="0"/>
              <a:t>IT leaders </a:t>
            </a:r>
            <a:r>
              <a:rPr lang="en-US" sz="2400" b="1" dirty="0"/>
              <a:t>select sustainable providers and deploy efficient AI models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A6B75D-4456-0739-D6F0-B66B3418B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427" y="1262014"/>
            <a:ext cx="3822132" cy="5400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568" y="202346"/>
            <a:ext cx="9404723" cy="845359"/>
          </a:xfrm>
        </p:spPr>
        <p:txBody>
          <a:bodyPr/>
          <a:lstStyle/>
          <a:p>
            <a:r>
              <a:rPr lang="en-US" sz="5000" dirty="0"/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28" y="2148438"/>
            <a:ext cx="587657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Our Role as Technology Professionals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Every design choice, line of code, and system decision </a:t>
            </a:r>
            <a:r>
              <a:rPr lang="en-US" sz="2000" b="1" dirty="0"/>
              <a:t>shapes environmental impact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19428" y="3977947"/>
            <a:ext cx="579318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Way Forward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Embed sustainability from the start — not as an afterthought…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350" y="2030828"/>
            <a:ext cx="5728185" cy="3515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951" y="2342478"/>
            <a:ext cx="9404723" cy="2172690"/>
          </a:xfrm>
        </p:spPr>
        <p:txBody>
          <a:bodyPr/>
          <a:lstStyle/>
          <a:p>
            <a:pPr algn="ctr"/>
            <a:r>
              <a:rPr lang="en-US" dirty="0"/>
              <a:t>“Let’s build technology that meets today’s needs — and preserves tomorrow’s world.”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8003" y="2757587"/>
            <a:ext cx="8946541" cy="2163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5911</TotalTime>
  <Words>639</Words>
  <Application>Microsoft Office PowerPoint</Application>
  <PresentationFormat>Widescreen</PresentationFormat>
  <Paragraphs>85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Wingdings,Sans-Serif</vt:lpstr>
      <vt:lpstr>Ion</vt:lpstr>
      <vt:lpstr>Sustainable Technology</vt:lpstr>
      <vt:lpstr>Presented by</vt:lpstr>
      <vt:lpstr>PowerPoint Presentation</vt:lpstr>
      <vt:lpstr>From Stones to Silicon</vt:lpstr>
      <vt:lpstr>Ancient Foundations</vt:lpstr>
      <vt:lpstr>Leap towards better future</vt:lpstr>
      <vt:lpstr>Post-Tech</vt:lpstr>
      <vt:lpstr>Cost we pay</vt:lpstr>
      <vt:lpstr>Responsible Future ??</vt:lpstr>
      <vt:lpstr>PowerPoint Presentation</vt:lpstr>
      <vt:lpstr>Why Sustainable Technology Matters now..</vt:lpstr>
      <vt:lpstr>Exploding E-Waste Crisis</vt:lpstr>
      <vt:lpstr>Carbon Footprint and Emissions</vt:lpstr>
      <vt:lpstr>oh mother earth…</vt:lpstr>
      <vt:lpstr>Moment to Reflect</vt:lpstr>
      <vt:lpstr>PowerPoint Presentation</vt:lpstr>
      <vt:lpstr>Pathways to Sustainable Technology</vt:lpstr>
      <vt:lpstr>PowerPoint Presentation</vt:lpstr>
      <vt:lpstr>Circular Economy &amp; Modular Design</vt:lpstr>
      <vt:lpstr>Renewable Infrastructure &amp; Responsible AI</vt:lpstr>
      <vt:lpstr>Call to Action</vt:lpstr>
      <vt:lpstr>“Let’s build technology that meets today’s needs — and preserves tomorrow’s world.”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Haseeb</cp:lastModifiedBy>
  <cp:revision>837</cp:revision>
  <dcterms:created xsi:type="dcterms:W3CDTF">2025-01-14T13:24:00Z</dcterms:created>
  <dcterms:modified xsi:type="dcterms:W3CDTF">2026-01-04T15:15:43Z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1B9C1464BF0B43719FED6B48A3E02FFD_12</vt:lpwstr>
  </property>
  <property fmtid="{D5CDD505-2E9C-101B-9397-08002B2CF9AE}" pid="3" name="KSOProductBuildVer">
    <vt:lpwstr>1033-12.2.0.21546</vt:lpwstr>
  </property>
</Properties>
</file>