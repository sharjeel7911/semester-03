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35"/>
  </p:notesMasterIdLst>
  <p:sldIdLst>
    <p:sldId id="256" r:id="rId2"/>
    <p:sldId id="257" r:id="rId3"/>
    <p:sldId id="259" r:id="rId4"/>
    <p:sldId id="339" r:id="rId5"/>
    <p:sldId id="340" r:id="rId6"/>
    <p:sldId id="341" r:id="rId7"/>
    <p:sldId id="268" r:id="rId8"/>
    <p:sldId id="315" r:id="rId9"/>
    <p:sldId id="316" r:id="rId10"/>
    <p:sldId id="342" r:id="rId11"/>
    <p:sldId id="310" r:id="rId12"/>
    <p:sldId id="311" r:id="rId13"/>
    <p:sldId id="338" r:id="rId14"/>
    <p:sldId id="328" r:id="rId15"/>
    <p:sldId id="329" r:id="rId16"/>
    <p:sldId id="330" r:id="rId17"/>
    <p:sldId id="285" r:id="rId18"/>
    <p:sldId id="286" r:id="rId19"/>
    <p:sldId id="287" r:id="rId20"/>
    <p:sldId id="288" r:id="rId21"/>
    <p:sldId id="289" r:id="rId22"/>
    <p:sldId id="343" r:id="rId23"/>
    <p:sldId id="358" r:id="rId24"/>
    <p:sldId id="346" r:id="rId25"/>
    <p:sldId id="347" r:id="rId26"/>
    <p:sldId id="345" r:id="rId27"/>
    <p:sldId id="357" r:id="rId28"/>
    <p:sldId id="350" r:id="rId29"/>
    <p:sldId id="351" r:id="rId30"/>
    <p:sldId id="352" r:id="rId31"/>
    <p:sldId id="353" r:id="rId32"/>
    <p:sldId id="354" r:id="rId33"/>
    <p:sldId id="359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4" autoAdjust="0"/>
    <p:restoredTop sz="92680" autoAdjust="0"/>
  </p:normalViewPr>
  <p:slideViewPr>
    <p:cSldViewPr snapToGrid="0">
      <p:cViewPr varScale="1">
        <p:scale>
          <a:sx n="76" d="100"/>
          <a:sy n="76" d="100"/>
        </p:scale>
        <p:origin x="94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E59307-FD9A-4506-868F-38EAB1970A9E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DD0BA-05A3-4E41-BF9C-58D718839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89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Microprocessor -&gt; CPU (processor) on a single chip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DD0BA-05A3-4E41-BF9C-58D718839F8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550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6D7FFC9-EF6A-4132-AE34-E99517C5E50B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9582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Architecture = Logical aspects</a:t>
            </a:r>
          </a:p>
          <a:p>
            <a:r>
              <a:rPr lang="en-US" dirty="0"/>
              <a:t>Explain</a:t>
            </a:r>
            <a:r>
              <a:rPr lang="en-US" baseline="0" dirty="0"/>
              <a:t> the terms underlined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AB212B-14B6-45DE-B243-80E89BC63FF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8620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B9EA1-6BC2-0F54-3FB4-9E497B698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DAAE2D-4D58-CA52-4A36-A887090A5F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FDA0D4-FB43-DCAA-E5AA-5C9F75E6E6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Architecture = Logical aspects</a:t>
            </a:r>
          </a:p>
          <a:p>
            <a:r>
              <a:rPr lang="en-US" dirty="0"/>
              <a:t>Explain</a:t>
            </a:r>
            <a:r>
              <a:rPr lang="en-US" baseline="0" dirty="0"/>
              <a:t> the terms underlined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55C49-48FC-F28E-8F9D-F93B0F6998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AB212B-14B6-45DE-B243-80E89BC63FF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233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C2EB120-07B7-47BC-BFD9-130A811B3E11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0784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C063D98-8B40-48B6-99F1-885F767B6F08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5931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3753B6-6CC1-47E1-B294-0626EA6BCD6E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74047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9EE9C4F-6447-4058-BBF5-2058D74D205D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42015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C69A16-E131-4450-97B2-5C9BB01761CD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58958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06C22FF-EE8D-49CB-883B-C1EC3EECDBFA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29719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Register details covered in later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AB212B-14B6-45DE-B243-80E89BC63FF1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372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D7C642CD-AAAD-4E54-BAD2-9AEC05630F5D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6385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327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5372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025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9758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1526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474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974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043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348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16217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70872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567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8141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81218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80123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649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7C642CD-AAAD-4E54-BAD2-9AEC05630F5D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37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D54D1-B773-6DC6-6A36-C4903D0768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Computer Organization &amp; Assembly Language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0092D9-7E8A-0F7D-03F8-2132B9F1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720242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About this Course</a:t>
            </a:r>
          </a:p>
          <a:p>
            <a:r>
              <a:rPr lang="en-US" dirty="0"/>
              <a:t>Basic Structure of Computer</a:t>
            </a:r>
          </a:p>
          <a:p>
            <a:r>
              <a:rPr lang="en-US" dirty="0"/>
              <a:t>What is Computer Organization?</a:t>
            </a:r>
          </a:p>
          <a:p>
            <a:r>
              <a:rPr lang="en-US" dirty="0"/>
              <a:t>About Assembly Language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Objectives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981200" y="2657618"/>
            <a:ext cx="8229600" cy="3451082"/>
          </a:xfrm>
        </p:spPr>
        <p:txBody>
          <a:bodyPr>
            <a:normAutofit/>
          </a:bodyPr>
          <a:lstStyle/>
          <a:p>
            <a:pPr algn="just">
              <a:spcAft>
                <a:spcPts val="500"/>
              </a:spcAft>
            </a:pPr>
            <a:r>
              <a:rPr lang="en-US" sz="2000" dirty="0"/>
              <a:t>To learn the organization of computer hardware components.</a:t>
            </a:r>
          </a:p>
          <a:p>
            <a:pPr algn="just">
              <a:spcAft>
                <a:spcPts val="500"/>
              </a:spcAft>
            </a:pPr>
            <a:r>
              <a:rPr lang="en-US" sz="2000" dirty="0"/>
              <a:t>To gain knowledge about the internal architecture and working of microprocessors. </a:t>
            </a:r>
          </a:p>
          <a:p>
            <a:pPr algn="just">
              <a:spcAft>
                <a:spcPts val="500"/>
              </a:spcAft>
            </a:pPr>
            <a:r>
              <a:rPr lang="en-US" sz="2000" dirty="0"/>
              <a:t>To understand working of memory devices, interrupt controllers and I/O devices.</a:t>
            </a:r>
          </a:p>
          <a:p>
            <a:pPr algn="just">
              <a:spcAft>
                <a:spcPts val="500"/>
              </a:spcAft>
            </a:pPr>
            <a:r>
              <a:rPr lang="en-US" sz="2000" dirty="0"/>
              <a:t>Develop skills to analyze and optimize performance at the machine level.</a:t>
            </a:r>
          </a:p>
          <a:p>
            <a:pPr algn="just">
              <a:spcAft>
                <a:spcPts val="500"/>
              </a:spcAft>
            </a:pPr>
            <a:r>
              <a:rPr lang="en-US" sz="2000" dirty="0"/>
              <a:t>To understand syntax, semantics, and structure of assembly language.</a:t>
            </a:r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1026D-E106-7012-CBFC-673D4BD40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Contents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9D81E-F3A7-E91D-1D52-CD0BCBD64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Computer Architecture</a:t>
            </a:r>
          </a:p>
          <a:p>
            <a:r>
              <a:rPr lang="en-US" dirty="0"/>
              <a:t>Assembly Language Fundamentals</a:t>
            </a:r>
          </a:p>
          <a:p>
            <a:r>
              <a:rPr lang="en-US" dirty="0"/>
              <a:t>Data Representation</a:t>
            </a:r>
          </a:p>
          <a:p>
            <a:r>
              <a:rPr lang="en-US" dirty="0"/>
              <a:t>Memory Hierarchy</a:t>
            </a:r>
          </a:p>
          <a:p>
            <a:r>
              <a:rPr lang="en-US" dirty="0"/>
              <a:t>Input/Output Systems</a:t>
            </a:r>
            <a:endParaRPr lang="en-PK" dirty="0"/>
          </a:p>
        </p:txBody>
      </p:sp>
      <p:pic>
        <p:nvPicPr>
          <p:cNvPr id="1026" name="Picture 2" descr="Memory Hierarchy - KEY NOTES">
            <a:extLst>
              <a:ext uri="{FF2B5EF4-FFF2-40B4-BE49-F238E27FC236}">
                <a16:creationId xmlns:a16="http://schemas.microsoft.com/office/drawing/2014/main" id="{05F16D67-A8E5-34E2-E208-F24B1D294D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2601" y="2836505"/>
            <a:ext cx="3846076" cy="2780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5682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93651-5B9E-1037-5CC0-002DFB7DF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World Applications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2359D-BB17-291F-CC46-A6D436928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Embedded Systems</a:t>
            </a:r>
          </a:p>
          <a:p>
            <a:pPr lvl="1"/>
            <a:r>
              <a:rPr lang="en-US" dirty="0"/>
              <a:t>Home Automation (Smart Homes)</a:t>
            </a:r>
          </a:p>
          <a:p>
            <a:pPr lvl="1"/>
            <a:r>
              <a:rPr lang="en-US" dirty="0"/>
              <a:t>Automotive Systems (Vehicles)</a:t>
            </a:r>
          </a:p>
          <a:p>
            <a:r>
              <a:rPr lang="en-US" sz="2000" dirty="0"/>
              <a:t>Missile Guidance Systems</a:t>
            </a:r>
          </a:p>
          <a:p>
            <a:r>
              <a:rPr lang="en-US" sz="2000" dirty="0"/>
              <a:t>Home Appliances</a:t>
            </a:r>
          </a:p>
          <a:p>
            <a:r>
              <a:rPr lang="en-US" sz="2000" dirty="0"/>
              <a:t>Medical Devices</a:t>
            </a:r>
          </a:p>
          <a:p>
            <a:r>
              <a:rPr lang="en-US" sz="2000" dirty="0"/>
              <a:t>Consumer Electronics (Smartphones)</a:t>
            </a:r>
          </a:p>
          <a:p>
            <a:r>
              <a:rPr lang="en-US" sz="2000" dirty="0"/>
              <a:t>Robotics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1169057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E0B74-BB66-58EA-FEE8-D1C1681A9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Assembly Language?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7105E-23AC-B72A-E796-D740A7DDA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Direct Hardware Control</a:t>
            </a:r>
          </a:p>
          <a:p>
            <a:r>
              <a:rPr lang="en-US" dirty="0"/>
              <a:t>Performance Optimization</a:t>
            </a:r>
          </a:p>
          <a:p>
            <a:r>
              <a:rPr lang="en-US" dirty="0"/>
              <a:t>Understanding Computer Architecture</a:t>
            </a:r>
          </a:p>
          <a:p>
            <a:r>
              <a:rPr lang="en-US" dirty="0"/>
              <a:t>Embedded Systems Expertise (low cost)</a:t>
            </a:r>
          </a:p>
          <a:p>
            <a:r>
              <a:rPr lang="en-US" dirty="0"/>
              <a:t>Real-Time Processing</a:t>
            </a:r>
          </a:p>
          <a:p>
            <a:r>
              <a:rPr lang="en-US" dirty="0"/>
              <a:t>Foundation for Other Languages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195442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/>
              <a:t>Structure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idx="1"/>
          </p:nvPr>
        </p:nvSpPr>
        <p:spPr>
          <a:xfrm>
            <a:off x="1849663" y="1872408"/>
            <a:ext cx="8504238" cy="987425"/>
          </a:xfrm>
        </p:spPr>
        <p:txBody>
          <a:bodyPr/>
          <a:lstStyle/>
          <a:p>
            <a:pPr algn="just" eaLnBrk="1" hangingPunct="1"/>
            <a:r>
              <a:rPr lang="en-GB" b="1" dirty="0"/>
              <a:t>Structure</a:t>
            </a:r>
            <a:r>
              <a:rPr lang="en-GB" dirty="0"/>
              <a:t> is the way in which components relate to each other</a:t>
            </a:r>
          </a:p>
          <a:p>
            <a:pPr eaLnBrk="1" hangingPunct="1"/>
            <a:endParaRPr lang="en-GB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0D3016-F455-4320-84C8-A2D9C73336B1}" type="slidenum">
              <a:rPr lang="en-US"/>
              <a:pPr>
                <a:defRPr/>
              </a:pPr>
              <a:t>7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5200" y="2590801"/>
            <a:ext cx="4705739" cy="3579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Difference in Peripherals &amp; Communication Lines 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1295402" y="2771191"/>
            <a:ext cx="9901333" cy="2873829"/>
          </a:xfrm>
        </p:spPr>
        <p:txBody>
          <a:bodyPr>
            <a:normAutofit/>
          </a:bodyPr>
          <a:lstStyle/>
          <a:p>
            <a:pPr algn="just">
              <a:spcAft>
                <a:spcPts val="500"/>
              </a:spcAft>
            </a:pPr>
            <a:r>
              <a:rPr lang="en-US" sz="2400" dirty="0"/>
              <a:t>When data is received from or delivered by a device that is directly connected to the computer, process is called </a:t>
            </a:r>
            <a:r>
              <a:rPr lang="en-US" sz="2400" b="1" dirty="0"/>
              <a:t>Input-Output</a:t>
            </a:r>
            <a:r>
              <a:rPr lang="en-US" sz="2400" dirty="0"/>
              <a:t> (I/O).</a:t>
            </a:r>
          </a:p>
          <a:p>
            <a:pPr algn="just">
              <a:spcAft>
                <a:spcPts val="500"/>
              </a:spcAft>
            </a:pPr>
            <a:r>
              <a:rPr lang="en-US" sz="2400" dirty="0"/>
              <a:t>When data are moved over longer distance, to or from a remote device, the process is known as </a:t>
            </a:r>
            <a:r>
              <a:rPr lang="en-US" sz="2400" b="1" dirty="0"/>
              <a:t>Data Communication</a:t>
            </a:r>
            <a:r>
              <a:rPr lang="en-US" sz="2400"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95BC5C-7F91-493A-81D3-12C74894F1EA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2724538"/>
            <a:ext cx="8229600" cy="3432421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sz="2400" dirty="0"/>
              <a:t>Computer Architecture refers to those attributes of a system visible to a programmer </a:t>
            </a:r>
          </a:p>
          <a:p>
            <a:pPr lvl="1" algn="just"/>
            <a:r>
              <a:rPr lang="en-US" sz="2100" dirty="0"/>
              <a:t>Those attributes that have direct impact on logical execution of a program.</a:t>
            </a:r>
          </a:p>
          <a:p>
            <a:pPr algn="just"/>
            <a:r>
              <a:rPr lang="en-US" sz="2400" b="1" dirty="0"/>
              <a:t>Architectural attributes include</a:t>
            </a:r>
            <a:r>
              <a:rPr lang="en-US" sz="2400" dirty="0"/>
              <a:t>:  </a:t>
            </a:r>
          </a:p>
          <a:p>
            <a:pPr lvl="1" algn="just"/>
            <a:r>
              <a:rPr lang="en-US" sz="2100" dirty="0"/>
              <a:t>the instruction set, </a:t>
            </a:r>
          </a:p>
          <a:p>
            <a:pPr lvl="1" algn="just"/>
            <a:r>
              <a:rPr lang="en-US" sz="2100" dirty="0"/>
              <a:t>no. of bits used to represent various data types (numbers, characters etc), </a:t>
            </a:r>
          </a:p>
          <a:p>
            <a:pPr lvl="1" algn="just"/>
            <a:r>
              <a:rPr lang="en-US" sz="2100" dirty="0"/>
              <a:t>I/O mechanisms and technology for addressing memory.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400" b="1" dirty="0"/>
              <a:t>Example</a:t>
            </a:r>
            <a:r>
              <a:rPr lang="en-US" sz="2400" dirty="0"/>
              <a:t>: Architectural design issue whether a computer will have multiple instruction or not.   </a:t>
            </a:r>
          </a:p>
          <a:p>
            <a:pPr algn="just"/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A2ACB-8DBE-0805-164A-B5A64391B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FF1ED-6AC0-8261-DC57-4EE2F2E84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9AEA7-772C-AE7C-F038-4A32E007D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2724538"/>
            <a:ext cx="8229600" cy="3432421"/>
          </a:xfrm>
        </p:spPr>
        <p:txBody>
          <a:bodyPr>
            <a:noAutofit/>
          </a:bodyPr>
          <a:lstStyle/>
          <a:p>
            <a:pPr algn="just"/>
            <a:r>
              <a:rPr lang="en-GB" sz="20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Processor-Memory-I/O Model</a:t>
            </a:r>
            <a:endParaRPr lang="en-US" sz="2000" dirty="0"/>
          </a:p>
          <a:p>
            <a:pPr algn="just"/>
            <a:r>
              <a:rPr lang="en-US" sz="2000" dirty="0"/>
              <a:t>Components</a:t>
            </a:r>
          </a:p>
          <a:p>
            <a:pPr lvl="1" algn="just"/>
            <a:r>
              <a:rPr lang="en-US" dirty="0"/>
              <a:t>CPU</a:t>
            </a:r>
          </a:p>
          <a:p>
            <a:pPr lvl="1" algn="just"/>
            <a:r>
              <a:rPr lang="en-US" dirty="0"/>
              <a:t>Memory</a:t>
            </a:r>
          </a:p>
          <a:p>
            <a:pPr lvl="1" algn="just"/>
            <a:r>
              <a:rPr lang="en-US" dirty="0"/>
              <a:t>I/O Devices</a:t>
            </a:r>
          </a:p>
          <a:p>
            <a:pPr algn="just"/>
            <a:r>
              <a:rPr lang="en-US" sz="2000" dirty="0"/>
              <a:t>Data Flow</a:t>
            </a:r>
          </a:p>
          <a:p>
            <a:pPr algn="just"/>
            <a:r>
              <a:rPr lang="en-US" sz="2000" dirty="0"/>
              <a:t>System Interconnect</a:t>
            </a:r>
          </a:p>
          <a:p>
            <a:pPr algn="just"/>
            <a:r>
              <a:rPr lang="en-US" sz="2000" dirty="0"/>
              <a:t>Basic Instruction Cycle (Fetch-&gt; Execute)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A13EB-609E-883C-F860-579AC983A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026" name="Picture 2" descr="Basic Computer Architecture">
            <a:extLst>
              <a:ext uri="{FF2B5EF4-FFF2-40B4-BE49-F238E27FC236}">
                <a16:creationId xmlns:a16="http://schemas.microsoft.com/office/drawing/2014/main" id="{84172E17-9BF3-A014-5652-F91039F0A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3580" y="3200400"/>
            <a:ext cx="5264919" cy="2395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2695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Oval 2" descr="50%"/>
          <p:cNvSpPr>
            <a:spLocks noChangeArrowheads="1"/>
          </p:cNvSpPr>
          <p:nvPr/>
        </p:nvSpPr>
        <p:spPr bwMode="auto">
          <a:xfrm>
            <a:off x="5410200" y="2057400"/>
            <a:ext cx="4724400" cy="4648200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pPr algn="ctr" eaLnBrk="0" hangingPunct="0"/>
            <a:endParaRPr lang="en-US" sz="1600">
              <a:latin typeface="Georgia" pitchFamily="18" charset="0"/>
            </a:endParaRPr>
          </a:p>
        </p:txBody>
      </p:sp>
      <p:sp>
        <p:nvSpPr>
          <p:cNvPr id="19459" name="Oval 3"/>
          <p:cNvSpPr>
            <a:spLocks noChangeArrowheads="1"/>
          </p:cNvSpPr>
          <p:nvPr/>
        </p:nvSpPr>
        <p:spPr bwMode="auto">
          <a:xfrm>
            <a:off x="6934200" y="3581400"/>
            <a:ext cx="1524000" cy="1524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>
              <a:latin typeface="Georgia" pitchFamily="18" charset="0"/>
            </a:endParaRPr>
          </a:p>
        </p:txBody>
      </p:sp>
      <p:sp>
        <p:nvSpPr>
          <p:cNvPr id="19460" name="Oval 4"/>
          <p:cNvSpPr>
            <a:spLocks noChangeArrowheads="1"/>
          </p:cNvSpPr>
          <p:nvPr/>
        </p:nvSpPr>
        <p:spPr bwMode="auto">
          <a:xfrm>
            <a:off x="6172200" y="2743200"/>
            <a:ext cx="1371600" cy="1371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>
              <a:latin typeface="Georgia" pitchFamily="18" charset="0"/>
            </a:endParaRPr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title"/>
          </p:nvPr>
        </p:nvSpPr>
        <p:spPr>
          <a:ln cap="flat">
            <a:solidFill>
              <a:schemeClr val="tx1"/>
            </a:solidFill>
          </a:ln>
        </p:spPr>
        <p:txBody>
          <a:bodyPr vert="horz" lIns="90000" tIns="46800" rIns="90000" bIns="46800" rtlCol="0" anchor="ctr">
            <a:normAutofit/>
          </a:bodyPr>
          <a:lstStyle/>
          <a:p>
            <a:pPr eaLnBrk="1" hangingPunct="1"/>
            <a:r>
              <a:rPr lang="en-GB" dirty="0"/>
              <a:t>Structure - Top Level</a:t>
            </a: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B29072-6184-4002-A8D2-BC86BFBC4F25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19463" name="Oval 6"/>
          <p:cNvSpPr>
            <a:spLocks noChangeArrowheads="1"/>
          </p:cNvSpPr>
          <p:nvPr/>
        </p:nvSpPr>
        <p:spPr bwMode="auto">
          <a:xfrm>
            <a:off x="2057400" y="3657600"/>
            <a:ext cx="1066800" cy="1066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>
              <a:latin typeface="Georgia" pitchFamily="18" charset="0"/>
            </a:endParaRPr>
          </a:p>
        </p:txBody>
      </p:sp>
      <p:sp>
        <p:nvSpPr>
          <p:cNvPr id="19464" name="Oval 7"/>
          <p:cNvSpPr>
            <a:spLocks noChangeArrowheads="1"/>
          </p:cNvSpPr>
          <p:nvPr/>
        </p:nvSpPr>
        <p:spPr bwMode="auto">
          <a:xfrm>
            <a:off x="7924800" y="2743200"/>
            <a:ext cx="1371600" cy="1371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>
              <a:latin typeface="Georgia" pitchFamily="18" charset="0"/>
            </a:endParaRPr>
          </a:p>
        </p:txBody>
      </p:sp>
      <p:sp>
        <p:nvSpPr>
          <p:cNvPr id="19465" name="Oval 8"/>
          <p:cNvSpPr>
            <a:spLocks noChangeArrowheads="1"/>
          </p:cNvSpPr>
          <p:nvPr/>
        </p:nvSpPr>
        <p:spPr bwMode="auto">
          <a:xfrm>
            <a:off x="7010400" y="4800600"/>
            <a:ext cx="1371600" cy="1371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>
              <a:latin typeface="Georgia" pitchFamily="18" charset="0"/>
            </a:endParaRPr>
          </a:p>
        </p:txBody>
      </p:sp>
      <p:sp>
        <p:nvSpPr>
          <p:cNvPr id="19466" name="Text Box 9"/>
          <p:cNvSpPr txBox="1">
            <a:spLocks noChangeArrowheads="1"/>
          </p:cNvSpPr>
          <p:nvPr/>
        </p:nvSpPr>
        <p:spPr bwMode="auto">
          <a:xfrm>
            <a:off x="2043114" y="3946526"/>
            <a:ext cx="1093867" cy="340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eaLnBrk="0" hangingPunct="0"/>
            <a:r>
              <a:rPr lang="en-GB" sz="1600">
                <a:latin typeface="Georgia" pitchFamily="18" charset="0"/>
              </a:rPr>
              <a:t>Computer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19467" name="Text Box 10"/>
          <p:cNvSpPr txBox="1">
            <a:spLocks noChangeArrowheads="1"/>
          </p:cNvSpPr>
          <p:nvPr/>
        </p:nvSpPr>
        <p:spPr bwMode="auto">
          <a:xfrm>
            <a:off x="8153401" y="3048001"/>
            <a:ext cx="947993" cy="586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eaLnBrk="0" hangingPunct="0"/>
            <a:r>
              <a:rPr lang="en-GB" sz="1600">
                <a:latin typeface="Georgia" pitchFamily="18" charset="0"/>
              </a:rPr>
              <a:t>Main </a:t>
            </a:r>
          </a:p>
          <a:p>
            <a:pPr eaLnBrk="0" hangingPunct="0"/>
            <a:r>
              <a:rPr lang="en-GB" sz="1600">
                <a:latin typeface="Georgia" pitchFamily="18" charset="0"/>
              </a:rPr>
              <a:t>Memory</a:t>
            </a:r>
          </a:p>
        </p:txBody>
      </p:sp>
      <p:sp>
        <p:nvSpPr>
          <p:cNvPr id="19468" name="Text Box 11"/>
          <p:cNvSpPr txBox="1">
            <a:spLocks noChangeArrowheads="1"/>
          </p:cNvSpPr>
          <p:nvPr/>
        </p:nvSpPr>
        <p:spPr bwMode="auto">
          <a:xfrm>
            <a:off x="7315201" y="5133976"/>
            <a:ext cx="829371" cy="586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eaLnBrk="0" hangingPunct="0"/>
            <a:r>
              <a:rPr lang="en-GB" sz="1600">
                <a:latin typeface="Georgia" pitchFamily="18" charset="0"/>
              </a:rPr>
              <a:t>Input</a:t>
            </a:r>
          </a:p>
          <a:p>
            <a:pPr eaLnBrk="0" hangingPunct="0"/>
            <a:r>
              <a:rPr lang="en-GB" sz="1600">
                <a:latin typeface="Georgia" pitchFamily="18" charset="0"/>
              </a:rPr>
              <a:t>Output</a:t>
            </a:r>
          </a:p>
        </p:txBody>
      </p:sp>
      <p:sp>
        <p:nvSpPr>
          <p:cNvPr id="19469" name="Text Box 12"/>
          <p:cNvSpPr txBox="1">
            <a:spLocks noChangeArrowheads="1"/>
          </p:cNvSpPr>
          <p:nvPr/>
        </p:nvSpPr>
        <p:spPr bwMode="auto">
          <a:xfrm>
            <a:off x="6934200" y="4067176"/>
            <a:ext cx="1640490" cy="586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eaLnBrk="0" hangingPunct="0"/>
            <a:r>
              <a:rPr lang="en-GB" sz="1600">
                <a:latin typeface="Georgia" pitchFamily="18" charset="0"/>
              </a:rPr>
              <a:t>Systems</a:t>
            </a:r>
          </a:p>
          <a:p>
            <a:pPr eaLnBrk="0" hangingPunct="0"/>
            <a:r>
              <a:rPr lang="en-GB" sz="1600">
                <a:latin typeface="Georgia" pitchFamily="18" charset="0"/>
              </a:rPr>
              <a:t>Interconnection</a:t>
            </a:r>
          </a:p>
        </p:txBody>
      </p:sp>
      <p:sp>
        <p:nvSpPr>
          <p:cNvPr id="19470" name="Line 13"/>
          <p:cNvSpPr>
            <a:spLocks noChangeShapeType="1"/>
          </p:cNvSpPr>
          <p:nvPr/>
        </p:nvSpPr>
        <p:spPr bwMode="auto">
          <a:xfrm flipV="1">
            <a:off x="2590800" y="2209800"/>
            <a:ext cx="43434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9471" name="Line 14"/>
          <p:cNvSpPr>
            <a:spLocks noChangeShapeType="1"/>
          </p:cNvSpPr>
          <p:nvPr/>
        </p:nvSpPr>
        <p:spPr bwMode="auto">
          <a:xfrm>
            <a:off x="2590800" y="4724400"/>
            <a:ext cx="419100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9472" name="Text Box 15"/>
          <p:cNvSpPr txBox="1">
            <a:spLocks noChangeArrowheads="1"/>
          </p:cNvSpPr>
          <p:nvPr/>
        </p:nvSpPr>
        <p:spPr bwMode="auto">
          <a:xfrm>
            <a:off x="1814514" y="2346326"/>
            <a:ext cx="1222107" cy="340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eaLnBrk="0" hangingPunct="0"/>
            <a:r>
              <a:rPr lang="en-GB" sz="1600">
                <a:latin typeface="Georgia" pitchFamily="18" charset="0"/>
              </a:rPr>
              <a:t>Peripherals</a:t>
            </a:r>
          </a:p>
        </p:txBody>
      </p:sp>
      <p:sp>
        <p:nvSpPr>
          <p:cNvPr id="19473" name="Text Box 16"/>
          <p:cNvSpPr txBox="1">
            <a:spLocks noChangeArrowheads="1"/>
          </p:cNvSpPr>
          <p:nvPr/>
        </p:nvSpPr>
        <p:spPr bwMode="auto">
          <a:xfrm>
            <a:off x="1662113" y="5622926"/>
            <a:ext cx="1648506" cy="586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eaLnBrk="0" hangingPunct="0"/>
            <a:r>
              <a:rPr lang="en-GB" sz="1600">
                <a:latin typeface="Georgia" pitchFamily="18" charset="0"/>
              </a:rPr>
              <a:t>Communication</a:t>
            </a:r>
          </a:p>
          <a:p>
            <a:pPr eaLnBrk="0" hangingPunct="0"/>
            <a:r>
              <a:rPr lang="en-GB" sz="1600">
                <a:latin typeface="Georgia" pitchFamily="18" charset="0"/>
              </a:rPr>
              <a:t>lines</a:t>
            </a:r>
          </a:p>
        </p:txBody>
      </p:sp>
      <p:sp>
        <p:nvSpPr>
          <p:cNvPr id="19474" name="Text Box 17"/>
          <p:cNvSpPr txBox="1">
            <a:spLocks noChangeArrowheads="1"/>
          </p:cNvSpPr>
          <p:nvPr/>
        </p:nvSpPr>
        <p:spPr bwMode="auto">
          <a:xfrm>
            <a:off x="6324601" y="2971800"/>
            <a:ext cx="1241425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eaLnBrk="0" hangingPunct="0"/>
            <a:r>
              <a:rPr lang="en-GB" sz="1600">
                <a:latin typeface="Georgia" pitchFamily="18" charset="0"/>
              </a:rPr>
              <a:t>Central</a:t>
            </a:r>
          </a:p>
          <a:p>
            <a:pPr eaLnBrk="0" hangingPunct="0"/>
            <a:r>
              <a:rPr lang="en-GB" sz="1600">
                <a:latin typeface="Georgia" pitchFamily="18" charset="0"/>
              </a:rPr>
              <a:t>Processing </a:t>
            </a:r>
          </a:p>
          <a:p>
            <a:pPr eaLnBrk="0" hangingPunct="0"/>
            <a:r>
              <a:rPr lang="en-GB" sz="1600">
                <a:latin typeface="Georgia" pitchFamily="18" charset="0"/>
              </a:rPr>
              <a:t>Unit</a:t>
            </a:r>
          </a:p>
        </p:txBody>
      </p:sp>
      <p:sp>
        <p:nvSpPr>
          <p:cNvPr id="19475" name="Line 18"/>
          <p:cNvSpPr>
            <a:spLocks noChangeShapeType="1"/>
          </p:cNvSpPr>
          <p:nvPr/>
        </p:nvSpPr>
        <p:spPr bwMode="auto">
          <a:xfrm>
            <a:off x="2438400" y="27432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9476" name="Line 19"/>
          <p:cNvSpPr>
            <a:spLocks noChangeShapeType="1"/>
          </p:cNvSpPr>
          <p:nvPr/>
        </p:nvSpPr>
        <p:spPr bwMode="auto">
          <a:xfrm>
            <a:off x="2438400" y="47244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9477" name="Text Box 20"/>
          <p:cNvSpPr txBox="1">
            <a:spLocks noChangeArrowheads="1"/>
          </p:cNvSpPr>
          <p:nvPr/>
        </p:nvSpPr>
        <p:spPr bwMode="auto">
          <a:xfrm>
            <a:off x="7114830" y="2254718"/>
            <a:ext cx="1321493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 eaLnBrk="0" hangingPunct="0"/>
            <a:r>
              <a:rPr lang="en-US" sz="2000">
                <a:latin typeface="Georgia" pitchFamily="18" charset="0"/>
              </a:rPr>
              <a:t>Computer</a:t>
            </a:r>
            <a:endParaRPr lang="en-US" sz="1600">
              <a:latin typeface="Georgia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Oval 2" descr="50%"/>
          <p:cNvSpPr>
            <a:spLocks noChangeArrowheads="1"/>
          </p:cNvSpPr>
          <p:nvPr/>
        </p:nvSpPr>
        <p:spPr bwMode="auto">
          <a:xfrm>
            <a:off x="5410200" y="2057400"/>
            <a:ext cx="4724400" cy="4648200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pPr algn="ctr" eaLnBrk="0" hangingPunct="0"/>
            <a:endParaRPr lang="en-US" sz="1600">
              <a:latin typeface="Georgia" pitchFamily="18" charset="0"/>
            </a:endParaRPr>
          </a:p>
        </p:txBody>
      </p:sp>
      <p:sp>
        <p:nvSpPr>
          <p:cNvPr id="20483" name="Oval 3"/>
          <p:cNvSpPr>
            <a:spLocks noChangeArrowheads="1"/>
          </p:cNvSpPr>
          <p:nvPr/>
        </p:nvSpPr>
        <p:spPr bwMode="auto">
          <a:xfrm>
            <a:off x="6934200" y="3581400"/>
            <a:ext cx="1524000" cy="1524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>
              <a:latin typeface="Georgia" pitchFamily="18" charset="0"/>
            </a:endParaRP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title"/>
          </p:nvPr>
        </p:nvSpPr>
        <p:spPr>
          <a:ln cap="flat">
            <a:solidFill>
              <a:schemeClr val="tx1"/>
            </a:solidFill>
          </a:ln>
        </p:spPr>
        <p:txBody>
          <a:bodyPr vert="horz" lIns="90000" tIns="46800" rIns="90000" bIns="46800" rtlCol="0" anchor="ctr">
            <a:normAutofit/>
          </a:bodyPr>
          <a:lstStyle/>
          <a:p>
            <a:pPr eaLnBrk="1" hangingPunct="1"/>
            <a:r>
              <a:rPr lang="en-GB"/>
              <a:t>Structure - The CPU</a:t>
            </a:r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01780C-C62D-41D8-9141-169C5D5ADE34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20486" name="Oval 5"/>
          <p:cNvSpPr>
            <a:spLocks noChangeArrowheads="1"/>
          </p:cNvSpPr>
          <p:nvPr/>
        </p:nvSpPr>
        <p:spPr bwMode="auto">
          <a:xfrm>
            <a:off x="6172200" y="2743200"/>
            <a:ext cx="1371600" cy="1371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>
              <a:latin typeface="Georgia" pitchFamily="18" charset="0"/>
            </a:endParaRPr>
          </a:p>
        </p:txBody>
      </p:sp>
      <p:sp>
        <p:nvSpPr>
          <p:cNvPr id="20487" name="Oval 6"/>
          <p:cNvSpPr>
            <a:spLocks noChangeArrowheads="1"/>
          </p:cNvSpPr>
          <p:nvPr/>
        </p:nvSpPr>
        <p:spPr bwMode="auto">
          <a:xfrm>
            <a:off x="1600200" y="2971800"/>
            <a:ext cx="1981200" cy="2057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>
              <a:latin typeface="Georgia" pitchFamily="18" charset="0"/>
            </a:endParaRPr>
          </a:p>
        </p:txBody>
      </p:sp>
      <p:sp>
        <p:nvSpPr>
          <p:cNvPr id="20488" name="Oval 7"/>
          <p:cNvSpPr>
            <a:spLocks noChangeArrowheads="1"/>
          </p:cNvSpPr>
          <p:nvPr/>
        </p:nvSpPr>
        <p:spPr bwMode="auto">
          <a:xfrm>
            <a:off x="7924800" y="2743200"/>
            <a:ext cx="1371600" cy="1371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>
              <a:latin typeface="Georgia" pitchFamily="18" charset="0"/>
            </a:endParaRPr>
          </a:p>
        </p:txBody>
      </p:sp>
      <p:sp>
        <p:nvSpPr>
          <p:cNvPr id="20489" name="Oval 8"/>
          <p:cNvSpPr>
            <a:spLocks noChangeArrowheads="1"/>
          </p:cNvSpPr>
          <p:nvPr/>
        </p:nvSpPr>
        <p:spPr bwMode="auto">
          <a:xfrm>
            <a:off x="7010400" y="4800600"/>
            <a:ext cx="1371600" cy="1371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>
              <a:latin typeface="Georgia" pitchFamily="18" charset="0"/>
            </a:endParaRPr>
          </a:p>
        </p:txBody>
      </p:sp>
      <p:sp>
        <p:nvSpPr>
          <p:cNvPr id="20490" name="Text Box 9"/>
          <p:cNvSpPr txBox="1">
            <a:spLocks noChangeArrowheads="1"/>
          </p:cNvSpPr>
          <p:nvPr/>
        </p:nvSpPr>
        <p:spPr bwMode="auto">
          <a:xfrm>
            <a:off x="2127251" y="3016251"/>
            <a:ext cx="1093867" cy="340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eaLnBrk="0" hangingPunct="0"/>
            <a:r>
              <a:rPr lang="en-GB" sz="1600">
                <a:latin typeface="Georgia" pitchFamily="18" charset="0"/>
              </a:rPr>
              <a:t>Computer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20491" name="Text Box 10"/>
          <p:cNvSpPr txBox="1">
            <a:spLocks noChangeArrowheads="1"/>
          </p:cNvSpPr>
          <p:nvPr/>
        </p:nvSpPr>
        <p:spPr bwMode="auto">
          <a:xfrm>
            <a:off x="8077201" y="2971800"/>
            <a:ext cx="1161193" cy="8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eaLnBrk="0" hangingPunct="0"/>
            <a:r>
              <a:rPr lang="en-GB" sz="1600">
                <a:latin typeface="Georgia" pitchFamily="18" charset="0"/>
              </a:rPr>
              <a:t>Arithmetic</a:t>
            </a:r>
          </a:p>
          <a:p>
            <a:pPr eaLnBrk="0" hangingPunct="0"/>
            <a:r>
              <a:rPr lang="en-GB" sz="1600">
                <a:latin typeface="Georgia" pitchFamily="18" charset="0"/>
              </a:rPr>
              <a:t>and </a:t>
            </a:r>
          </a:p>
          <a:p>
            <a:pPr eaLnBrk="0" hangingPunct="0"/>
            <a:r>
              <a:rPr lang="en-GB" sz="1600">
                <a:latin typeface="Georgia" pitchFamily="18" charset="0"/>
              </a:rPr>
              <a:t>Login Unit</a:t>
            </a:r>
          </a:p>
        </p:txBody>
      </p:sp>
      <p:sp>
        <p:nvSpPr>
          <p:cNvPr id="20492" name="Text Box 11"/>
          <p:cNvSpPr txBox="1">
            <a:spLocks noChangeArrowheads="1"/>
          </p:cNvSpPr>
          <p:nvPr/>
        </p:nvSpPr>
        <p:spPr bwMode="auto">
          <a:xfrm>
            <a:off x="7239001" y="5133976"/>
            <a:ext cx="869447" cy="586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eaLnBrk="0" hangingPunct="0"/>
            <a:r>
              <a:rPr lang="en-GB" sz="1600">
                <a:latin typeface="Georgia" pitchFamily="18" charset="0"/>
              </a:rPr>
              <a:t>Control</a:t>
            </a:r>
          </a:p>
          <a:p>
            <a:pPr eaLnBrk="0" hangingPunct="0"/>
            <a:r>
              <a:rPr lang="en-GB" sz="1600">
                <a:latin typeface="Georgia" pitchFamily="18" charset="0"/>
              </a:rPr>
              <a:t>Unit</a:t>
            </a:r>
          </a:p>
        </p:txBody>
      </p:sp>
      <p:sp>
        <p:nvSpPr>
          <p:cNvPr id="20493" name="Text Box 12"/>
          <p:cNvSpPr txBox="1">
            <a:spLocks noChangeArrowheads="1"/>
          </p:cNvSpPr>
          <p:nvPr/>
        </p:nvSpPr>
        <p:spPr bwMode="auto">
          <a:xfrm>
            <a:off x="6934200" y="4067176"/>
            <a:ext cx="1640490" cy="586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eaLnBrk="0" hangingPunct="0"/>
            <a:r>
              <a:rPr lang="en-GB" sz="1600">
                <a:latin typeface="Georgia" pitchFamily="18" charset="0"/>
              </a:rPr>
              <a:t>Internal CPU</a:t>
            </a:r>
          </a:p>
          <a:p>
            <a:pPr eaLnBrk="0" hangingPunct="0"/>
            <a:r>
              <a:rPr lang="en-GB" sz="1600">
                <a:latin typeface="Georgia" pitchFamily="18" charset="0"/>
              </a:rPr>
              <a:t>Interconnection</a:t>
            </a:r>
          </a:p>
        </p:txBody>
      </p:sp>
      <p:sp>
        <p:nvSpPr>
          <p:cNvPr id="20494" name="Line 13"/>
          <p:cNvSpPr>
            <a:spLocks noChangeShapeType="1"/>
          </p:cNvSpPr>
          <p:nvPr/>
        </p:nvSpPr>
        <p:spPr bwMode="auto">
          <a:xfrm flipV="1">
            <a:off x="3048000" y="2209800"/>
            <a:ext cx="38862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20495" name="Line 14"/>
          <p:cNvSpPr>
            <a:spLocks noChangeShapeType="1"/>
          </p:cNvSpPr>
          <p:nvPr/>
        </p:nvSpPr>
        <p:spPr bwMode="auto">
          <a:xfrm>
            <a:off x="3048000" y="4343400"/>
            <a:ext cx="3733800" cy="213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20496" name="Text Box 15"/>
          <p:cNvSpPr txBox="1">
            <a:spLocks noChangeArrowheads="1"/>
          </p:cNvSpPr>
          <p:nvPr/>
        </p:nvSpPr>
        <p:spPr bwMode="auto">
          <a:xfrm>
            <a:off x="6353176" y="3168651"/>
            <a:ext cx="1020129" cy="340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eaLnBrk="0" hangingPunct="0"/>
            <a:r>
              <a:rPr lang="en-GB" sz="1600">
                <a:latin typeface="Georgia" pitchFamily="18" charset="0"/>
              </a:rPr>
              <a:t>Registers</a:t>
            </a:r>
          </a:p>
        </p:txBody>
      </p:sp>
      <p:sp>
        <p:nvSpPr>
          <p:cNvPr id="20497" name="Oval 16"/>
          <p:cNvSpPr>
            <a:spLocks noChangeArrowheads="1"/>
          </p:cNvSpPr>
          <p:nvPr/>
        </p:nvSpPr>
        <p:spPr bwMode="auto">
          <a:xfrm>
            <a:off x="2743200" y="3581400"/>
            <a:ext cx="6858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>
              <a:latin typeface="Georgia" pitchFamily="18" charset="0"/>
            </a:endParaRPr>
          </a:p>
        </p:txBody>
      </p:sp>
      <p:sp>
        <p:nvSpPr>
          <p:cNvPr id="20498" name="Text Box 17"/>
          <p:cNvSpPr txBox="1">
            <a:spLocks noChangeArrowheads="1"/>
          </p:cNvSpPr>
          <p:nvPr/>
        </p:nvSpPr>
        <p:spPr bwMode="auto">
          <a:xfrm>
            <a:off x="2855605" y="3807729"/>
            <a:ext cx="492740" cy="279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 eaLnBrk="0" hangingPunct="0"/>
            <a:r>
              <a:rPr lang="en-US" sz="1200">
                <a:latin typeface="Georgia" pitchFamily="18" charset="0"/>
              </a:rPr>
              <a:t>CPU</a:t>
            </a:r>
            <a:endParaRPr lang="en-US" sz="1600">
              <a:latin typeface="Georgia" pitchFamily="18" charset="0"/>
            </a:endParaRPr>
          </a:p>
        </p:txBody>
      </p:sp>
      <p:sp>
        <p:nvSpPr>
          <p:cNvPr id="20499" name="Oval 18"/>
          <p:cNvSpPr>
            <a:spLocks noChangeArrowheads="1"/>
          </p:cNvSpPr>
          <p:nvPr/>
        </p:nvSpPr>
        <p:spPr bwMode="auto">
          <a:xfrm>
            <a:off x="1828800" y="3276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pPr algn="ctr" eaLnBrk="0" hangingPunct="0"/>
            <a:r>
              <a:rPr lang="en-US" sz="1200">
                <a:latin typeface="Georgia" pitchFamily="18" charset="0"/>
              </a:rPr>
              <a:t>I/O</a:t>
            </a:r>
            <a:endParaRPr lang="en-US" sz="1600">
              <a:latin typeface="Georgia" pitchFamily="18" charset="0"/>
            </a:endParaRPr>
          </a:p>
        </p:txBody>
      </p:sp>
      <p:sp>
        <p:nvSpPr>
          <p:cNvPr id="20500" name="Oval 19"/>
          <p:cNvSpPr>
            <a:spLocks noChangeArrowheads="1"/>
          </p:cNvSpPr>
          <p:nvPr/>
        </p:nvSpPr>
        <p:spPr bwMode="auto">
          <a:xfrm>
            <a:off x="19050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>
              <a:latin typeface="Georgia" pitchFamily="18" charset="0"/>
            </a:endParaRPr>
          </a:p>
        </p:txBody>
      </p:sp>
      <p:sp>
        <p:nvSpPr>
          <p:cNvPr id="20501" name="Oval 20"/>
          <p:cNvSpPr>
            <a:spLocks noChangeArrowheads="1"/>
          </p:cNvSpPr>
          <p:nvPr/>
        </p:nvSpPr>
        <p:spPr bwMode="auto">
          <a:xfrm>
            <a:off x="2133600" y="3581400"/>
            <a:ext cx="6858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>
              <a:latin typeface="Georgia" pitchFamily="18" charset="0"/>
            </a:endParaRPr>
          </a:p>
        </p:txBody>
      </p:sp>
      <p:sp>
        <p:nvSpPr>
          <p:cNvPr id="20502" name="Text Box 21"/>
          <p:cNvSpPr txBox="1">
            <a:spLocks noChangeArrowheads="1"/>
          </p:cNvSpPr>
          <p:nvPr/>
        </p:nvSpPr>
        <p:spPr bwMode="auto">
          <a:xfrm>
            <a:off x="1892310" y="4371292"/>
            <a:ext cx="755633" cy="279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 eaLnBrk="0" hangingPunct="0"/>
            <a:r>
              <a:rPr lang="en-US" sz="1200">
                <a:latin typeface="Georgia" pitchFamily="18" charset="0"/>
              </a:rPr>
              <a:t>Memory</a:t>
            </a:r>
            <a:endParaRPr lang="en-US" sz="1600">
              <a:latin typeface="Georgia" pitchFamily="18" charset="0"/>
            </a:endParaRPr>
          </a:p>
        </p:txBody>
      </p:sp>
      <p:sp>
        <p:nvSpPr>
          <p:cNvPr id="20503" name="Text Box 22"/>
          <p:cNvSpPr txBox="1">
            <a:spLocks noChangeArrowheads="1"/>
          </p:cNvSpPr>
          <p:nvPr/>
        </p:nvSpPr>
        <p:spPr bwMode="auto">
          <a:xfrm>
            <a:off x="2138775" y="3806677"/>
            <a:ext cx="672277" cy="463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 eaLnBrk="0" hangingPunct="0"/>
            <a:r>
              <a:rPr lang="en-US" sz="1200">
                <a:latin typeface="Georgia" pitchFamily="18" charset="0"/>
              </a:rPr>
              <a:t>System</a:t>
            </a:r>
          </a:p>
          <a:p>
            <a:pPr algn="ctr" eaLnBrk="0" hangingPunct="0"/>
            <a:r>
              <a:rPr lang="en-US" sz="1200">
                <a:latin typeface="Georgia" pitchFamily="18" charset="0"/>
              </a:rPr>
              <a:t>Bus</a:t>
            </a:r>
          </a:p>
        </p:txBody>
      </p:sp>
      <p:sp>
        <p:nvSpPr>
          <p:cNvPr id="20504" name="Text Box 23"/>
          <p:cNvSpPr txBox="1">
            <a:spLocks noChangeArrowheads="1"/>
          </p:cNvSpPr>
          <p:nvPr/>
        </p:nvSpPr>
        <p:spPr bwMode="auto">
          <a:xfrm>
            <a:off x="7444870" y="2315043"/>
            <a:ext cx="697925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 eaLnBrk="0" hangingPunct="0"/>
            <a:r>
              <a:rPr lang="en-US" sz="2000">
                <a:latin typeface="Georgia" pitchFamily="18" charset="0"/>
              </a:rPr>
              <a:t>CPU</a:t>
            </a:r>
            <a:endParaRPr lang="en-US" sz="1600">
              <a:latin typeface="Georgia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What is a Bus?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1920081" y="2514600"/>
            <a:ext cx="8504238" cy="1600200"/>
          </a:xfrm>
        </p:spPr>
        <p:txBody>
          <a:bodyPr>
            <a:normAutofit fontScale="92500" lnSpcReduction="20000"/>
          </a:bodyPr>
          <a:lstStyle/>
          <a:p>
            <a:pPr algn="just" eaLnBrk="1" hangingPunct="1"/>
            <a:r>
              <a:rPr lang="en-GB" dirty="0"/>
              <a:t>A communication pathway connecting two or more devices</a:t>
            </a:r>
          </a:p>
          <a:p>
            <a:pPr algn="just" eaLnBrk="1" hangingPunct="1"/>
            <a:r>
              <a:rPr lang="en-GB" dirty="0"/>
              <a:t>Often grouped</a:t>
            </a:r>
          </a:p>
          <a:p>
            <a:pPr lvl="1" algn="just" eaLnBrk="1" hangingPunct="1"/>
            <a:r>
              <a:rPr lang="en-GB" dirty="0">
                <a:solidFill>
                  <a:schemeClr val="tx1"/>
                </a:solidFill>
              </a:rPr>
              <a:t>A number of channels in one bus</a:t>
            </a:r>
          </a:p>
          <a:p>
            <a:pPr lvl="1" algn="just" eaLnBrk="1" hangingPunct="1"/>
            <a:r>
              <a:rPr lang="en-GB" dirty="0">
                <a:solidFill>
                  <a:schemeClr val="tx1"/>
                </a:solidFill>
              </a:rPr>
              <a:t>e.g. 32 bit data bus is 32 separate single bit channels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A6C819-E8BA-4EF0-BF75-4A2E8F65057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286000" y="4659312"/>
            <a:ext cx="1828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CPU</a:t>
            </a:r>
          </a:p>
        </p:txBody>
      </p:sp>
      <p:sp>
        <p:nvSpPr>
          <p:cNvPr id="7" name="Rectangle 6"/>
          <p:cNvSpPr/>
          <p:nvPr/>
        </p:nvSpPr>
        <p:spPr>
          <a:xfrm>
            <a:off x="5105400" y="4659312"/>
            <a:ext cx="1828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Memory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7696200" y="4659312"/>
            <a:ext cx="1828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I/O</a:t>
            </a:r>
          </a:p>
        </p:txBody>
      </p:sp>
      <p:sp>
        <p:nvSpPr>
          <p:cNvPr id="9" name="U-Turn Arrow 8"/>
          <p:cNvSpPr/>
          <p:nvPr/>
        </p:nvSpPr>
        <p:spPr>
          <a:xfrm>
            <a:off x="3124200" y="4278312"/>
            <a:ext cx="5562600" cy="381000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Down Arrow 9"/>
          <p:cNvSpPr/>
          <p:nvPr/>
        </p:nvSpPr>
        <p:spPr>
          <a:xfrm>
            <a:off x="5943600" y="4354512"/>
            <a:ext cx="228600" cy="304800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TextBox 13"/>
          <p:cNvSpPr txBox="1">
            <a:spLocks noChangeArrowheads="1"/>
          </p:cNvSpPr>
          <p:nvPr/>
        </p:nvSpPr>
        <p:spPr bwMode="auto">
          <a:xfrm>
            <a:off x="4610100" y="4360068"/>
            <a:ext cx="1447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/>
              <a:t>Address Bus</a:t>
            </a:r>
          </a:p>
        </p:txBody>
      </p:sp>
      <p:sp>
        <p:nvSpPr>
          <p:cNvPr id="12" name="Bent-Up Arrow 11"/>
          <p:cNvSpPr/>
          <p:nvPr/>
        </p:nvSpPr>
        <p:spPr>
          <a:xfrm>
            <a:off x="6019800" y="5573712"/>
            <a:ext cx="2667000" cy="45720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Bent-Up Arrow 12"/>
          <p:cNvSpPr/>
          <p:nvPr/>
        </p:nvSpPr>
        <p:spPr>
          <a:xfrm>
            <a:off x="3276600" y="5573712"/>
            <a:ext cx="2819400" cy="45720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Up Arrow 13"/>
          <p:cNvSpPr/>
          <p:nvPr/>
        </p:nvSpPr>
        <p:spPr>
          <a:xfrm>
            <a:off x="3200400" y="5573712"/>
            <a:ext cx="228600" cy="4572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TextBox 17"/>
          <p:cNvSpPr txBox="1">
            <a:spLocks noChangeArrowheads="1"/>
          </p:cNvSpPr>
          <p:nvPr/>
        </p:nvSpPr>
        <p:spPr bwMode="auto">
          <a:xfrm>
            <a:off x="4038600" y="5497512"/>
            <a:ext cx="2590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/>
              <a:t>Control Bus</a:t>
            </a:r>
          </a:p>
        </p:txBody>
      </p:sp>
      <p:sp>
        <p:nvSpPr>
          <p:cNvPr id="16" name="TextBox 19"/>
          <p:cNvSpPr txBox="1">
            <a:spLocks noChangeArrowheads="1"/>
          </p:cNvSpPr>
          <p:nvPr/>
        </p:nvSpPr>
        <p:spPr bwMode="auto">
          <a:xfrm>
            <a:off x="9128919" y="4321968"/>
            <a:ext cx="2590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/>
              <a:t>Data Bus</a:t>
            </a:r>
          </a:p>
        </p:txBody>
      </p:sp>
      <p:sp>
        <p:nvSpPr>
          <p:cNvPr id="17" name="Bent-Up Arrow 16"/>
          <p:cNvSpPr/>
          <p:nvPr/>
        </p:nvSpPr>
        <p:spPr>
          <a:xfrm>
            <a:off x="6248400" y="5649912"/>
            <a:ext cx="3124200" cy="685800"/>
          </a:xfrm>
          <a:prstGeom prst="bentUp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" name="Up Arrow 17"/>
          <p:cNvSpPr/>
          <p:nvPr/>
        </p:nvSpPr>
        <p:spPr>
          <a:xfrm>
            <a:off x="6172200" y="5573712"/>
            <a:ext cx="304800" cy="762000"/>
          </a:xfrm>
          <a:prstGeom prst="up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Bent-Up Arrow 18"/>
          <p:cNvSpPr/>
          <p:nvPr/>
        </p:nvSpPr>
        <p:spPr>
          <a:xfrm flipH="1">
            <a:off x="3429000" y="5573712"/>
            <a:ext cx="2819400" cy="762000"/>
          </a:xfrm>
          <a:prstGeom prst="bentUp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Data Bus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1981201" y="3032448"/>
            <a:ext cx="8348663" cy="2911151"/>
          </a:xfrm>
        </p:spPr>
        <p:txBody>
          <a:bodyPr>
            <a:normAutofit lnSpcReduction="10000"/>
          </a:bodyPr>
          <a:lstStyle/>
          <a:p>
            <a:pPr algn="just" eaLnBrk="1" hangingPunct="1"/>
            <a:r>
              <a:rPr lang="en-GB" dirty="0"/>
              <a:t>Carries data</a:t>
            </a:r>
          </a:p>
          <a:p>
            <a:pPr lvl="1" algn="just" eaLnBrk="1" hangingPunct="1"/>
            <a:r>
              <a:rPr lang="en-GB" dirty="0"/>
              <a:t>Remember that there is no difference between “data” and “instruction” at this level</a:t>
            </a:r>
          </a:p>
          <a:p>
            <a:pPr algn="just" eaLnBrk="1" hangingPunct="1"/>
            <a:r>
              <a:rPr lang="en-GB" dirty="0"/>
              <a:t>Width is a key determinant of performance</a:t>
            </a:r>
          </a:p>
          <a:p>
            <a:pPr lvl="1" algn="just" eaLnBrk="1" hangingPunct="1"/>
            <a:r>
              <a:rPr lang="en-GB" dirty="0"/>
              <a:t>8, 16, 32, 64 bit</a:t>
            </a:r>
          </a:p>
          <a:p>
            <a:pPr lvl="1" algn="just" eaLnBrk="1" hangingPunct="1"/>
            <a:endParaRPr lang="en-GB" dirty="0"/>
          </a:p>
          <a:p>
            <a:pPr marL="457200" lvl="1" indent="0" algn="just" eaLnBrk="1" hangingPunct="1">
              <a:buNone/>
            </a:pPr>
            <a:r>
              <a:rPr lang="en-GB" b="1" dirty="0"/>
              <a:t>Bidirectional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E033F8-D481-4993-90C6-652B72240145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Address bus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1843881" y="3004457"/>
            <a:ext cx="8504238" cy="2771192"/>
          </a:xfrm>
        </p:spPr>
        <p:txBody>
          <a:bodyPr/>
          <a:lstStyle/>
          <a:p>
            <a:pPr algn="just" eaLnBrk="1" hangingPunct="1"/>
            <a:r>
              <a:rPr lang="en-GB" dirty="0"/>
              <a:t>Identify the source or destination of data</a:t>
            </a:r>
          </a:p>
          <a:p>
            <a:pPr lvl="1" algn="just"/>
            <a:r>
              <a:rPr lang="en-GB" dirty="0"/>
              <a:t>e.g. CPU needs to read an instruction (data) from a given location in memory</a:t>
            </a:r>
          </a:p>
          <a:p>
            <a:pPr algn="just" eaLnBrk="1" hangingPunct="1"/>
            <a:r>
              <a:rPr lang="en-GB" dirty="0"/>
              <a:t>Bus width determines maximum memory capacity of system</a:t>
            </a:r>
          </a:p>
          <a:p>
            <a:pPr lvl="1" algn="just" eaLnBrk="1" hangingPunct="1"/>
            <a:r>
              <a:rPr lang="en-GB" dirty="0">
                <a:solidFill>
                  <a:schemeClr val="tx1"/>
                </a:solidFill>
              </a:rPr>
              <a:t>e.g. 8080 has 16 bit address bus giving 64k address space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A6A412-DE7F-4EF0-92A1-4A3587358DC5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/>
              <a:t>Control Bus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2743200"/>
            <a:ext cx="8382000" cy="3200400"/>
          </a:xfrm>
        </p:spPr>
        <p:txBody>
          <a:bodyPr/>
          <a:lstStyle/>
          <a:p>
            <a:pPr algn="just" eaLnBrk="1" hangingPunct="1"/>
            <a:r>
              <a:rPr lang="en-GB" dirty="0"/>
              <a:t>Control and timing information</a:t>
            </a:r>
          </a:p>
          <a:p>
            <a:pPr lvl="1" algn="just" eaLnBrk="1" hangingPunct="1"/>
            <a:r>
              <a:rPr lang="en-GB" dirty="0"/>
              <a:t>Memory read/write signal</a:t>
            </a:r>
          </a:p>
          <a:p>
            <a:pPr lvl="1" algn="just" eaLnBrk="1" hangingPunct="1"/>
            <a:r>
              <a:rPr lang="en-GB" dirty="0"/>
              <a:t>Interrupt request</a:t>
            </a:r>
          </a:p>
          <a:p>
            <a:pPr lvl="1" algn="just" eaLnBrk="1" hangingPunct="1"/>
            <a:r>
              <a:rPr lang="en-GB" dirty="0"/>
              <a:t>Timing signals</a:t>
            </a:r>
          </a:p>
          <a:p>
            <a:pPr lvl="1" algn="just" eaLnBrk="1" hangingPunct="1"/>
            <a:endParaRPr lang="en-GB" dirty="0"/>
          </a:p>
          <a:p>
            <a:pPr algn="just" eaLnBrk="1" hangingPunct="1"/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57F68D-9C35-45A3-8258-BC575845D140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Programming Languages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1981200" y="2687216"/>
            <a:ext cx="8229600" cy="3469110"/>
          </a:xfrm>
        </p:spPr>
        <p:txBody>
          <a:bodyPr/>
          <a:lstStyle/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High-Level Languages (HLL)</a:t>
            </a:r>
          </a:p>
          <a:p>
            <a:pPr eaLnBrk="1" hangingPunct="1"/>
            <a:r>
              <a:rPr lang="en-US" dirty="0"/>
              <a:t>Assembly Language</a:t>
            </a:r>
          </a:p>
          <a:p>
            <a:pPr eaLnBrk="1" hangingPunct="1"/>
            <a:r>
              <a:rPr lang="en-US" dirty="0"/>
              <a:t>Machine Language</a:t>
            </a:r>
          </a:p>
          <a:p>
            <a:pPr eaLnBrk="1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4B7BE5-61A2-4D54-8300-208B4A8CC1E8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High-Level Language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>
          <a:xfrm>
            <a:off x="1981200" y="2873829"/>
            <a:ext cx="8229600" cy="3282497"/>
          </a:xfrm>
        </p:spPr>
        <p:txBody>
          <a:bodyPr/>
          <a:lstStyle/>
          <a:p>
            <a:pPr algn="just" eaLnBrk="1" hangingPunct="1"/>
            <a:r>
              <a:rPr lang="en-US" sz="2400" dirty="0"/>
              <a:t>Allow programmers to write programs that look more like natural language.</a:t>
            </a:r>
          </a:p>
          <a:p>
            <a:pPr algn="just" eaLnBrk="1" hangingPunct="1"/>
            <a:r>
              <a:rPr lang="en-US" sz="2400" dirty="0"/>
              <a:t>Examples: C++, Java, C#, .NET etc</a:t>
            </a:r>
          </a:p>
          <a:p>
            <a:pPr algn="just" eaLnBrk="1" hangingPunct="1"/>
            <a:r>
              <a:rPr lang="en-US" sz="2400" dirty="0"/>
              <a:t>A program called </a:t>
            </a:r>
            <a:r>
              <a:rPr lang="en-US" sz="2400" b="1" dirty="0"/>
              <a:t>Compiler </a:t>
            </a:r>
            <a:r>
              <a:rPr lang="en-US" sz="2400" dirty="0"/>
              <a:t>is needed to translate a high-level language program into machine code.</a:t>
            </a:r>
          </a:p>
          <a:p>
            <a:pPr algn="just" eaLnBrk="1" hangingPunct="1"/>
            <a:r>
              <a:rPr lang="en-US" sz="2400" dirty="0"/>
              <a:t>Each statement usually translates into multiple machine language instructions.</a:t>
            </a:r>
          </a:p>
          <a:p>
            <a:pPr algn="just" eaLnBrk="1" hangingPunct="1"/>
            <a:endParaRPr lang="en-US" sz="2400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879A91-313A-46C1-ACC7-31C45F2E3BC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Machine Language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xfrm>
            <a:off x="1082352" y="2668555"/>
            <a:ext cx="10030408" cy="3487771"/>
          </a:xfrm>
        </p:spPr>
        <p:txBody>
          <a:bodyPr>
            <a:noAutofit/>
          </a:bodyPr>
          <a:lstStyle/>
          <a:p>
            <a:pPr algn="just" eaLnBrk="1" hangingPunct="1"/>
            <a:r>
              <a:rPr lang="en-US" sz="1800" dirty="0"/>
              <a:t>The "native" language of the computer</a:t>
            </a:r>
          </a:p>
          <a:p>
            <a:pPr algn="just" eaLnBrk="1" hangingPunct="1"/>
            <a:r>
              <a:rPr lang="en-US" sz="1800" dirty="0"/>
              <a:t>Numeric instructions and operands that can be stored in memory and are directly executed by computer system.  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sz="1800" dirty="0"/>
              <a:t>Each ML instruction contains an </a:t>
            </a:r>
            <a:r>
              <a:rPr lang="en-US" sz="1800" i="1" dirty="0"/>
              <a:t>op code</a:t>
            </a:r>
            <a:r>
              <a:rPr lang="en-US" sz="1800" dirty="0"/>
              <a:t> (operation code) and zero or more operands. 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sz="1800" dirty="0"/>
              <a:t>Examples:</a:t>
            </a:r>
          </a:p>
          <a:p>
            <a:pPr eaLnBrk="1" hangingPunct="1"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60000"/>
              </a:lnSpc>
              <a:buNone/>
            </a:pPr>
            <a:r>
              <a:rPr lang="en-US" sz="1800" b="1" dirty="0"/>
              <a:t>Opcode	Operand		Meaning</a:t>
            </a:r>
          </a:p>
          <a:p>
            <a:pPr>
              <a:lnSpc>
                <a:spcPct val="60000"/>
              </a:lnSpc>
              <a:buNone/>
            </a:pPr>
            <a:r>
              <a:rPr lang="en-US" sz="1800" b="1" dirty="0"/>
              <a:t>-------------------------------------------------</a:t>
            </a:r>
          </a:p>
          <a:p>
            <a:pPr>
              <a:lnSpc>
                <a:spcPct val="90000"/>
              </a:lnSpc>
              <a:buNone/>
            </a:pPr>
            <a:r>
              <a:rPr lang="en-US" sz="1800" b="1" dirty="0"/>
              <a:t>40				increment the AX register</a:t>
            </a:r>
          </a:p>
          <a:p>
            <a:pPr>
              <a:lnSpc>
                <a:spcPct val="90000"/>
              </a:lnSpc>
              <a:buNone/>
            </a:pPr>
            <a:r>
              <a:rPr lang="en-US" sz="1800" b="1" dirty="0"/>
              <a:t>05		0005	      add 0005 to AX</a:t>
            </a:r>
          </a:p>
          <a:p>
            <a:pPr algn="just" eaLnBrk="1" hangingPunct="1"/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631F28-4713-4C03-BD52-8C17FF8779A4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Assembly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3567" y="2771192"/>
            <a:ext cx="9479902" cy="3385134"/>
          </a:xfrm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sz="2000" dirty="0"/>
              <a:t>Use instruction mnemonics that have one-to-one correspondence with machine language.</a:t>
            </a:r>
          </a:p>
          <a:p>
            <a:pPr marL="274320" indent="-274320" algn="just">
              <a:buFont typeface="Wingdings 3"/>
              <a:buChar char=""/>
              <a:defRPr/>
            </a:pPr>
            <a:r>
              <a:rPr lang="en-US" sz="2000" dirty="0"/>
              <a:t>An </a:t>
            </a:r>
            <a:r>
              <a:rPr lang="en-US" sz="2000" b="1" i="1" dirty="0"/>
              <a:t>instruction</a:t>
            </a:r>
            <a:r>
              <a:rPr lang="en-US" sz="2000" dirty="0"/>
              <a:t> is a symbolic representation of a single machine instruction</a:t>
            </a:r>
          </a:p>
          <a:p>
            <a:pPr marL="274320" indent="-274320">
              <a:buFont typeface="Wingdings 3"/>
              <a:buChar char=""/>
              <a:defRPr/>
            </a:pPr>
            <a:r>
              <a:rPr lang="en-US" sz="2000" dirty="0"/>
              <a:t>Consists of:</a:t>
            </a:r>
          </a:p>
          <a:p>
            <a:pPr marL="548640" lvl="1" indent="-274320">
              <a:buFont typeface="Wingdings 3"/>
              <a:buChar char=""/>
              <a:defRPr/>
            </a:pPr>
            <a:r>
              <a:rPr lang="en-US" dirty="0"/>
              <a:t>label		always optional</a:t>
            </a:r>
          </a:p>
          <a:p>
            <a:pPr marL="548640" lvl="1" indent="-274320">
              <a:buFont typeface="Wingdings 3"/>
              <a:buChar char=""/>
              <a:defRPr/>
            </a:pPr>
            <a:r>
              <a:rPr lang="en-US" dirty="0"/>
              <a:t>mnemonic	always required</a:t>
            </a:r>
          </a:p>
          <a:p>
            <a:pPr marL="548640" lvl="1" indent="-274320">
              <a:buFont typeface="Wingdings 3"/>
              <a:buChar char=""/>
              <a:defRPr/>
            </a:pPr>
            <a:r>
              <a:rPr lang="en-US" dirty="0"/>
              <a:t>operand(s)	required by some instructions</a:t>
            </a:r>
          </a:p>
          <a:p>
            <a:pPr marL="548640" lvl="1" indent="-274320">
              <a:buFont typeface="Wingdings 3"/>
              <a:buChar char=""/>
              <a:defRPr/>
            </a:pPr>
            <a:r>
              <a:rPr lang="en-US" dirty="0"/>
              <a:t>comment	always optional</a:t>
            </a:r>
          </a:p>
          <a:p>
            <a:pPr eaLnBrk="1" hangingPunct="1">
              <a:buFont typeface="Wingdings 3" pitchFamily="18" charset="2"/>
              <a:buNone/>
              <a:defRPr/>
            </a:pPr>
            <a:endParaRPr lang="en-US" sz="2000" dirty="0"/>
          </a:p>
          <a:p>
            <a:pPr eaLnBrk="1" hangingPunct="1">
              <a:defRPr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70F8EF-E6A5-4E76-9ED8-9F88AB740535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 cstate="print"/>
          <a:srcRect b="14375"/>
          <a:stretch/>
        </p:blipFill>
        <p:spPr bwMode="auto">
          <a:xfrm>
            <a:off x="2446175" y="2337118"/>
            <a:ext cx="7467600" cy="30013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15" name="Rectangle 3"/>
          <p:cNvSpPr>
            <a:spLocks noChangeArrowheads="1"/>
          </p:cNvSpPr>
          <p:nvPr/>
        </p:nvSpPr>
        <p:spPr bwMode="auto">
          <a:xfrm>
            <a:off x="2228461" y="1519535"/>
            <a:ext cx="26308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 dirty="0">
                <a:latin typeface="Gill Sans MT"/>
              </a:rPr>
              <a:t>Sample Program</a:t>
            </a:r>
            <a:endParaRPr lang="en-US" sz="2400" b="1" dirty="0">
              <a:latin typeface="Times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634536-EBE2-4660-A655-C172BA83E4D0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US" sz="2400" dirty="0"/>
              <a:t>Brain of Computer; controls all operations</a:t>
            </a:r>
          </a:p>
          <a:p>
            <a:pPr lvl="1" algn="just"/>
            <a:r>
              <a:rPr lang="en-US" sz="2100" dirty="0"/>
              <a:t>Uses Memory Circuits to store information</a:t>
            </a:r>
          </a:p>
          <a:p>
            <a:pPr lvl="1" algn="just"/>
            <a:r>
              <a:rPr lang="en-US" sz="2100" dirty="0"/>
              <a:t>Uses I/O Circuits to communicate with I/O Devices</a:t>
            </a:r>
          </a:p>
          <a:p>
            <a:pPr algn="just"/>
            <a:r>
              <a:rPr lang="en-US" sz="2400" dirty="0"/>
              <a:t>Executes programs stored in memory</a:t>
            </a:r>
          </a:p>
          <a:p>
            <a:pPr lvl="1" algn="just"/>
            <a:r>
              <a:rPr lang="en-US" sz="2100" dirty="0"/>
              <a:t>System programs</a:t>
            </a:r>
          </a:p>
          <a:p>
            <a:pPr lvl="1" algn="just"/>
            <a:r>
              <a:rPr lang="en-US" sz="2100" dirty="0"/>
              <a:t>Application programs</a:t>
            </a:r>
          </a:p>
          <a:p>
            <a:pPr algn="just"/>
            <a:r>
              <a:rPr lang="en-US" sz="2400" b="1" dirty="0"/>
              <a:t>Instruction Set: </a:t>
            </a:r>
            <a:r>
              <a:rPr lang="en-US" sz="2400" dirty="0"/>
              <a:t>Instructions performed by CPU</a:t>
            </a:r>
            <a:endParaRPr lang="en-US" sz="2400" b="1" dirty="0"/>
          </a:p>
          <a:p>
            <a:pPr algn="just"/>
            <a:r>
              <a:rPr lang="en-US" sz="2400" dirty="0"/>
              <a:t>Two main components:</a:t>
            </a:r>
          </a:p>
          <a:p>
            <a:pPr lvl="1" algn="just"/>
            <a:r>
              <a:rPr lang="en-US" sz="2400" dirty="0"/>
              <a:t>Execution Unit (EU)</a:t>
            </a:r>
          </a:p>
          <a:p>
            <a:pPr lvl="1" algn="just"/>
            <a:r>
              <a:rPr lang="en-US" sz="2400" dirty="0"/>
              <a:t>Bus Interface Unit (BIU)</a:t>
            </a:r>
          </a:p>
          <a:p>
            <a:pPr algn="just"/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128AB-9B09-72D1-3042-FDFA1704D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 8086 Microprocessor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78F9E-BA4D-81D8-464F-5EB09197A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Introduced in 1978</a:t>
            </a:r>
          </a:p>
          <a:p>
            <a:r>
              <a:rPr lang="en-US" dirty="0"/>
              <a:t>One of the first 16-bit microprocessors. </a:t>
            </a:r>
          </a:p>
          <a:p>
            <a:r>
              <a:rPr lang="en-US" dirty="0"/>
              <a:t>It laid the foundation for the x86 architecture, which remains prevalent today.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0669798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Unit (EU)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sz="2400" dirty="0"/>
              <a:t>Purpose: Execute instructions</a:t>
            </a:r>
          </a:p>
          <a:p>
            <a:pPr algn="just"/>
            <a:r>
              <a:rPr lang="en-US" sz="2400" dirty="0"/>
              <a:t>Contains ALU (Arithmetic &amp; Logic Unit)</a:t>
            </a:r>
          </a:p>
          <a:p>
            <a:pPr lvl="1" algn="just"/>
            <a:r>
              <a:rPr lang="en-US" dirty="0"/>
              <a:t>To perform arithmetic (+, -, x,/) and logic (AND, OR, NOT) operations.</a:t>
            </a:r>
          </a:p>
          <a:p>
            <a:pPr algn="just"/>
            <a:r>
              <a:rPr lang="en-US" sz="2400" dirty="0"/>
              <a:t>The data for the operations are stored in circuits called </a:t>
            </a:r>
            <a:r>
              <a:rPr lang="en-US" sz="2400" b="1" dirty="0"/>
              <a:t>Registers</a:t>
            </a:r>
            <a:r>
              <a:rPr lang="en-US" sz="2400" dirty="0"/>
              <a:t>.</a:t>
            </a:r>
          </a:p>
          <a:p>
            <a:pPr algn="just"/>
            <a:r>
              <a:rPr lang="en-US" sz="2400" dirty="0"/>
              <a:t>A register is like a memory location except that it is referred by a name not a number (address).</a:t>
            </a:r>
          </a:p>
          <a:p>
            <a:pPr algn="just"/>
            <a:r>
              <a:rPr lang="en-US" sz="2400" dirty="0"/>
              <a:t>EU uses registers for:</a:t>
            </a:r>
          </a:p>
          <a:p>
            <a:pPr lvl="1" algn="just"/>
            <a:r>
              <a:rPr lang="en-US" sz="2100" dirty="0"/>
              <a:t>Storing data.</a:t>
            </a:r>
          </a:p>
          <a:p>
            <a:pPr lvl="1" algn="just"/>
            <a:r>
              <a:rPr lang="en-US" sz="2100" dirty="0"/>
              <a:t>Holding operands for ALU</a:t>
            </a:r>
          </a:p>
          <a:p>
            <a:pPr lvl="1" algn="just"/>
            <a:r>
              <a:rPr lang="en-US" sz="2100" dirty="0"/>
              <a:t>To reflect result of a computation – FLAG register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 Interface Unit (BIU)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Facilitates communication between the EU and the memory or I/O circuits.</a:t>
            </a:r>
          </a:p>
          <a:p>
            <a:pPr algn="just"/>
            <a:r>
              <a:rPr lang="en-US" sz="2400" dirty="0"/>
              <a:t>Responsible for transmitting address, data and control signals on the buses.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77826" name="Picture 2" descr="http://2.bp.blogspot.com/-gt-jg8d2EzE/Tgd4weJWxsI/AAAAAAAAAKM/308fOZ6-gLA/s640/01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52700" y="718457"/>
            <a:ext cx="6963089" cy="5500412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3810000" y="64008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Intel 8086 Microprocessor Organization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5" name="Picture 1027"/>
          <p:cNvPicPr>
            <a:picLocks noChangeAspect="1" noChangeArrowheads="1"/>
          </p:cNvPicPr>
          <p:nvPr/>
        </p:nvPicPr>
        <p:blipFill>
          <a:blip r:embed="rId2" cstate="print"/>
          <a:srcRect r="25533"/>
          <a:stretch>
            <a:fillRect/>
          </a:stretch>
        </p:blipFill>
        <p:spPr bwMode="auto">
          <a:xfrm>
            <a:off x="5744547" y="2981077"/>
            <a:ext cx="5334000" cy="130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6" name="Text Box 1028"/>
          <p:cNvSpPr txBox="1">
            <a:spLocks noChangeArrowheads="1"/>
          </p:cNvSpPr>
          <p:nvPr/>
        </p:nvSpPr>
        <p:spPr bwMode="auto">
          <a:xfrm>
            <a:off x="1981200" y="2667000"/>
            <a:ext cx="54864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  <a:buFont typeface="Wingdings" pitchFamily="2" charset="2"/>
              <a:buChar char="q"/>
            </a:pPr>
            <a:r>
              <a:rPr lang="en-US" sz="2400" dirty="0"/>
              <a:t> Each 1 or 0 is called a </a:t>
            </a:r>
            <a:r>
              <a:rPr lang="en-US" sz="2400" i="1" dirty="0"/>
              <a:t>bit</a:t>
            </a:r>
            <a:r>
              <a:rPr lang="en-US" sz="2400" dirty="0"/>
              <a:t>.</a:t>
            </a:r>
          </a:p>
          <a:p>
            <a:pPr algn="just">
              <a:spcBef>
                <a:spcPct val="50000"/>
              </a:spcBef>
              <a:buFont typeface="Wingdings" pitchFamily="2" charset="2"/>
              <a:buChar char="q"/>
            </a:pPr>
            <a:r>
              <a:rPr lang="en-US" sz="2400" dirty="0"/>
              <a:t> Group of 8 bits = </a:t>
            </a:r>
            <a:r>
              <a:rPr lang="en-US" sz="2400" b="1" dirty="0"/>
              <a:t>B</a:t>
            </a:r>
            <a:r>
              <a:rPr lang="en-US" sz="2400" dirty="0"/>
              <a:t>yte</a:t>
            </a:r>
          </a:p>
          <a:p>
            <a:pPr algn="just">
              <a:spcBef>
                <a:spcPct val="50000"/>
              </a:spcBef>
              <a:buFont typeface="Wingdings" pitchFamily="2" charset="2"/>
              <a:buChar char="q"/>
            </a:pPr>
            <a:r>
              <a:rPr lang="en-US" sz="2400" dirty="0"/>
              <a:t> Group of 16 bits = </a:t>
            </a:r>
            <a:r>
              <a:rPr lang="en-US" sz="2400" b="1" dirty="0"/>
              <a:t>W</a:t>
            </a:r>
            <a:r>
              <a:rPr lang="en-US" sz="2400" dirty="0"/>
              <a:t>ord</a:t>
            </a:r>
          </a:p>
          <a:p>
            <a:pPr algn="just">
              <a:spcBef>
                <a:spcPct val="50000"/>
              </a:spcBef>
              <a:buFont typeface="Wingdings" pitchFamily="2" charset="2"/>
              <a:buChar char="q"/>
            </a:pPr>
            <a:r>
              <a:rPr lang="en-US" sz="2400" dirty="0"/>
              <a:t> Group of 32 bits = </a:t>
            </a:r>
            <a:r>
              <a:rPr lang="en-US" sz="2400" b="1" dirty="0"/>
              <a:t>D</a:t>
            </a:r>
            <a:r>
              <a:rPr lang="en-US" sz="2400" dirty="0"/>
              <a:t>ouble words</a:t>
            </a:r>
          </a:p>
          <a:p>
            <a:pPr algn="just">
              <a:spcBef>
                <a:spcPct val="50000"/>
              </a:spcBef>
              <a:buFont typeface="Wingdings" pitchFamily="2" charset="2"/>
              <a:buChar char="q"/>
            </a:pPr>
            <a:endParaRPr lang="en-US" sz="2400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Bits, Bytes and Double words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Registers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1981200" y="2621902"/>
            <a:ext cx="8382000" cy="3534424"/>
          </a:xfrm>
        </p:spPr>
        <p:txBody>
          <a:bodyPr>
            <a:normAutofit fontScale="92500" lnSpcReduction="20000"/>
          </a:bodyPr>
          <a:lstStyle/>
          <a:p>
            <a:pPr algn="just" eaLnBrk="1" hangingPunct="1"/>
            <a:r>
              <a:rPr lang="en-US" sz="2400" dirty="0">
                <a:cs typeface="Times New Roman" pitchFamily="18" charset="0"/>
              </a:rPr>
              <a:t>Registers are high-speed storage locations inside the microprocessor.</a:t>
            </a:r>
          </a:p>
          <a:p>
            <a:pPr algn="just" eaLnBrk="1" hangingPunct="1"/>
            <a:r>
              <a:rPr lang="en-US" sz="2400" dirty="0">
                <a:cs typeface="Times New Roman" pitchFamily="18" charset="0"/>
              </a:rPr>
              <a:t>Designed to be accessed at much higher speed than conventional memory.</a:t>
            </a:r>
          </a:p>
          <a:p>
            <a:pPr algn="just" eaLnBrk="1" hangingPunct="1"/>
            <a:r>
              <a:rPr lang="en-US" sz="2400" dirty="0">
                <a:cs typeface="Times New Roman" pitchFamily="18" charset="0"/>
              </a:rPr>
              <a:t>Registers are classified according to the functions they perform.</a:t>
            </a:r>
          </a:p>
          <a:p>
            <a:pPr algn="just" eaLnBrk="1" hangingPunct="1"/>
            <a:r>
              <a:rPr lang="en-US" sz="2400" dirty="0">
                <a:cs typeface="Times New Roman" pitchFamily="18" charset="0"/>
              </a:rPr>
              <a:t>General Types of Registers:</a:t>
            </a:r>
          </a:p>
          <a:p>
            <a:pPr lvl="1" algn="just" eaLnBrk="1" hangingPunct="1"/>
            <a:r>
              <a:rPr lang="en-US" sz="2000" b="1" dirty="0">
                <a:cs typeface="Times New Roman" pitchFamily="18" charset="0"/>
              </a:rPr>
              <a:t>Data Registers</a:t>
            </a:r>
            <a:r>
              <a:rPr lang="en-US" sz="2000" dirty="0">
                <a:cs typeface="Times New Roman" pitchFamily="18" charset="0"/>
              </a:rPr>
              <a:t>:  To hold data for an operation. </a:t>
            </a:r>
          </a:p>
          <a:p>
            <a:pPr lvl="1" algn="just" eaLnBrk="1" hangingPunct="1"/>
            <a:r>
              <a:rPr lang="en-US" sz="2000" b="1" dirty="0">
                <a:cs typeface="Times New Roman" pitchFamily="18" charset="0"/>
              </a:rPr>
              <a:t>Address Registers</a:t>
            </a:r>
            <a:r>
              <a:rPr lang="en-US" sz="2000" dirty="0">
                <a:cs typeface="Times New Roman" pitchFamily="18" charset="0"/>
              </a:rPr>
              <a:t>: To hold the address of an instruction or data.</a:t>
            </a:r>
          </a:p>
          <a:p>
            <a:pPr lvl="1" algn="just" eaLnBrk="1" hangingPunct="1"/>
            <a:r>
              <a:rPr lang="en-US" sz="2000" b="1" dirty="0">
                <a:cs typeface="Times New Roman" pitchFamily="18" charset="0"/>
              </a:rPr>
              <a:t>Status/Flag Register</a:t>
            </a:r>
            <a:r>
              <a:rPr lang="en-US" sz="2000" dirty="0">
                <a:cs typeface="Times New Roman" pitchFamily="18" charset="0"/>
              </a:rPr>
              <a:t>: keeps the current status of the processor or result of an arithmetic operation.</a:t>
            </a:r>
          </a:p>
          <a:p>
            <a:pPr algn="just" eaLnBrk="1" hangingPunct="1"/>
            <a:endParaRPr lang="en-US" sz="2000" dirty="0">
              <a:cs typeface="Times New Roman" pitchFamily="18" charset="0"/>
            </a:endParaRPr>
          </a:p>
          <a:p>
            <a:pPr lvl="2" eaLnBrk="1" hangingPunct="1">
              <a:buFontTx/>
              <a:buNone/>
            </a:pPr>
            <a:endParaRPr lang="en-US" sz="1600" dirty="0">
              <a:cs typeface="Times New Roman" pitchFamily="18" charset="0"/>
            </a:endParaRPr>
          </a:p>
          <a:p>
            <a:pPr eaLnBrk="1" hangingPunct="1"/>
            <a:endParaRPr lang="en-US" dirty="0"/>
          </a:p>
        </p:txBody>
      </p:sp>
      <p:sp>
        <p:nvSpPr>
          <p:cNvPr id="307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D4E6AA-047B-44C6-99EA-8532B279CCE9}" type="slidenum">
              <a:rPr lang="en-US" smtClean="0">
                <a:latin typeface="Arial" pitchFamily="34" charset="0"/>
              </a:rPr>
              <a:pPr>
                <a:defRPr/>
              </a:pPr>
              <a:t>28</a:t>
            </a:fld>
            <a:endParaRPr lang="en-US"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8312E6-8E68-4A9D-9CB1-42445363EAD2}" type="slidenum">
              <a:rPr lang="en-US" altLang="en-US" smtClean="0">
                <a:latin typeface="Arial" pitchFamily="34" charset="0"/>
              </a:rPr>
              <a:pPr>
                <a:defRPr/>
              </a:pPr>
              <a:t>29</a:t>
            </a:fld>
            <a:endParaRPr lang="en-US" altLang="en-US">
              <a:latin typeface="Arial" pitchFamily="34" charset="0"/>
            </a:endParaRPr>
          </a:p>
        </p:txBody>
      </p:sp>
      <p:sp>
        <p:nvSpPr>
          <p:cNvPr id="21507" name="Rectangle 4"/>
          <p:cNvSpPr>
            <a:spLocks noGrp="1" noChangeArrowheads="1"/>
          </p:cNvSpPr>
          <p:nvPr>
            <p:ph type="title"/>
          </p:nvPr>
        </p:nvSpPr>
        <p:spPr>
          <a:xfrm>
            <a:off x="-279919" y="647993"/>
            <a:ext cx="7620000" cy="457200"/>
          </a:xfrm>
          <a:noFill/>
        </p:spPr>
        <p:txBody>
          <a:bodyPr/>
          <a:lstStyle/>
          <a:p>
            <a:pPr eaLnBrk="1" hangingPunct="1"/>
            <a:r>
              <a:rPr lang="en-US" sz="2400" b="1" dirty="0"/>
              <a:t>8086 Internal registers 16 bits (2 bytes each)</a:t>
            </a:r>
          </a:p>
        </p:txBody>
      </p:sp>
      <p:pic>
        <p:nvPicPr>
          <p:cNvPr id="21508" name="Picture 5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1054358"/>
            <a:ext cx="4413250" cy="5194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3495" name="Rectangle 7"/>
          <p:cNvSpPr>
            <a:spLocks noChangeArrowheads="1"/>
          </p:cNvSpPr>
          <p:nvPr/>
        </p:nvSpPr>
        <p:spPr bwMode="auto">
          <a:xfrm>
            <a:off x="6477000" y="838200"/>
            <a:ext cx="3962400" cy="1371600"/>
          </a:xfrm>
          <a:prstGeom prst="rect">
            <a:avLst/>
          </a:prstGeom>
          <a:solidFill>
            <a:srgbClr val="B9D1D0"/>
          </a:solidFill>
          <a:ln w="12699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 dirty="0">
              <a:cs typeface="Arial" pitchFamily="34" charset="0"/>
            </a:endParaRPr>
          </a:p>
        </p:txBody>
      </p:sp>
      <p:sp>
        <p:nvSpPr>
          <p:cNvPr id="63496" name="Rectangle 8"/>
          <p:cNvSpPr>
            <a:spLocks noChangeArrowheads="1"/>
          </p:cNvSpPr>
          <p:nvPr/>
        </p:nvSpPr>
        <p:spPr bwMode="auto">
          <a:xfrm>
            <a:off x="6575425" y="966789"/>
            <a:ext cx="3765550" cy="1266825"/>
          </a:xfrm>
          <a:prstGeom prst="rect">
            <a:avLst/>
          </a:prstGeom>
          <a:solidFill>
            <a:srgbClr val="B9D1D0"/>
          </a:solidFill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US" sz="2400" dirty="0">
                <a:latin typeface="Times New Roman" pitchFamily="18" charset="0"/>
              </a:rPr>
              <a:t>AX, BX, CX and DX are two</a:t>
            </a:r>
          </a:p>
          <a:p>
            <a:pPr algn="ctr" eaLnBrk="0" hangingPunct="0"/>
            <a:r>
              <a:rPr lang="en-US" sz="2400" dirty="0">
                <a:latin typeface="Times New Roman" pitchFamily="18" charset="0"/>
              </a:rPr>
              <a:t>bytes wide and each byte can </a:t>
            </a:r>
          </a:p>
          <a:p>
            <a:pPr algn="ctr" eaLnBrk="0" hangingPunct="0"/>
            <a:r>
              <a:rPr lang="en-US" sz="2400" dirty="0">
                <a:latin typeface="Times New Roman" pitchFamily="18" charset="0"/>
              </a:rPr>
              <a:t>be accessed separately</a:t>
            </a:r>
          </a:p>
        </p:txBody>
      </p:sp>
      <p:sp>
        <p:nvSpPr>
          <p:cNvPr id="63497" name="Rectangle 9"/>
          <p:cNvSpPr>
            <a:spLocks noChangeArrowheads="1"/>
          </p:cNvSpPr>
          <p:nvPr/>
        </p:nvSpPr>
        <p:spPr bwMode="auto">
          <a:xfrm>
            <a:off x="6477000" y="2362200"/>
            <a:ext cx="3962400" cy="1371600"/>
          </a:xfrm>
          <a:prstGeom prst="rect">
            <a:avLst/>
          </a:prstGeom>
          <a:solidFill>
            <a:srgbClr val="B9D1D0"/>
          </a:solidFill>
          <a:ln w="12699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 dirty="0">
              <a:cs typeface="Arial" pitchFamily="34" charset="0"/>
            </a:endParaRPr>
          </a:p>
        </p:txBody>
      </p:sp>
      <p:sp>
        <p:nvSpPr>
          <p:cNvPr id="63498" name="Rectangle 10"/>
          <p:cNvSpPr>
            <a:spLocks noChangeArrowheads="1"/>
          </p:cNvSpPr>
          <p:nvPr/>
        </p:nvSpPr>
        <p:spPr bwMode="auto">
          <a:xfrm>
            <a:off x="6575425" y="2490789"/>
            <a:ext cx="3765550" cy="1266825"/>
          </a:xfrm>
          <a:prstGeom prst="rect">
            <a:avLst/>
          </a:prstGeom>
          <a:solidFill>
            <a:srgbClr val="B9D1D0"/>
          </a:solidFill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US" sz="2400" dirty="0">
                <a:latin typeface="Times New Roman" pitchFamily="18" charset="0"/>
              </a:rPr>
              <a:t>These registers are used as </a:t>
            </a:r>
          </a:p>
          <a:p>
            <a:pPr algn="ctr" eaLnBrk="0" hangingPunct="0"/>
            <a:r>
              <a:rPr lang="en-US" sz="2400" dirty="0">
                <a:latin typeface="Times New Roman" pitchFamily="18" charset="0"/>
              </a:rPr>
              <a:t>memory </a:t>
            </a:r>
            <a:r>
              <a:rPr lang="en-US" sz="2400" i="1" u="sng" dirty="0">
                <a:solidFill>
                  <a:srgbClr val="FF0000"/>
                </a:solidFill>
                <a:latin typeface="Times New Roman" pitchFamily="18" charset="0"/>
              </a:rPr>
              <a:t>pointers</a:t>
            </a:r>
            <a:r>
              <a:rPr lang="en-US" sz="2400" dirty="0">
                <a:latin typeface="Times New Roman" pitchFamily="18" charset="0"/>
              </a:rPr>
              <a:t>.</a:t>
            </a:r>
          </a:p>
        </p:txBody>
      </p:sp>
      <p:sp>
        <p:nvSpPr>
          <p:cNvPr id="63501" name="Rectangle 13"/>
          <p:cNvSpPr>
            <a:spLocks noChangeArrowheads="1"/>
          </p:cNvSpPr>
          <p:nvPr/>
        </p:nvSpPr>
        <p:spPr bwMode="auto">
          <a:xfrm>
            <a:off x="6477000" y="4876800"/>
            <a:ext cx="3962400" cy="1371600"/>
          </a:xfrm>
          <a:prstGeom prst="rect">
            <a:avLst/>
          </a:prstGeom>
          <a:solidFill>
            <a:srgbClr val="B9D1D0"/>
          </a:solidFill>
          <a:ln w="12699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 dirty="0">
              <a:cs typeface="Arial" pitchFamily="34" charset="0"/>
            </a:endParaRPr>
          </a:p>
        </p:txBody>
      </p:sp>
      <p:sp>
        <p:nvSpPr>
          <p:cNvPr id="63502" name="Rectangle 14"/>
          <p:cNvSpPr>
            <a:spLocks noChangeArrowheads="1"/>
          </p:cNvSpPr>
          <p:nvPr/>
        </p:nvSpPr>
        <p:spPr bwMode="auto">
          <a:xfrm>
            <a:off x="6575425" y="5105400"/>
            <a:ext cx="3765550" cy="1143000"/>
          </a:xfrm>
          <a:prstGeom prst="rect">
            <a:avLst/>
          </a:prstGeom>
          <a:solidFill>
            <a:srgbClr val="B9D1D0"/>
          </a:solidFill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US" sz="2400">
                <a:latin typeface="Times New Roman" pitchFamily="18" charset="0"/>
              </a:rPr>
              <a:t>Segment registers are used</a:t>
            </a:r>
          </a:p>
          <a:p>
            <a:pPr algn="ctr" eaLnBrk="0" hangingPunct="0"/>
            <a:r>
              <a:rPr lang="en-US" sz="2400">
                <a:latin typeface="Times New Roman" pitchFamily="18" charset="0"/>
              </a:rPr>
              <a:t>as base address for a segment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6400800" y="4038600"/>
            <a:ext cx="4038600" cy="609600"/>
            <a:chOff x="3072" y="2496"/>
            <a:chExt cx="2544" cy="384"/>
          </a:xfrm>
        </p:grpSpPr>
        <p:sp>
          <p:nvSpPr>
            <p:cNvPr id="63499" name="Rectangle 11"/>
            <p:cNvSpPr>
              <a:spLocks noChangeArrowheads="1"/>
            </p:cNvSpPr>
            <p:nvPr/>
          </p:nvSpPr>
          <p:spPr bwMode="auto">
            <a:xfrm>
              <a:off x="3120" y="2496"/>
              <a:ext cx="2496" cy="384"/>
            </a:xfrm>
            <a:prstGeom prst="rect">
              <a:avLst/>
            </a:prstGeom>
            <a:solidFill>
              <a:srgbClr val="FFFF99"/>
            </a:solidFill>
            <a:ln w="12699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pitchFamily="34" charset="0"/>
              </a:endParaRPr>
            </a:p>
          </p:txBody>
        </p:sp>
        <p:grpSp>
          <p:nvGrpSpPr>
            <p:cNvPr id="3" name="Group 16"/>
            <p:cNvGrpSpPr>
              <a:grpSpLocks/>
            </p:cNvGrpSpPr>
            <p:nvPr/>
          </p:nvGrpSpPr>
          <p:grpSpPr bwMode="auto">
            <a:xfrm>
              <a:off x="3072" y="2544"/>
              <a:ext cx="2496" cy="318"/>
              <a:chOff x="3072" y="2544"/>
              <a:chExt cx="2496" cy="318"/>
            </a:xfrm>
          </p:grpSpPr>
          <p:sp>
            <p:nvSpPr>
              <p:cNvPr id="21518" name="Rectangle 12"/>
              <p:cNvSpPr>
                <a:spLocks noChangeArrowheads="1"/>
              </p:cNvSpPr>
              <p:nvPr/>
            </p:nvSpPr>
            <p:spPr bwMode="auto">
              <a:xfrm>
                <a:off x="3182" y="2544"/>
                <a:ext cx="2372" cy="3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algn="ctr" eaLnBrk="0" hangingPunct="0"/>
                <a:endParaRPr lang="en-US"/>
              </a:p>
            </p:txBody>
          </p:sp>
          <p:sp>
            <p:nvSpPr>
              <p:cNvPr id="21519" name="Text Box 15"/>
              <p:cNvSpPr txBox="1">
                <a:spLocks noChangeArrowheads="1"/>
              </p:cNvSpPr>
              <p:nvPr/>
            </p:nvSpPr>
            <p:spPr bwMode="auto">
              <a:xfrm>
                <a:off x="3072" y="2544"/>
                <a:ext cx="249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400" b="1">
                    <a:latin typeface="Times New Roman" pitchFamily="18" charset="0"/>
                  </a:rPr>
                  <a:t>6 status; 3 control ; 7 unused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3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3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3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3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3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3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3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3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5" grpId="0" animBg="1"/>
      <p:bldP spid="63496" grpId="0" animBg="1" autoUpdateAnimBg="0"/>
      <p:bldP spid="63497" grpId="0" animBg="1"/>
      <p:bldP spid="63498" grpId="0" animBg="1" autoUpdateAnimBg="0"/>
      <p:bldP spid="63501" grpId="0" animBg="1"/>
      <p:bldP spid="63502" grpId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749490" y="1430694"/>
            <a:ext cx="8001000" cy="838200"/>
          </a:xfrm>
          <a:noFill/>
        </p:spPr>
        <p:txBody>
          <a:bodyPr/>
          <a:lstStyle/>
          <a:p>
            <a:pPr eaLnBrk="1" hangingPunct="1"/>
            <a:r>
              <a:rPr lang="en-US" dirty="0"/>
              <a:t>General Purpose/Data Registers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62538" y="2472613"/>
            <a:ext cx="8001000" cy="5029200"/>
          </a:xfrm>
          <a:noFill/>
        </p:spPr>
        <p:txBody>
          <a:bodyPr/>
          <a:lstStyle/>
          <a:p>
            <a:pPr algn="just">
              <a:spcAft>
                <a:spcPts val="400"/>
              </a:spcAft>
            </a:pPr>
            <a:r>
              <a:rPr lang="en-US" sz="2000" dirty="0"/>
              <a:t>Following four registers are available to the programmer for general data manipulation:</a:t>
            </a:r>
          </a:p>
          <a:p>
            <a:pPr algn="just">
              <a:spcAft>
                <a:spcPts val="400"/>
              </a:spcAft>
            </a:pPr>
            <a:r>
              <a:rPr lang="en-US" sz="2000" b="1" dirty="0"/>
              <a:t>AX (Accumulator):</a:t>
            </a:r>
            <a:r>
              <a:rPr lang="en-US" sz="2000" dirty="0"/>
              <a:t> Used in arithmetic, logic and data transfer instructions. Also required in multiplication, division and input/output operations. </a:t>
            </a:r>
          </a:p>
          <a:p>
            <a:pPr algn="just">
              <a:spcAft>
                <a:spcPts val="400"/>
              </a:spcAft>
            </a:pPr>
            <a:r>
              <a:rPr lang="en-US" sz="2000" b="1" dirty="0"/>
              <a:t>BX (Base): </a:t>
            </a:r>
            <a:r>
              <a:rPr lang="en-US" sz="2000" dirty="0"/>
              <a:t>It can hold a memory address that points to a variable. </a:t>
            </a:r>
          </a:p>
          <a:p>
            <a:pPr algn="just">
              <a:spcAft>
                <a:spcPts val="400"/>
              </a:spcAft>
            </a:pPr>
            <a:r>
              <a:rPr lang="en-US" sz="2000" b="1" dirty="0"/>
              <a:t>CX (Counter): </a:t>
            </a:r>
            <a:r>
              <a:rPr lang="en-US" sz="2000" dirty="0"/>
              <a:t>Act as a counter for repeating or looping instructions. These instructions automatically repeat and decrement CX and quit when equals to 0.</a:t>
            </a:r>
          </a:p>
          <a:p>
            <a:pPr algn="just">
              <a:spcAft>
                <a:spcPts val="400"/>
              </a:spcAft>
            </a:pPr>
            <a:r>
              <a:rPr lang="en-US" sz="2000" b="1" dirty="0"/>
              <a:t>DX (Data): </a:t>
            </a:r>
            <a:r>
              <a:rPr lang="en-US" sz="2000" dirty="0"/>
              <a:t>It has a special role in multiply and divide operations. Also used in input/output operations. 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4E77E9-38EE-44C6-A195-AD254EE5C6A5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2016967" y="1536441"/>
            <a:ext cx="8001000" cy="685800"/>
          </a:xfrm>
          <a:noFill/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Segment Registers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2575248"/>
            <a:ext cx="8001000" cy="3786673"/>
          </a:xfrm>
          <a:noFill/>
        </p:spPr>
        <p:txBody>
          <a:bodyPr/>
          <a:lstStyle/>
          <a:p>
            <a:pPr algn="just" eaLnBrk="1" hangingPunct="1"/>
            <a:r>
              <a:rPr lang="en-US" sz="2000" dirty="0"/>
              <a:t>Store addresses of instruction and data in memory.</a:t>
            </a:r>
          </a:p>
          <a:p>
            <a:pPr algn="just" eaLnBrk="1" hangingPunct="1"/>
            <a:r>
              <a:rPr lang="en-US" sz="2000" dirty="0"/>
              <a:t>These values are used by the processor to access memory locations.</a:t>
            </a:r>
          </a:p>
          <a:p>
            <a:pPr algn="just" eaLnBrk="1" hangingPunct="1"/>
            <a:r>
              <a:rPr lang="en-US" sz="2000" b="1" dirty="0"/>
              <a:t>CS (Code)</a:t>
            </a:r>
            <a:r>
              <a:rPr lang="en-US" sz="2000" dirty="0"/>
              <a:t>: Defines the starting address of the section of memory holding code.</a:t>
            </a:r>
          </a:p>
          <a:p>
            <a:pPr algn="just" eaLnBrk="1" hangingPunct="1"/>
            <a:r>
              <a:rPr lang="en-US" sz="2000" b="1" dirty="0"/>
              <a:t>DS (Data)</a:t>
            </a:r>
            <a:r>
              <a:rPr lang="en-US" sz="2000" dirty="0"/>
              <a:t>: Defines the section of memory that holds most of the data used by programs.</a:t>
            </a:r>
          </a:p>
          <a:p>
            <a:pPr algn="just" eaLnBrk="1" hangingPunct="1"/>
            <a:r>
              <a:rPr lang="en-US" sz="2000" b="1" dirty="0"/>
              <a:t>ES (Extra)</a:t>
            </a:r>
            <a:r>
              <a:rPr lang="en-US" sz="2000" dirty="0"/>
              <a:t>: This is an additional data segment that is used by some of the string instructions.</a:t>
            </a:r>
          </a:p>
          <a:p>
            <a:pPr algn="just" eaLnBrk="1" hangingPunct="1"/>
            <a:r>
              <a:rPr lang="en-US" sz="2000" b="1" dirty="0"/>
              <a:t>SS (Stack</a:t>
            </a:r>
            <a:r>
              <a:rPr lang="en-US" sz="2000" dirty="0"/>
              <a:t>): It defines the area of the memory used for stack</a:t>
            </a:r>
          </a:p>
          <a:p>
            <a:pPr algn="just" eaLnBrk="1" hangingPunct="1">
              <a:buFontTx/>
              <a:buNone/>
            </a:pPr>
            <a:endParaRPr lang="en-US" sz="2000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B56F99-E1BB-4119-95C2-190D2B48B3A7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2095500" y="1499118"/>
            <a:ext cx="8001000" cy="762000"/>
          </a:xfrm>
          <a:noFill/>
        </p:spPr>
        <p:txBody>
          <a:bodyPr/>
          <a:lstStyle/>
          <a:p>
            <a:pPr eaLnBrk="1" hangingPunct="1"/>
            <a:r>
              <a:rPr lang="en-US" dirty="0"/>
              <a:t>Pointers and Index Registers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7400" y="2565918"/>
            <a:ext cx="8001000" cy="3682482"/>
          </a:xfrm>
          <a:noFill/>
        </p:spPr>
        <p:txBody>
          <a:bodyPr>
            <a:normAutofit lnSpcReduction="10000"/>
          </a:bodyPr>
          <a:lstStyle/>
          <a:p>
            <a:pPr algn="just" eaLnBrk="1" hangingPunct="1"/>
            <a:r>
              <a:rPr lang="en-US" sz="2000" b="1" dirty="0"/>
              <a:t>IP - instruction pointer</a:t>
            </a:r>
            <a:r>
              <a:rPr lang="en-US" sz="2000" dirty="0"/>
              <a:t>: Always points to next instruction to be executed. IP register always works together with CS segment register.</a:t>
            </a:r>
          </a:p>
          <a:p>
            <a:pPr algn="just" eaLnBrk="1" hangingPunct="1"/>
            <a:r>
              <a:rPr lang="en-US" sz="2000" b="1" dirty="0"/>
              <a:t>SI - source index register</a:t>
            </a:r>
            <a:r>
              <a:rPr lang="en-US" sz="2000" dirty="0"/>
              <a:t>: Can be used for pointer addressing of data. Works together with DS segment register.</a:t>
            </a:r>
          </a:p>
          <a:p>
            <a:pPr algn="just" eaLnBrk="1" hangingPunct="1"/>
            <a:r>
              <a:rPr lang="en-US" sz="2000" b="1" dirty="0"/>
              <a:t>DI - destination index register</a:t>
            </a:r>
            <a:r>
              <a:rPr lang="en-US" sz="2000" dirty="0"/>
              <a:t>: Can be used for pointer addressing of data. Works together with ES segment register. </a:t>
            </a:r>
          </a:p>
          <a:p>
            <a:pPr algn="just" eaLnBrk="1" hangingPunct="1"/>
            <a:r>
              <a:rPr lang="en-US" sz="2000" b="1" dirty="0"/>
              <a:t>BP - base pointer</a:t>
            </a:r>
            <a:r>
              <a:rPr lang="en-US" sz="2000" dirty="0"/>
              <a:t>: Primarily used to access parameters passed via the stack. Works together with SS segment register. </a:t>
            </a:r>
          </a:p>
          <a:p>
            <a:pPr algn="just" eaLnBrk="1" hangingPunct="1"/>
            <a:r>
              <a:rPr lang="en-US" sz="2000" b="1" dirty="0"/>
              <a:t>SP – stack pointer</a:t>
            </a:r>
            <a:r>
              <a:rPr lang="en-US" sz="2000" dirty="0"/>
              <a:t>: Always points to top item on the stack. Works together with SS segment register.</a:t>
            </a:r>
          </a:p>
          <a:p>
            <a:pPr algn="just" eaLnBrk="1" hangingPunct="1"/>
            <a:endParaRPr lang="en-US" sz="2000" dirty="0"/>
          </a:p>
          <a:p>
            <a:pPr algn="just" eaLnBrk="1" hangingPunct="1"/>
            <a:endParaRPr lang="en-US" sz="2000" dirty="0"/>
          </a:p>
          <a:p>
            <a:pPr algn="just" eaLnBrk="1" hangingPunct="1"/>
            <a:endParaRPr lang="en-US" sz="2000" dirty="0"/>
          </a:p>
          <a:p>
            <a:pPr algn="just" eaLnBrk="1" hangingPunct="1"/>
            <a:endParaRPr lang="en-US" sz="2000" dirty="0"/>
          </a:p>
          <a:p>
            <a:pPr eaLnBrk="1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B22DA3-40DE-4E27-A308-E127EE82DD5B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C2856-6339-F282-A2AF-9A9B5E8CA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8616521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103</TotalTime>
  <Words>1471</Words>
  <Application>Microsoft Office PowerPoint</Application>
  <PresentationFormat>Widescreen</PresentationFormat>
  <Paragraphs>267</Paragraphs>
  <Slides>33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Arial</vt:lpstr>
      <vt:lpstr>Calibri</vt:lpstr>
      <vt:lpstr>Garamond</vt:lpstr>
      <vt:lpstr>Georgia</vt:lpstr>
      <vt:lpstr>Gill Sans MT</vt:lpstr>
      <vt:lpstr>Times</vt:lpstr>
      <vt:lpstr>Times New Roman</vt:lpstr>
      <vt:lpstr>Wingdings</vt:lpstr>
      <vt:lpstr>Wingdings 3</vt:lpstr>
      <vt:lpstr>Organic</vt:lpstr>
      <vt:lpstr>Computer Organization &amp; Assembly Language</vt:lpstr>
      <vt:lpstr>Outline</vt:lpstr>
      <vt:lpstr>Course Objectives</vt:lpstr>
      <vt:lpstr>Course Contents</vt:lpstr>
      <vt:lpstr>Real World Applications</vt:lpstr>
      <vt:lpstr>Why Assembly Language?</vt:lpstr>
      <vt:lpstr>Structure</vt:lpstr>
      <vt:lpstr>Difference in Peripherals &amp; Communication Lines </vt:lpstr>
      <vt:lpstr>Computer Architecture</vt:lpstr>
      <vt:lpstr>Computer Architecture</vt:lpstr>
      <vt:lpstr>Structure - Top Level</vt:lpstr>
      <vt:lpstr>Structure - The CPU</vt:lpstr>
      <vt:lpstr>What is a Bus?</vt:lpstr>
      <vt:lpstr>Data Bus</vt:lpstr>
      <vt:lpstr>Address bus</vt:lpstr>
      <vt:lpstr>Control Bus</vt:lpstr>
      <vt:lpstr>Programming Languages</vt:lpstr>
      <vt:lpstr>High-Level Language</vt:lpstr>
      <vt:lpstr>Machine Language</vt:lpstr>
      <vt:lpstr>Assembly Language</vt:lpstr>
      <vt:lpstr>PowerPoint Presentation</vt:lpstr>
      <vt:lpstr>CPU</vt:lpstr>
      <vt:lpstr>Intel 8086 Microprocessor</vt:lpstr>
      <vt:lpstr>Execution Unit (EU)</vt:lpstr>
      <vt:lpstr>Bus Interface Unit (BIU)</vt:lpstr>
      <vt:lpstr>PowerPoint Presentation</vt:lpstr>
      <vt:lpstr>Bits, Bytes and Double words</vt:lpstr>
      <vt:lpstr>Registers</vt:lpstr>
      <vt:lpstr>8086 Internal registers 16 bits (2 bytes each)</vt:lpstr>
      <vt:lpstr>General Purpose/Data Registers</vt:lpstr>
      <vt:lpstr>Segment Registers</vt:lpstr>
      <vt:lpstr>Pointers and Index Registers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Organization &amp; Assembly Language</dc:title>
  <dc:creator>Ihtisham ul haq</dc:creator>
  <cp:lastModifiedBy>Sehar Ali</cp:lastModifiedBy>
  <cp:revision>18</cp:revision>
  <dcterms:created xsi:type="dcterms:W3CDTF">2023-10-17T17:30:28Z</dcterms:created>
  <dcterms:modified xsi:type="dcterms:W3CDTF">2025-09-28T09:50:27Z</dcterms:modified>
</cp:coreProperties>
</file>