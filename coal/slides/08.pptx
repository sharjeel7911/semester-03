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0"/>
  </p:notesMasterIdLst>
  <p:sldIdLst>
    <p:sldId id="256" r:id="rId2"/>
    <p:sldId id="257" r:id="rId3"/>
    <p:sldId id="262" r:id="rId4"/>
    <p:sldId id="258" r:id="rId5"/>
    <p:sldId id="259" r:id="rId6"/>
    <p:sldId id="426" r:id="rId7"/>
    <p:sldId id="427" r:id="rId8"/>
    <p:sldId id="428" r:id="rId9"/>
    <p:sldId id="431" r:id="rId10"/>
    <p:sldId id="432" r:id="rId11"/>
    <p:sldId id="433" r:id="rId12"/>
    <p:sldId id="434" r:id="rId13"/>
    <p:sldId id="260" r:id="rId14"/>
    <p:sldId id="261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-125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47DE1D3-2E49-8C9B-D824-DF256D10A4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82681DC-D870-40E8-8F46-DC4F48AFD5E0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0D4D7CD-D2A7-A75A-39C3-DEE80C00C4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FDEEAE9-84EE-322F-B9A1-430F087F0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1685804-38E1-FC3B-5490-73F7F662F0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D5B3C15-F4C9-473D-B044-A47E6439D2EE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D79D116-B2C2-8BC2-C8F5-81437DDBA2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8275006-35B8-481B-A043-68ADECB5B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DE34286-4333-8564-694E-F8A742394C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5E3FD3-443A-4607-A5B5-3B43483A261E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22C6BFD-34DD-930B-F2F5-D1A347A75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E311C202-9485-B9D9-89A0-6C619DC84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 </a:t>
            </a:r>
            <a:r>
              <a:rPr lang="en-US" b="1" dirty="0"/>
              <a:t>21h</a:t>
            </a:r>
            <a:r>
              <a:rPr lang="en-US" dirty="0"/>
              <a:t> = interrupt number </a:t>
            </a:r>
            <a:r>
              <a:rPr lang="en-US" b="1" dirty="0"/>
              <a:t>21h</a:t>
            </a:r>
            <a:r>
              <a:rPr lang="en-US" dirty="0"/>
              <a:t> (hex) = </a:t>
            </a:r>
            <a:r>
              <a:rPr lang="en-US" b="1" dirty="0"/>
              <a:t>33</a:t>
            </a:r>
            <a:r>
              <a:rPr lang="en-US" dirty="0"/>
              <a:t> (decimal).</a:t>
            </a:r>
          </a:p>
          <a:p>
            <a:r>
              <a:rPr lang="en-US" dirty="0"/>
              <a:t>IVT entry address = </a:t>
            </a:r>
            <a:r>
              <a:rPr lang="en-US" b="1" dirty="0" err="1"/>
              <a:t>interrupt_number</a:t>
            </a:r>
            <a:r>
              <a:rPr lang="en-US" b="1" dirty="0"/>
              <a:t> × 4</a:t>
            </a:r>
            <a:endParaRPr lang="en-US" dirty="0"/>
          </a:p>
          <a:p>
            <a:r>
              <a:rPr lang="en-US" dirty="0"/>
              <a:t>So:</a:t>
            </a:r>
          </a:p>
          <a:p>
            <a:r>
              <a:rPr lang="en-US" dirty="0"/>
              <a:t>21h → 33</a:t>
            </a:r>
          </a:p>
          <a:p>
            <a:r>
              <a:rPr lang="en-US" dirty="0"/>
              <a:t>33 × 4 = </a:t>
            </a:r>
            <a:r>
              <a:rPr lang="en-US" b="1" dirty="0"/>
              <a:t>132 decimal</a:t>
            </a:r>
            <a:r>
              <a:rPr lang="en-US" dirty="0"/>
              <a:t> = </a:t>
            </a:r>
            <a:r>
              <a:rPr lang="en-US" b="1" dirty="0"/>
              <a:t>84h</a:t>
            </a:r>
            <a:endParaRPr lang="en-US" dirty="0"/>
          </a:p>
          <a:p>
            <a:r>
              <a:rPr lang="en-US" dirty="0"/>
              <a:t>✔ </a:t>
            </a:r>
            <a:r>
              <a:rPr lang="en-US" b="1" dirty="0"/>
              <a:t>Physical address of INT 21h’s IVT entry = 0000:0084h (physical address 0x00084)</a:t>
            </a:r>
            <a:endParaRPr lang="en-US" dirty="0"/>
          </a:p>
          <a:p>
            <a:r>
              <a:rPr lang="en-US" dirty="0"/>
              <a:t>That location holds the 4-byte pointer (</a:t>
            </a:r>
            <a:r>
              <a:rPr lang="en-US" dirty="0" err="1"/>
              <a:t>offset:segment</a:t>
            </a:r>
            <a:r>
              <a:rPr lang="en-US" dirty="0"/>
              <a:t>) of the INT 21h handler.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14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Msg </a:t>
            </a:r>
            <a:r>
              <a:rPr lang="en-US" dirty="0" err="1"/>
              <a:t>db</a:t>
            </a:r>
            <a:r>
              <a:rPr lang="en-US" dirty="0"/>
              <a:t> "Hello$"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Mov ah,0x9 ;display string on screen</a:t>
            </a:r>
          </a:p>
          <a:p>
            <a:r>
              <a:rPr lang="en-US" dirty="0"/>
              <a:t>Mov </a:t>
            </a:r>
            <a:r>
              <a:rPr lang="en-US" dirty="0" err="1"/>
              <a:t>dx,offset</a:t>
            </a:r>
            <a:r>
              <a:rPr lang="en-US" dirty="0"/>
              <a:t> msg</a:t>
            </a:r>
          </a:p>
          <a:p>
            <a:r>
              <a:rPr lang="en-US" dirty="0"/>
              <a:t>Int 0x21 </a:t>
            </a:r>
          </a:p>
          <a:p>
            <a:r>
              <a:rPr lang="en-US" dirty="0"/>
              <a:t>Mov ah,0x4c ;terminating program </a:t>
            </a:r>
          </a:p>
          <a:p>
            <a:r>
              <a:rPr lang="en-US" dirty="0"/>
              <a:t>Int 0x21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65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n </a:t>
            </a:r>
            <a:r>
              <a:rPr lang="en-US" dirty="0" err="1"/>
              <a:t>db</a:t>
            </a:r>
            <a:r>
              <a:rPr lang="en-US" dirty="0"/>
              <a:t> ?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mov ah,0x1 ; read character from keyboard</a:t>
            </a:r>
          </a:p>
          <a:p>
            <a:r>
              <a:rPr lang="en-US" dirty="0"/>
              <a:t>int 0x21</a:t>
            </a:r>
          </a:p>
          <a:p>
            <a:r>
              <a:rPr lang="en-US" dirty="0"/>
              <a:t>sub al,0x30 ; subtract 0x30 from the character to make it a number </a:t>
            </a:r>
          </a:p>
          <a:p>
            <a:r>
              <a:rPr lang="en-US" dirty="0"/>
              <a:t>mov </a:t>
            </a:r>
            <a:r>
              <a:rPr lang="en-US" dirty="0" err="1"/>
              <a:t>n,al</a:t>
            </a:r>
            <a:r>
              <a:rPr lang="en-US" dirty="0"/>
              <a:t> ; store the number to variable</a:t>
            </a:r>
          </a:p>
          <a:p>
            <a:r>
              <a:rPr lang="en-US" dirty="0"/>
              <a:t>mov ah,0x4c</a:t>
            </a:r>
          </a:p>
          <a:p>
            <a:r>
              <a:rPr lang="en-US" dirty="0"/>
              <a:t>int 0x21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5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4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5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03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17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176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09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7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79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0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60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397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04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138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309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810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233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8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5779-4E71-D65A-A3C1-DF1F5FE90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8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140A6-F749-46B8-92BC-389A49A78F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Software Interrupts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7263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39E1-23CE-7DC0-A6FE-D8285F6CC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CB6EA-5795-143F-617A-18B108FC4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Interrupts are mechanisms that allow programs to temporarily stop and transfer control to a special procedure (ISR) for handling specific tasks, such as hardware events or system services.</a:t>
            </a:r>
          </a:p>
          <a:p>
            <a:r>
              <a:rPr lang="en-US" dirty="0"/>
              <a:t>Used for services such as I/O operations, system calls, and other OS-level tasks.</a:t>
            </a:r>
          </a:p>
          <a:p>
            <a:r>
              <a:rPr lang="en-US" dirty="0"/>
              <a:t>Executed using an interrupt instruction, like INT in x86 assembly.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85520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9AAAB-5C2F-81CB-CD6D-9AA32089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Interrupts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6459-9293-6725-688E-3C4184BF5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main types of interrupts:</a:t>
            </a:r>
          </a:p>
          <a:p>
            <a:r>
              <a:rPr lang="en-US" b="1" dirty="0"/>
              <a:t>Hardware Interrupts</a:t>
            </a:r>
            <a:r>
              <a:rPr lang="en-US" dirty="0"/>
              <a:t>: Triggered by hardware devices (e.g., keyboard input, I/O devices).</a:t>
            </a:r>
          </a:p>
          <a:p>
            <a:r>
              <a:rPr lang="en-US" b="1" dirty="0"/>
              <a:t>Software Interrupts</a:t>
            </a:r>
            <a:r>
              <a:rPr lang="en-US" dirty="0"/>
              <a:t>: Triggered by software instructions to request services (e.g., operating system functions).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6490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86BD-498C-FFE2-497D-537859272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vs. Hardware Interrupts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003DCD-0EA7-6C82-34A1-B5342F0D9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1472" y="3041780"/>
            <a:ext cx="8709055" cy="178622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F3DDA2-4B4C-0459-DB3C-265DDCEA2DCE}"/>
              </a:ext>
            </a:extLst>
          </p:cNvPr>
          <p:cNvSpPr txBox="1"/>
          <p:nvPr/>
        </p:nvSpPr>
        <p:spPr>
          <a:xfrm>
            <a:off x="7194142" y="4828005"/>
            <a:ext cx="32563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whenever a key is pressed, the 8086 must be notified to read a key code from the keyboard buffer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F4D2F-7D76-EA27-7B8D-2FA2709012D6}"/>
              </a:ext>
            </a:extLst>
          </p:cNvPr>
          <p:cNvSpPr txBox="1"/>
          <p:nvPr/>
        </p:nvSpPr>
        <p:spPr>
          <a:xfrm>
            <a:off x="3937757" y="4828005"/>
            <a:ext cx="32563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to read a file from disk or a character from the keyboard.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60289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D08AA-76ED-30A8-95F3-39786186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Software Interrupts Work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3E1D-0A58-81BB-5AE8-6B5DB08C0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Execution of INT Instruction</a:t>
            </a:r>
            <a:r>
              <a:rPr lang="en-US" dirty="0"/>
              <a:t>: For example, INT 21h in x86 for DOS services.</a:t>
            </a:r>
          </a:p>
          <a:p>
            <a:r>
              <a:rPr lang="en-US" b="1" dirty="0"/>
              <a:t>Interrupt Vector Table (IVT)</a:t>
            </a:r>
            <a:r>
              <a:rPr lang="en-US" dirty="0"/>
              <a:t>: CPU looks up the ISR (Interrupt Service Routine) address in the IVT.</a:t>
            </a:r>
          </a:p>
          <a:p>
            <a:pPr lvl="1"/>
            <a:r>
              <a:rPr lang="en-US" dirty="0"/>
              <a:t>ISR is a special type of Procedure</a:t>
            </a:r>
          </a:p>
          <a:p>
            <a:r>
              <a:rPr lang="en-US" b="1" dirty="0"/>
              <a:t>Switch to ISR</a:t>
            </a:r>
            <a:r>
              <a:rPr lang="en-US" dirty="0"/>
              <a:t>: Control passes to the specified ISR.</a:t>
            </a:r>
          </a:p>
          <a:p>
            <a:r>
              <a:rPr lang="en-US" b="1" dirty="0"/>
              <a:t>Return to Program</a:t>
            </a:r>
            <a:r>
              <a:rPr lang="en-US" dirty="0"/>
              <a:t>: After ISR execution, control returns to the original program.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2456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86D06651-7A97-D1AC-5705-B023C0BCD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Interrupts – Changing Program Flow</a:t>
            </a:r>
          </a:p>
        </p:txBody>
      </p:sp>
      <p:sp>
        <p:nvSpPr>
          <p:cNvPr id="12291" name="Rectangle 5">
            <a:extLst>
              <a:ext uri="{FF2B5EF4-FFF2-40B4-BE49-F238E27FC236}">
                <a16:creationId xmlns:a16="http://schemas.microsoft.com/office/drawing/2014/main" id="{AAB0B1CE-2EB5-ACBF-27B8-15BDA6DE8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14196" y="2631232"/>
            <a:ext cx="8795042" cy="3312367"/>
          </a:xfrm>
        </p:spPr>
        <p:txBody>
          <a:bodyPr>
            <a:noAutofit/>
          </a:bodyPr>
          <a:lstStyle/>
          <a:p>
            <a:pPr eaLnBrk="1" hangingPunct="1"/>
            <a:r>
              <a:rPr lang="en-GB" altLang="en-US" sz="1800" dirty="0"/>
              <a:t>Mechanism by which other modules (e.g. I/O) may interrupt normal sequence of processing</a:t>
            </a:r>
          </a:p>
          <a:p>
            <a:pPr eaLnBrk="1" hangingPunct="1"/>
            <a:r>
              <a:rPr lang="en-GB" altLang="en-US" sz="1800" dirty="0"/>
              <a:t>Program</a:t>
            </a:r>
          </a:p>
          <a:p>
            <a:pPr lvl="1" eaLnBrk="1" hangingPunct="1"/>
            <a:r>
              <a:rPr lang="en-GB" altLang="en-US" sz="1800" dirty="0">
                <a:solidFill>
                  <a:schemeClr val="tx1"/>
                </a:solidFill>
              </a:rPr>
              <a:t>e.g. overflow, division by zero (Exceptions)</a:t>
            </a:r>
          </a:p>
          <a:p>
            <a:pPr eaLnBrk="1" hangingPunct="1"/>
            <a:r>
              <a:rPr lang="en-GB" altLang="en-US" sz="1800" dirty="0"/>
              <a:t>Timer</a:t>
            </a:r>
          </a:p>
          <a:p>
            <a:pPr lvl="1" eaLnBrk="1" hangingPunct="1"/>
            <a:r>
              <a:rPr lang="en-GB" altLang="en-US" sz="1800" dirty="0">
                <a:solidFill>
                  <a:schemeClr val="tx1"/>
                </a:solidFill>
              </a:rPr>
              <a:t>Generated by internal processor timer</a:t>
            </a:r>
          </a:p>
          <a:p>
            <a:pPr lvl="1" eaLnBrk="1" hangingPunct="1"/>
            <a:r>
              <a:rPr lang="en-GB" altLang="en-US" sz="1800" dirty="0">
                <a:solidFill>
                  <a:schemeClr val="tx1"/>
                </a:solidFill>
              </a:rPr>
              <a:t>Used in Pre-Emptive Multi-Tasking</a:t>
            </a:r>
          </a:p>
          <a:p>
            <a:pPr eaLnBrk="1" hangingPunct="1"/>
            <a:r>
              <a:rPr lang="en-GB" altLang="en-US" sz="1800" dirty="0"/>
              <a:t>I/O</a:t>
            </a:r>
          </a:p>
          <a:p>
            <a:pPr lvl="1" eaLnBrk="1" hangingPunct="1"/>
            <a:r>
              <a:rPr lang="en-GB" altLang="en-US" sz="1800" dirty="0">
                <a:solidFill>
                  <a:schemeClr val="tx1"/>
                </a:solidFill>
              </a:rPr>
              <a:t>From I/O controller</a:t>
            </a:r>
          </a:p>
          <a:p>
            <a:pPr eaLnBrk="1" hangingPunct="1"/>
            <a:r>
              <a:rPr lang="en-GB" altLang="en-US" sz="1800" dirty="0"/>
              <a:t>Hardware failure</a:t>
            </a:r>
            <a:endParaRPr lang="en-GB" altLang="en-US" sz="18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4E9E2-A142-7FAA-D604-A2E319CD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7C0E463-81D6-40D5-BA5B-E12061973357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6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8">
            <a:extLst>
              <a:ext uri="{FF2B5EF4-FFF2-40B4-BE49-F238E27FC236}">
                <a16:creationId xmlns:a16="http://schemas.microsoft.com/office/drawing/2014/main" id="{47EE1BCE-633B-7494-B7AD-5D8CC2157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Interrupt Cycle</a:t>
            </a:r>
          </a:p>
        </p:txBody>
      </p:sp>
      <p:sp>
        <p:nvSpPr>
          <p:cNvPr id="13315" name="Rectangle 1029">
            <a:extLst>
              <a:ext uri="{FF2B5EF4-FFF2-40B4-BE49-F238E27FC236}">
                <a16:creationId xmlns:a16="http://schemas.microsoft.com/office/drawing/2014/main" id="{18DE56A1-09F9-E07D-69D4-8539D2D48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1690" y="2538152"/>
            <a:ext cx="8504238" cy="3178694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1600" dirty="0"/>
              <a:t>Added to instruction cycle</a:t>
            </a:r>
          </a:p>
          <a:p>
            <a:pPr eaLnBrk="1" hangingPunct="1"/>
            <a:r>
              <a:rPr lang="en-US" altLang="en-US" sz="1600" dirty="0"/>
              <a:t>Processor checks for interrupt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Indicated by an interrupt signal</a:t>
            </a:r>
          </a:p>
          <a:p>
            <a:pPr eaLnBrk="1" hangingPunct="1"/>
            <a:r>
              <a:rPr lang="en-US" altLang="en-US" sz="1600" dirty="0"/>
              <a:t>If no interrupt, fetch next instruction</a:t>
            </a:r>
          </a:p>
          <a:p>
            <a:pPr eaLnBrk="1" hangingPunct="1"/>
            <a:r>
              <a:rPr lang="en-US" altLang="en-US" sz="1600" dirty="0"/>
              <a:t>If interrupt pending: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Suspend execution of current program 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Save context in </a:t>
            </a:r>
            <a:r>
              <a:rPr lang="en-US" altLang="en-US" sz="1600" dirty="0">
                <a:solidFill>
                  <a:srgbClr val="FF0000"/>
                </a:solidFill>
              </a:rPr>
              <a:t>stack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Set Program Counter to start address of interrupt handler routine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Process interrupt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Restore context from </a:t>
            </a:r>
            <a:r>
              <a:rPr lang="en-US" altLang="en-US" sz="1600" dirty="0">
                <a:solidFill>
                  <a:srgbClr val="FF0000"/>
                </a:solidFill>
              </a:rPr>
              <a:t>stack </a:t>
            </a:r>
            <a:r>
              <a:rPr lang="en-US" altLang="en-US" sz="1600" dirty="0">
                <a:solidFill>
                  <a:schemeClr val="tx1"/>
                </a:solidFill>
              </a:rPr>
              <a:t>and continue interrupted program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D4A81-8ECD-2318-C273-8120250A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7BF80A0-5932-419E-A179-849279DD30C4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7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7513817-5EE3-B250-5022-530EBDFCA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Transfer of Control via Interrupts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9D613-A31F-6375-1A46-B480E917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7C36EF-FF4E-494B-B419-55EF15AB2492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8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F2E6CF7F-1770-94E8-B85C-083CE8F40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4" t="12746" r="28029" b="35559"/>
          <a:stretch>
            <a:fillRect/>
          </a:stretch>
        </p:blipFill>
        <p:spPr bwMode="auto">
          <a:xfrm>
            <a:off x="3467664" y="2461986"/>
            <a:ext cx="5256672" cy="36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C937B7B1-AF10-430F-5945-2DDDB71EC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 Interrupts</a:t>
            </a:r>
          </a:p>
        </p:txBody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A66A11B7-C223-999E-71AA-3701660E4D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0808" y="2715207"/>
            <a:ext cx="8529055" cy="3383967"/>
          </a:xfrm>
        </p:spPr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en-US" altLang="en-US" dirty="0"/>
              <a:t>Disable interrupts</a:t>
            </a:r>
          </a:p>
          <a:p>
            <a:pPr lvl="1" algn="just" eaLnBrk="1" hangingPunct="1"/>
            <a:r>
              <a:rPr lang="en-US" altLang="en-US" dirty="0">
                <a:solidFill>
                  <a:schemeClr val="tx1"/>
                </a:solidFill>
              </a:rPr>
              <a:t>Processor will ignore further interrupts whilst processing one interrupt</a:t>
            </a:r>
          </a:p>
          <a:p>
            <a:pPr lvl="1" algn="just" eaLnBrk="1" hangingPunct="1"/>
            <a:r>
              <a:rPr lang="en-US" altLang="en-US" dirty="0">
                <a:solidFill>
                  <a:schemeClr val="tx1"/>
                </a:solidFill>
              </a:rPr>
              <a:t>Interrupts remain pending and are checked after first interrupt has been processed</a:t>
            </a:r>
          </a:p>
          <a:p>
            <a:pPr lvl="1" algn="just" eaLnBrk="1" hangingPunct="1"/>
            <a:r>
              <a:rPr lang="en-US" altLang="en-US" dirty="0">
                <a:solidFill>
                  <a:schemeClr val="tx1"/>
                </a:solidFill>
              </a:rPr>
              <a:t>Interrupts handled in sequence as they occur</a:t>
            </a:r>
          </a:p>
          <a:p>
            <a:pPr algn="just" eaLnBrk="1" hangingPunct="1"/>
            <a:r>
              <a:rPr lang="en-US" altLang="en-US" dirty="0"/>
              <a:t>Define priorities</a:t>
            </a:r>
          </a:p>
          <a:p>
            <a:pPr lvl="1" algn="just" eaLnBrk="1" hangingPunct="1"/>
            <a:r>
              <a:rPr lang="en-US" altLang="en-US" dirty="0">
                <a:solidFill>
                  <a:schemeClr val="tx1"/>
                </a:solidFill>
              </a:rPr>
              <a:t>Low priority interrupts can be interrupted by higher priority interrupts</a:t>
            </a:r>
          </a:p>
          <a:p>
            <a:pPr lvl="1" algn="just" eaLnBrk="1" hangingPunct="1"/>
            <a:r>
              <a:rPr lang="en-US" altLang="en-US" dirty="0">
                <a:solidFill>
                  <a:schemeClr val="tx1"/>
                </a:solidFill>
              </a:rPr>
              <a:t>When higher priority interrupt has been processed, processor returns to previous interrupt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3A0F5-AAB0-E845-8C53-589873D1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DE740-8A0E-4355-8F34-1D64D5496238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9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7A4FB-A86B-1D4F-9E5D-B82AFD3DF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Numbers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0C233-BB94-F1C5-5B9E-175F731E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256 interrupts</a:t>
            </a:r>
          </a:p>
          <a:p>
            <a:r>
              <a:rPr lang="en-US" dirty="0"/>
              <a:t>0x00 to 0xFF</a:t>
            </a:r>
          </a:p>
          <a:p>
            <a:pPr lvl="1"/>
            <a:r>
              <a:rPr lang="en-US" dirty="0"/>
              <a:t>0 – 255</a:t>
            </a:r>
          </a:p>
          <a:p>
            <a:r>
              <a:rPr lang="en-US" dirty="0"/>
              <a:t>Not all interrupt numbers are used in the same way or assigned to specific services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53264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DC96-84BD-9BDE-1043-D237276C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Numbers Categories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6C985-530D-24A3-6552-9BA3F1B90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Interrupts 0x00 to 0x1F (0 to 31 in decimal)</a:t>
            </a:r>
          </a:p>
          <a:p>
            <a:pPr lvl="1"/>
            <a:r>
              <a:rPr lang="en-US" dirty="0"/>
              <a:t>Reserved for system-level interrupts (e.g. Int 10h)</a:t>
            </a:r>
          </a:p>
          <a:p>
            <a:r>
              <a:rPr lang="en-US" dirty="0"/>
              <a:t>Interrupts 0x20 to 0x3F (32 to 63 in decimal)</a:t>
            </a:r>
          </a:p>
          <a:p>
            <a:pPr lvl="1"/>
            <a:r>
              <a:rPr lang="en-US" dirty="0"/>
              <a:t>Hardware Interrupts (Int 21h)</a:t>
            </a:r>
          </a:p>
          <a:p>
            <a:r>
              <a:rPr lang="en-US" dirty="0"/>
              <a:t>Interrupts 0x40 to 0x7F (64 to 127 in decimal)</a:t>
            </a:r>
          </a:p>
          <a:p>
            <a:pPr lvl="1"/>
            <a:r>
              <a:rPr lang="en-US" dirty="0"/>
              <a:t>System-level services</a:t>
            </a:r>
          </a:p>
          <a:p>
            <a:r>
              <a:rPr lang="en-US" dirty="0"/>
              <a:t>Interrupts 0x80 to 0xFF (128 to 255 in decimal)</a:t>
            </a:r>
          </a:p>
          <a:p>
            <a:pPr lvl="1"/>
            <a:r>
              <a:rPr lang="en-US" dirty="0"/>
              <a:t>Used for software interrupts (Int 80h for system calls)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2481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FDB29-D9F9-4B54-D69D-1BAE8541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Interrupt Examples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30829-BD64-BE36-746D-3ED736622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 10h</a:t>
            </a:r>
            <a:r>
              <a:rPr lang="en-US" dirty="0"/>
              <a:t>: Video services (BIOS interrupt for screen operations).</a:t>
            </a:r>
          </a:p>
          <a:p>
            <a:r>
              <a:rPr lang="en-US" b="1" dirty="0"/>
              <a:t>INT 16h</a:t>
            </a:r>
            <a:r>
              <a:rPr lang="en-US" dirty="0"/>
              <a:t>: Keyboard services (BIOS interrupt for reading keyboard input).</a:t>
            </a:r>
          </a:p>
          <a:p>
            <a:r>
              <a:rPr lang="en-US" b="1" dirty="0"/>
              <a:t>INT 21h</a:t>
            </a:r>
            <a:r>
              <a:rPr lang="en-US" dirty="0"/>
              <a:t>: DOS services (used for input/output operations, file management, exit program etc.).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87074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6E61-305D-6D01-4AA1-D187C6DB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Vector Table (IVT)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AD2F-FBAB-A651-6B13-15315D216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Structure</a:t>
            </a:r>
            <a:r>
              <a:rPr lang="en-US" dirty="0"/>
              <a:t>: Array of pointers to ISR addresses.</a:t>
            </a:r>
          </a:p>
          <a:p>
            <a:r>
              <a:rPr lang="en-US" b="1" dirty="0"/>
              <a:t>Location</a:t>
            </a:r>
            <a:r>
              <a:rPr lang="en-US" dirty="0"/>
              <a:t>: Typically, in low memory (e.g., 0000:0000 in x86).</a:t>
            </a:r>
          </a:p>
          <a:p>
            <a:pPr lvl="1"/>
            <a:r>
              <a:rPr lang="en-US" dirty="0"/>
              <a:t>IVT resides in memory at physical address 0x00000</a:t>
            </a:r>
          </a:p>
          <a:p>
            <a:r>
              <a:rPr lang="en-US" dirty="0"/>
              <a:t>Each entry stores the logical address of ISR, which is 4 bytes (2 for segment, 2 for offset).</a:t>
            </a:r>
          </a:p>
          <a:p>
            <a:pPr lvl="1"/>
            <a:r>
              <a:rPr lang="en-US" dirty="0"/>
              <a:t>Total size of the IVT is 256 x 4B = 1024B  (approx. 1 KB)</a:t>
            </a:r>
          </a:p>
          <a:p>
            <a:r>
              <a:rPr lang="en-US" dirty="0"/>
              <a:t>To index the IVT, the processor multiplies the interrupt number by 4 to get the physical address of the entry against that interrupt number.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02257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5C6AB-8230-9BE7-9651-C6D9B794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BIOS Interrupts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61F-8959-1436-D12A-F8988F0AC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Basic Input/Output System (BIOS)</a:t>
            </a:r>
            <a:r>
              <a:rPr lang="en-US" dirty="0"/>
              <a:t> is firmware that provides low-level control over computer hardware, including keyboard, display, and disk operations.</a:t>
            </a:r>
          </a:p>
          <a:p>
            <a:pPr algn="just"/>
            <a:r>
              <a:rPr lang="en-US" dirty="0"/>
              <a:t>BIOS interrupts are used for direct interaction with hardware components.</a:t>
            </a:r>
          </a:p>
          <a:p>
            <a:pPr algn="just"/>
            <a:r>
              <a:rPr lang="en-US" dirty="0"/>
              <a:t>Provides services like video display, keyboard input, print character, and system control.</a:t>
            </a:r>
          </a:p>
          <a:p>
            <a:pPr algn="just"/>
            <a:r>
              <a:rPr lang="en-US" dirty="0"/>
              <a:t>Low-level, hardware-focused services like printing on the screen and reading keyboard input.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4713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D43E-E2FB-4040-5BE0-5C258B9A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 Interrupts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5409E-80D0-2010-A3B6-3C9C6B758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/>
              <a:t>Disk Operating System (DOS)</a:t>
            </a:r>
            <a:r>
              <a:rPr lang="en-US" dirty="0"/>
              <a:t> is a family of operating systems that provide a command-line interface for interacting with the computer.</a:t>
            </a:r>
          </a:p>
          <a:p>
            <a:pPr algn="just"/>
            <a:r>
              <a:rPr lang="en-US" dirty="0"/>
              <a:t>DOS interrupts provide software services to manage tasks like file operations, print string, and program termination.</a:t>
            </a:r>
          </a:p>
          <a:p>
            <a:pPr algn="just"/>
            <a:r>
              <a:rPr lang="en-US" dirty="0"/>
              <a:t>DOS interrupts are higher-level services compared to BIOS interrupts.</a:t>
            </a:r>
          </a:p>
          <a:p>
            <a:pPr algn="just"/>
            <a:r>
              <a:rPr lang="en-US" dirty="0"/>
              <a:t>They offer more abstracted functionality for easier application development.</a:t>
            </a:r>
          </a:p>
          <a:p>
            <a:pPr algn="just"/>
            <a:r>
              <a:rPr lang="en-US" dirty="0"/>
              <a:t>Higher-level, system-related services like printing strings and managing files.</a:t>
            </a:r>
          </a:p>
          <a:p>
            <a:pPr algn="just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24699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3ABA-F915-5547-2664-D4BF76E5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BIOS and DOS Interrupts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F258EE-6520-8F2F-6E43-2C415737A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4300" y="2492149"/>
            <a:ext cx="4263399" cy="3639750"/>
          </a:xfrm>
        </p:spPr>
      </p:pic>
    </p:spTree>
    <p:extLst>
      <p:ext uri="{BB962C8B-B14F-4D97-AF65-F5344CB8AC3E}">
        <p14:creationId xmlns:p14="http://schemas.microsoft.com/office/powerpoint/2010/main" val="2627951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55C7-B4C0-CE6A-58A3-B5F3642B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DCD8EC-45C0-B894-DE8B-0C619C944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84090" y="2608291"/>
            <a:ext cx="4023820" cy="3560903"/>
          </a:xfrm>
        </p:spPr>
      </p:pic>
    </p:spTree>
    <p:extLst>
      <p:ext uri="{BB962C8B-B14F-4D97-AF65-F5344CB8AC3E}">
        <p14:creationId xmlns:p14="http://schemas.microsoft.com/office/powerpoint/2010/main" val="3767032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4F49-7425-51D7-B86B-323B05D7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280759-0B6B-3091-CBE3-862AD5160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99532" y="2569038"/>
            <a:ext cx="4192936" cy="3600295"/>
          </a:xfrm>
        </p:spPr>
      </p:pic>
    </p:spTree>
    <p:extLst>
      <p:ext uri="{BB962C8B-B14F-4D97-AF65-F5344CB8AC3E}">
        <p14:creationId xmlns:p14="http://schemas.microsoft.com/office/powerpoint/2010/main" val="1618308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410</TotalTime>
  <Words>1009</Words>
  <Application>Microsoft Office PowerPoint</Application>
  <PresentationFormat>Widescreen</PresentationFormat>
  <Paragraphs>130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Garamond</vt:lpstr>
      <vt:lpstr>Gill Sans MT</vt:lpstr>
      <vt:lpstr>Organic</vt:lpstr>
      <vt:lpstr>Lecture 8</vt:lpstr>
      <vt:lpstr>Interrupts</vt:lpstr>
      <vt:lpstr>Types of Interrupts</vt:lpstr>
      <vt:lpstr>Software vs. Hardware Interrupts</vt:lpstr>
      <vt:lpstr>How Software Interrupts Work</vt:lpstr>
      <vt:lpstr>Interrupts – Changing Program Flow</vt:lpstr>
      <vt:lpstr>Interrupt Cycle</vt:lpstr>
      <vt:lpstr>Transfer of Control via Interrupts</vt:lpstr>
      <vt:lpstr>Multiple Interrupts</vt:lpstr>
      <vt:lpstr>Interrupt Numbers</vt:lpstr>
      <vt:lpstr>Interrupt Numbers Categories</vt:lpstr>
      <vt:lpstr>Common Interrupt Examples</vt:lpstr>
      <vt:lpstr>Interrupt Vector Table (IVT)</vt:lpstr>
      <vt:lpstr>BIOS Interrupts</vt:lpstr>
      <vt:lpstr>DOS Interrupts</vt:lpstr>
      <vt:lpstr>BIOS and DOS Interrupts</vt:lpstr>
      <vt:lpstr>Example 1</vt:lpstr>
      <vt:lpstr>Example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Sehar Ali</cp:lastModifiedBy>
  <cp:revision>37</cp:revision>
  <dcterms:created xsi:type="dcterms:W3CDTF">2023-10-17T17:30:28Z</dcterms:created>
  <dcterms:modified xsi:type="dcterms:W3CDTF">2025-11-30T11:29:44Z</dcterms:modified>
</cp:coreProperties>
</file>