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39"/>
  </p:notesMasterIdLst>
  <p:sldIdLst>
    <p:sldId id="256" r:id="rId2"/>
    <p:sldId id="257" r:id="rId3"/>
    <p:sldId id="404" r:id="rId4"/>
    <p:sldId id="405" r:id="rId5"/>
    <p:sldId id="427" r:id="rId6"/>
    <p:sldId id="406" r:id="rId7"/>
    <p:sldId id="407" r:id="rId8"/>
    <p:sldId id="408" r:id="rId9"/>
    <p:sldId id="409" r:id="rId10"/>
    <p:sldId id="410" r:id="rId11"/>
    <p:sldId id="411" r:id="rId12"/>
    <p:sldId id="412" r:id="rId13"/>
    <p:sldId id="413" r:id="rId14"/>
    <p:sldId id="414" r:id="rId15"/>
    <p:sldId id="415" r:id="rId16"/>
    <p:sldId id="416" r:id="rId17"/>
    <p:sldId id="428" r:id="rId18"/>
    <p:sldId id="417" r:id="rId19"/>
    <p:sldId id="403" r:id="rId20"/>
    <p:sldId id="419" r:id="rId21"/>
    <p:sldId id="420" r:id="rId22"/>
    <p:sldId id="421" r:id="rId23"/>
    <p:sldId id="391" r:id="rId24"/>
    <p:sldId id="418" r:id="rId25"/>
    <p:sldId id="394" r:id="rId26"/>
    <p:sldId id="393" r:id="rId27"/>
    <p:sldId id="395" r:id="rId28"/>
    <p:sldId id="425" r:id="rId29"/>
    <p:sldId id="396" r:id="rId30"/>
    <p:sldId id="397" r:id="rId31"/>
    <p:sldId id="399" r:id="rId32"/>
    <p:sldId id="400" r:id="rId33"/>
    <p:sldId id="401" r:id="rId34"/>
    <p:sldId id="402" r:id="rId35"/>
    <p:sldId id="423" r:id="rId36"/>
    <p:sldId id="424" r:id="rId37"/>
    <p:sldId id="426"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4" autoAdjust="0"/>
    <p:restoredTop sz="95033" autoAdjust="0"/>
  </p:normalViewPr>
  <p:slideViewPr>
    <p:cSldViewPr snapToGrid="0">
      <p:cViewPr varScale="1">
        <p:scale>
          <a:sx n="82" d="100"/>
          <a:sy n="82" d="100"/>
        </p:scale>
        <p:origin x="715"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E59307-FD9A-4506-868F-38EAB1970A9E}" type="datetimeFigureOut">
              <a:rPr lang="en-US" smtClean="0"/>
              <a:t>10/5/2025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4DD0BA-05A3-4E41-BF9C-58D718839F83}" type="slidenum">
              <a:rPr lang="en-US" smtClean="0"/>
              <a:t>‹#›</a:t>
            </a:fld>
            <a:endParaRPr lang="en-US"/>
          </a:p>
        </p:txBody>
      </p:sp>
    </p:spTree>
    <p:extLst>
      <p:ext uri="{BB962C8B-B14F-4D97-AF65-F5344CB8AC3E}">
        <p14:creationId xmlns:p14="http://schemas.microsoft.com/office/powerpoint/2010/main" val="6191892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AX is set to 4C00h, calling int 21h with this value will terminate the program and return control to the operating system (DOS).</a:t>
            </a:r>
            <a:endParaRPr lang="en-PK" dirty="0"/>
          </a:p>
        </p:txBody>
      </p:sp>
      <p:sp>
        <p:nvSpPr>
          <p:cNvPr id="4" name="Slide Number Placeholder 3"/>
          <p:cNvSpPr>
            <a:spLocks noGrp="1"/>
          </p:cNvSpPr>
          <p:nvPr>
            <p:ph type="sldNum" sz="quarter" idx="5"/>
          </p:nvPr>
        </p:nvSpPr>
        <p:spPr/>
        <p:txBody>
          <a:bodyPr/>
          <a:lstStyle/>
          <a:p>
            <a:fld id="{CC4DD0BA-05A3-4E41-BF9C-58D718839F83}" type="slidenum">
              <a:rPr lang="en-US" smtClean="0"/>
              <a:t>15</a:t>
            </a:fld>
            <a:endParaRPr lang="en-US"/>
          </a:p>
        </p:txBody>
      </p:sp>
    </p:spTree>
    <p:extLst>
      <p:ext uri="{BB962C8B-B14F-4D97-AF65-F5344CB8AC3E}">
        <p14:creationId xmlns:p14="http://schemas.microsoft.com/office/powerpoint/2010/main" val="20583511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small </a:t>
            </a:r>
          </a:p>
          <a:p>
            <a:r>
              <a:rPr lang="en-US" dirty="0"/>
              <a:t>.stack 100h </a:t>
            </a:r>
          </a:p>
          <a:p>
            <a:r>
              <a:rPr lang="en-US" dirty="0"/>
              <a:t>.data </a:t>
            </a:r>
          </a:p>
          <a:p>
            <a:r>
              <a:rPr lang="en-US" dirty="0"/>
              <a:t>.code </a:t>
            </a:r>
          </a:p>
          <a:p>
            <a:r>
              <a:rPr lang="en-US" dirty="0"/>
              <a:t>mov ax, 100h </a:t>
            </a:r>
          </a:p>
          <a:p>
            <a:r>
              <a:rPr lang="en-US" dirty="0"/>
              <a:t>mov bx, 200h </a:t>
            </a:r>
          </a:p>
          <a:p>
            <a:r>
              <a:rPr lang="en-US" dirty="0"/>
              <a:t>add ax, bx </a:t>
            </a:r>
          </a:p>
          <a:p>
            <a:r>
              <a:rPr lang="en-US" dirty="0"/>
              <a:t>sub ax, 25h </a:t>
            </a:r>
          </a:p>
          <a:p>
            <a:endParaRPr lang="en-US" dirty="0"/>
          </a:p>
          <a:p>
            <a:r>
              <a:rPr lang="en-US" dirty="0"/>
              <a:t>.exit </a:t>
            </a:r>
            <a:endParaRPr lang="en-PK" dirty="0"/>
          </a:p>
        </p:txBody>
      </p:sp>
      <p:sp>
        <p:nvSpPr>
          <p:cNvPr id="4" name="Slide Number Placeholder 3"/>
          <p:cNvSpPr>
            <a:spLocks noGrp="1"/>
          </p:cNvSpPr>
          <p:nvPr>
            <p:ph type="sldNum" sz="quarter" idx="5"/>
          </p:nvPr>
        </p:nvSpPr>
        <p:spPr/>
        <p:txBody>
          <a:bodyPr/>
          <a:lstStyle/>
          <a:p>
            <a:fld id="{CC4DD0BA-05A3-4E41-BF9C-58D718839F83}" type="slidenum">
              <a:rPr lang="en-US" smtClean="0"/>
              <a:t>16</a:t>
            </a:fld>
            <a:endParaRPr lang="en-US"/>
          </a:p>
        </p:txBody>
      </p:sp>
    </p:spTree>
    <p:extLst>
      <p:ext uri="{BB962C8B-B14F-4D97-AF65-F5344CB8AC3E}">
        <p14:creationId xmlns:p14="http://schemas.microsoft.com/office/powerpoint/2010/main" val="120547001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D7C642CD-AAAD-4E54-BAD2-9AEC05630F5D}" type="datetimeFigureOut">
              <a:rPr lang="en-US" smtClean="0"/>
              <a:t>10/5/2025</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093D7721-5747-4536-87D9-064E5816BE77}"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128342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C642CD-AAAD-4E54-BAD2-9AEC05630F5D}" type="datetimeFigureOut">
              <a:rPr lang="en-US" smtClean="0"/>
              <a:t>10/5/2025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3D7721-5747-4536-87D9-064E5816BE77}" type="slidenum">
              <a:rPr lang="en-US" smtClean="0"/>
              <a:t>‹#›</a:t>
            </a:fld>
            <a:endParaRPr lang="en-US"/>
          </a:p>
        </p:txBody>
      </p:sp>
    </p:spTree>
    <p:extLst>
      <p:ext uri="{BB962C8B-B14F-4D97-AF65-F5344CB8AC3E}">
        <p14:creationId xmlns:p14="http://schemas.microsoft.com/office/powerpoint/2010/main" val="37824744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C642CD-AAAD-4E54-BAD2-9AEC05630F5D}" type="datetimeFigureOut">
              <a:rPr lang="en-US" smtClean="0"/>
              <a:t>10/5/2025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3D7721-5747-4536-87D9-064E5816BE77}"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06926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7C642CD-AAAD-4E54-BAD2-9AEC05630F5D}" type="datetimeFigureOut">
              <a:rPr lang="en-US" smtClean="0"/>
              <a:t>10/5/2025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93D7721-5747-4536-87D9-064E5816BE77}" type="slidenum">
              <a:rPr lang="en-US" smtClean="0"/>
              <a:t>‹#›</a:t>
            </a:fld>
            <a:endParaRPr lang="en-US"/>
          </a:p>
        </p:txBody>
      </p:sp>
    </p:spTree>
    <p:extLst>
      <p:ext uri="{BB962C8B-B14F-4D97-AF65-F5344CB8AC3E}">
        <p14:creationId xmlns:p14="http://schemas.microsoft.com/office/powerpoint/2010/main" val="16910452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7C642CD-AAAD-4E54-BAD2-9AEC05630F5D}" type="datetimeFigureOut">
              <a:rPr lang="en-US" smtClean="0"/>
              <a:t>10/5/2025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93D7721-5747-4536-87D9-064E5816BE77}"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857835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7C642CD-AAAD-4E54-BAD2-9AEC05630F5D}" type="datetimeFigureOut">
              <a:rPr lang="en-US" smtClean="0"/>
              <a:t>10/5/2025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93D7721-5747-4536-87D9-064E5816BE77}"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040858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7C642CD-AAAD-4E54-BAD2-9AEC05630F5D}" type="datetimeFigureOut">
              <a:rPr lang="en-US" smtClean="0"/>
              <a:t>10/5/2025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93D7721-5747-4536-87D9-064E5816BE77}" type="slidenum">
              <a:rPr lang="en-US" smtClean="0"/>
              <a:t>‹#›</a:t>
            </a:fld>
            <a:endParaRPr lang="en-US"/>
          </a:p>
        </p:txBody>
      </p:sp>
    </p:spTree>
    <p:extLst>
      <p:ext uri="{BB962C8B-B14F-4D97-AF65-F5344CB8AC3E}">
        <p14:creationId xmlns:p14="http://schemas.microsoft.com/office/powerpoint/2010/main" val="18837452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7C642CD-AAAD-4E54-BAD2-9AEC05630F5D}" type="datetimeFigureOut">
              <a:rPr lang="en-US" smtClean="0"/>
              <a:t>10/5/2025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93D7721-5747-4536-87D9-064E5816BE77}"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899842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7C642CD-AAAD-4E54-BAD2-9AEC05630F5D}" type="datetimeFigureOut">
              <a:rPr lang="en-US" smtClean="0"/>
              <a:t>10/5/2025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93D7721-5747-4536-87D9-064E5816BE77}" type="slidenum">
              <a:rPr lang="en-US" smtClean="0"/>
              <a:t>‹#›</a:t>
            </a:fld>
            <a:endParaRPr lang="en-US"/>
          </a:p>
        </p:txBody>
      </p:sp>
    </p:spTree>
    <p:extLst>
      <p:ext uri="{BB962C8B-B14F-4D97-AF65-F5344CB8AC3E}">
        <p14:creationId xmlns:p14="http://schemas.microsoft.com/office/powerpoint/2010/main" val="14693066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7C642CD-AAAD-4E54-BAD2-9AEC05630F5D}" type="datetimeFigureOut">
              <a:rPr lang="en-US" smtClean="0"/>
              <a:t>10/5/2025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93D7721-5747-4536-87D9-064E5816BE77}" type="slidenum">
              <a:rPr lang="en-US" smtClean="0"/>
              <a:t>‹#›</a:t>
            </a:fld>
            <a:endParaRPr lang="en-US"/>
          </a:p>
        </p:txBody>
      </p:sp>
    </p:spTree>
    <p:extLst>
      <p:ext uri="{BB962C8B-B14F-4D97-AF65-F5344CB8AC3E}">
        <p14:creationId xmlns:p14="http://schemas.microsoft.com/office/powerpoint/2010/main" val="42127670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C642CD-AAAD-4E54-BAD2-9AEC05630F5D}" type="datetimeFigureOut">
              <a:rPr lang="en-US" smtClean="0"/>
              <a:t>10/5/2025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3D7721-5747-4536-87D9-064E5816BE77}"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38413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C642CD-AAAD-4E54-BAD2-9AEC05630F5D}" type="datetimeFigureOut">
              <a:rPr lang="en-US" smtClean="0"/>
              <a:t>10/5/2025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3D7721-5747-4536-87D9-064E5816BE77}"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703633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C642CD-AAAD-4E54-BAD2-9AEC05630F5D}" type="datetimeFigureOut">
              <a:rPr lang="en-US" smtClean="0"/>
              <a:t>10/5/2025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3D7721-5747-4536-87D9-064E5816BE77}" type="slidenum">
              <a:rPr lang="en-US" smtClean="0"/>
              <a:t>‹#›</a:t>
            </a:fld>
            <a:endParaRPr lang="en-US"/>
          </a:p>
        </p:txBody>
      </p:sp>
    </p:spTree>
    <p:extLst>
      <p:ext uri="{BB962C8B-B14F-4D97-AF65-F5344CB8AC3E}">
        <p14:creationId xmlns:p14="http://schemas.microsoft.com/office/powerpoint/2010/main" val="5893050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C642CD-AAAD-4E54-BAD2-9AEC05630F5D}" type="datetimeFigureOut">
              <a:rPr lang="en-US" smtClean="0"/>
              <a:t>10/5/2025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3D7721-5747-4536-87D9-064E5816BE77}"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490925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C642CD-AAAD-4E54-BAD2-9AEC05630F5D}" type="datetimeFigureOut">
              <a:rPr lang="en-US" smtClean="0"/>
              <a:t>10/5/2025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3D7721-5747-4536-87D9-064E5816BE77}"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874551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C642CD-AAAD-4E54-BAD2-9AEC05630F5D}" type="datetimeFigureOut">
              <a:rPr lang="en-US" smtClean="0"/>
              <a:t>10/5/2025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3D7721-5747-4536-87D9-064E5816BE77}"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163210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C642CD-AAAD-4E54-BAD2-9AEC05630F5D}" type="datetimeFigureOut">
              <a:rPr lang="en-US" smtClean="0"/>
              <a:t>10/5/2025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93D7721-5747-4536-87D9-064E5816BE77}"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846682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7C642CD-AAAD-4E54-BAD2-9AEC05630F5D}" type="datetimeFigureOut">
              <a:rPr lang="en-US" smtClean="0"/>
              <a:t>10/5/2025</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93D7721-5747-4536-87D9-064E5816BE77}" type="slidenum">
              <a:rPr lang="en-US" smtClean="0"/>
              <a:t>‹#›</a:t>
            </a:fld>
            <a:endParaRPr lang="en-US"/>
          </a:p>
        </p:txBody>
      </p:sp>
    </p:spTree>
    <p:extLst>
      <p:ext uri="{BB962C8B-B14F-4D97-AF65-F5344CB8AC3E}">
        <p14:creationId xmlns:p14="http://schemas.microsoft.com/office/powerpoint/2010/main" val="1246744203"/>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D54D1-B773-6DC6-6A36-C4903D076850}"/>
              </a:ext>
            </a:extLst>
          </p:cNvPr>
          <p:cNvSpPr>
            <a:spLocks noGrp="1"/>
          </p:cNvSpPr>
          <p:nvPr>
            <p:ph type="ctrTitle"/>
          </p:nvPr>
        </p:nvSpPr>
        <p:spPr/>
        <p:txBody>
          <a:bodyPr>
            <a:normAutofit fontScale="90000"/>
          </a:bodyPr>
          <a:lstStyle/>
          <a:p>
            <a:r>
              <a:rPr lang="en-US" dirty="0"/>
              <a:t>Computer Organization &amp; Assembly Language</a:t>
            </a:r>
          </a:p>
        </p:txBody>
      </p:sp>
      <p:sp>
        <p:nvSpPr>
          <p:cNvPr id="3" name="Subtitle 2">
            <a:extLst>
              <a:ext uri="{FF2B5EF4-FFF2-40B4-BE49-F238E27FC236}">
                <a16:creationId xmlns:a16="http://schemas.microsoft.com/office/drawing/2014/main" id="{1E0092D9-7E8A-0F7D-03F8-2132B9F1B4BF}"/>
              </a:ext>
            </a:extLst>
          </p:cNvPr>
          <p:cNvSpPr>
            <a:spLocks noGrp="1"/>
          </p:cNvSpPr>
          <p:nvPr>
            <p:ph type="subTitle" idx="1"/>
          </p:nvPr>
        </p:nvSpPr>
        <p:spPr/>
        <p:txBody>
          <a:bodyPr>
            <a:normAutofit/>
          </a:bodyPr>
          <a:lstStyle/>
          <a:p>
            <a:r>
              <a:rPr lang="en-US" sz="4000" b="1" dirty="0"/>
              <a:t>Lecture 3</a:t>
            </a:r>
          </a:p>
        </p:txBody>
      </p:sp>
    </p:spTree>
    <p:extLst>
      <p:ext uri="{BB962C8B-B14F-4D97-AF65-F5344CB8AC3E}">
        <p14:creationId xmlns:p14="http://schemas.microsoft.com/office/powerpoint/2010/main" val="37202423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0CE84-A917-CFC6-7EA0-12595BA280B2}"/>
              </a:ext>
            </a:extLst>
          </p:cNvPr>
          <p:cNvSpPr>
            <a:spLocks noGrp="1"/>
          </p:cNvSpPr>
          <p:nvPr>
            <p:ph type="title"/>
          </p:nvPr>
        </p:nvSpPr>
        <p:spPr/>
        <p:txBody>
          <a:bodyPr/>
          <a:lstStyle/>
          <a:p>
            <a:r>
              <a:rPr lang="en-US" dirty="0"/>
              <a:t>Programming Model x8086</a:t>
            </a:r>
          </a:p>
        </p:txBody>
      </p:sp>
      <p:sp>
        <p:nvSpPr>
          <p:cNvPr id="3" name="Content Placeholder 2">
            <a:extLst>
              <a:ext uri="{FF2B5EF4-FFF2-40B4-BE49-F238E27FC236}">
                <a16:creationId xmlns:a16="http://schemas.microsoft.com/office/drawing/2014/main" id="{436E69E3-EB4C-7CBD-F6F0-1B1FF073FE4B}"/>
              </a:ext>
            </a:extLst>
          </p:cNvPr>
          <p:cNvSpPr>
            <a:spLocks noGrp="1"/>
          </p:cNvSpPr>
          <p:nvPr>
            <p:ph idx="1"/>
          </p:nvPr>
        </p:nvSpPr>
        <p:spPr/>
        <p:txBody>
          <a:bodyPr>
            <a:normAutofit/>
          </a:bodyPr>
          <a:lstStyle/>
          <a:p>
            <a:r>
              <a:rPr lang="en-US" dirty="0"/>
              <a:t>How software interacts with the hardware of x86-based systems</a:t>
            </a:r>
          </a:p>
          <a:p>
            <a:r>
              <a:rPr lang="en-US" dirty="0"/>
              <a:t>How data is organized</a:t>
            </a:r>
          </a:p>
          <a:p>
            <a:r>
              <a:rPr lang="en-US" dirty="0"/>
              <a:t>How instructions are executed</a:t>
            </a:r>
          </a:p>
          <a:p>
            <a:r>
              <a:rPr lang="en-US" dirty="0"/>
              <a:t>How memory is accessed</a:t>
            </a:r>
          </a:p>
        </p:txBody>
      </p:sp>
    </p:spTree>
    <p:extLst>
      <p:ext uri="{BB962C8B-B14F-4D97-AF65-F5344CB8AC3E}">
        <p14:creationId xmlns:p14="http://schemas.microsoft.com/office/powerpoint/2010/main" val="19433704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2A218-A2D3-E6AC-9FF7-F0FC37DDEB53}"/>
              </a:ext>
            </a:extLst>
          </p:cNvPr>
          <p:cNvSpPr>
            <a:spLocks noGrp="1"/>
          </p:cNvSpPr>
          <p:nvPr>
            <p:ph type="title"/>
          </p:nvPr>
        </p:nvSpPr>
        <p:spPr/>
        <p:txBody>
          <a:bodyPr/>
          <a:lstStyle/>
          <a:p>
            <a:r>
              <a:rPr lang="en-US" dirty="0"/>
              <a:t>Architecture</a:t>
            </a:r>
            <a:endParaRPr lang="en-PK" dirty="0"/>
          </a:p>
        </p:txBody>
      </p:sp>
      <p:sp>
        <p:nvSpPr>
          <p:cNvPr id="3" name="Content Placeholder 2">
            <a:extLst>
              <a:ext uri="{FF2B5EF4-FFF2-40B4-BE49-F238E27FC236}">
                <a16:creationId xmlns:a16="http://schemas.microsoft.com/office/drawing/2014/main" id="{97E47654-C496-2D24-28C7-664C65E3FED1}"/>
              </a:ext>
            </a:extLst>
          </p:cNvPr>
          <p:cNvSpPr>
            <a:spLocks noGrp="1"/>
          </p:cNvSpPr>
          <p:nvPr>
            <p:ph idx="1"/>
          </p:nvPr>
        </p:nvSpPr>
        <p:spPr/>
        <p:txBody>
          <a:bodyPr/>
          <a:lstStyle/>
          <a:p>
            <a:pPr algn="just"/>
            <a:r>
              <a:rPr lang="en-US" dirty="0"/>
              <a:t>The x86 architecture is a family of instruction set architectures (ISAs) based on the Intel 8086 microprocessor and its descendants.</a:t>
            </a:r>
          </a:p>
          <a:p>
            <a:pPr algn="just"/>
            <a:r>
              <a:rPr lang="en-US" dirty="0"/>
              <a:t>It supports both 16-bit, 32-bit (x86), and 64-bit (x86-64) computing environments.</a:t>
            </a:r>
          </a:p>
          <a:p>
            <a:pPr algn="just"/>
            <a:r>
              <a:rPr lang="en-US" dirty="0"/>
              <a:t>Next – Registers (already discussed)</a:t>
            </a:r>
            <a:endParaRPr lang="en-PK" dirty="0"/>
          </a:p>
        </p:txBody>
      </p:sp>
    </p:spTree>
    <p:extLst>
      <p:ext uri="{BB962C8B-B14F-4D97-AF65-F5344CB8AC3E}">
        <p14:creationId xmlns:p14="http://schemas.microsoft.com/office/powerpoint/2010/main" val="24427391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F0B01-A6FA-D682-FFB9-2E4BE91D3469}"/>
              </a:ext>
            </a:extLst>
          </p:cNvPr>
          <p:cNvSpPr>
            <a:spLocks noGrp="1"/>
          </p:cNvSpPr>
          <p:nvPr>
            <p:ph type="title"/>
          </p:nvPr>
        </p:nvSpPr>
        <p:spPr/>
        <p:txBody>
          <a:bodyPr/>
          <a:lstStyle/>
          <a:p>
            <a:r>
              <a:rPr lang="en-US" dirty="0"/>
              <a:t>Memory</a:t>
            </a:r>
            <a:endParaRPr lang="en-PK" dirty="0"/>
          </a:p>
        </p:txBody>
      </p:sp>
      <p:sp>
        <p:nvSpPr>
          <p:cNvPr id="3" name="Content Placeholder 2">
            <a:extLst>
              <a:ext uri="{FF2B5EF4-FFF2-40B4-BE49-F238E27FC236}">
                <a16:creationId xmlns:a16="http://schemas.microsoft.com/office/drawing/2014/main" id="{B15433A0-FFDA-7D1E-629C-D1A832459753}"/>
              </a:ext>
            </a:extLst>
          </p:cNvPr>
          <p:cNvSpPr>
            <a:spLocks noGrp="1"/>
          </p:cNvSpPr>
          <p:nvPr>
            <p:ph idx="1"/>
          </p:nvPr>
        </p:nvSpPr>
        <p:spPr/>
        <p:txBody>
          <a:bodyPr/>
          <a:lstStyle/>
          <a:p>
            <a:pPr algn="just"/>
            <a:r>
              <a:rPr lang="en-US" dirty="0"/>
              <a:t>The x86 architecture uses a segmented memory model, allowing programs to use larger address spaces by dividing memory into segments.</a:t>
            </a:r>
          </a:p>
          <a:p>
            <a:pPr algn="just"/>
            <a:r>
              <a:rPr lang="en-US" dirty="0"/>
              <a:t>Memory is divided into segments, with each segment defined by a </a:t>
            </a:r>
            <a:r>
              <a:rPr lang="en-US" b="1" dirty="0"/>
              <a:t>base address </a:t>
            </a:r>
            <a:r>
              <a:rPr lang="en-US" dirty="0"/>
              <a:t>and a </a:t>
            </a:r>
            <a:r>
              <a:rPr lang="en-US" b="1" dirty="0"/>
              <a:t>limit</a:t>
            </a:r>
            <a:r>
              <a:rPr lang="en-US" dirty="0"/>
              <a:t>. This enables different data types and instructions to be stored in separate memory areas.</a:t>
            </a:r>
            <a:endParaRPr lang="en-PK" dirty="0"/>
          </a:p>
        </p:txBody>
      </p:sp>
    </p:spTree>
    <p:extLst>
      <p:ext uri="{BB962C8B-B14F-4D97-AF65-F5344CB8AC3E}">
        <p14:creationId xmlns:p14="http://schemas.microsoft.com/office/powerpoint/2010/main" val="26859296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28166-4A3C-41AD-9F14-79A888F91A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5F669E-605B-528D-C1ED-CAC5CEE970BF}"/>
              </a:ext>
            </a:extLst>
          </p:cNvPr>
          <p:cNvSpPr>
            <a:spLocks noGrp="1"/>
          </p:cNvSpPr>
          <p:nvPr>
            <p:ph type="title"/>
          </p:nvPr>
        </p:nvSpPr>
        <p:spPr/>
        <p:txBody>
          <a:bodyPr/>
          <a:lstStyle/>
          <a:p>
            <a:r>
              <a:rPr lang="en-US" dirty="0"/>
              <a:t>Memory</a:t>
            </a:r>
            <a:endParaRPr lang="en-PK" dirty="0"/>
          </a:p>
        </p:txBody>
      </p:sp>
      <p:pic>
        <p:nvPicPr>
          <p:cNvPr id="1026" name="Picture 2" descr="part16">
            <a:extLst>
              <a:ext uri="{FF2B5EF4-FFF2-40B4-BE49-F238E27FC236}">
                <a16:creationId xmlns:a16="http://schemas.microsoft.com/office/drawing/2014/main" id="{EA1292ED-6E42-B93D-5070-228DB256EC5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28457" y="2549422"/>
            <a:ext cx="3135086" cy="35129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45232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BCA96-FADC-984F-4D42-609D4A5E68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9C3D01-6FE4-9171-F4CE-07CFEE264B57}"/>
              </a:ext>
            </a:extLst>
          </p:cNvPr>
          <p:cNvSpPr>
            <a:spLocks noGrp="1"/>
          </p:cNvSpPr>
          <p:nvPr>
            <p:ph type="title"/>
          </p:nvPr>
        </p:nvSpPr>
        <p:spPr/>
        <p:txBody>
          <a:bodyPr/>
          <a:lstStyle/>
          <a:p>
            <a:r>
              <a:rPr lang="en-US" dirty="0"/>
              <a:t>Instruction Set</a:t>
            </a:r>
            <a:endParaRPr lang="en-PK" dirty="0"/>
          </a:p>
        </p:txBody>
      </p:sp>
      <p:sp>
        <p:nvSpPr>
          <p:cNvPr id="3" name="Content Placeholder 2">
            <a:extLst>
              <a:ext uri="{FF2B5EF4-FFF2-40B4-BE49-F238E27FC236}">
                <a16:creationId xmlns:a16="http://schemas.microsoft.com/office/drawing/2014/main" id="{B02A8854-57F9-4A2E-8EEE-86913BEDB708}"/>
              </a:ext>
            </a:extLst>
          </p:cNvPr>
          <p:cNvSpPr>
            <a:spLocks noGrp="1"/>
          </p:cNvSpPr>
          <p:nvPr>
            <p:ph idx="1"/>
          </p:nvPr>
        </p:nvSpPr>
        <p:spPr/>
        <p:txBody>
          <a:bodyPr/>
          <a:lstStyle/>
          <a:p>
            <a:pPr algn="just"/>
            <a:r>
              <a:rPr lang="en-US" b="1" dirty="0"/>
              <a:t>Data Movement</a:t>
            </a:r>
            <a:r>
              <a:rPr lang="en-US" dirty="0"/>
              <a:t>: Move data between registers, memory, and I/O ports.</a:t>
            </a:r>
          </a:p>
          <a:p>
            <a:pPr algn="just"/>
            <a:r>
              <a:rPr lang="en-US" b="1" dirty="0"/>
              <a:t>Arithmetic Operations</a:t>
            </a:r>
            <a:r>
              <a:rPr lang="en-US" dirty="0"/>
              <a:t>: Perform calculations like addition, subtraction, multiplication, and division.</a:t>
            </a:r>
          </a:p>
          <a:p>
            <a:pPr algn="just"/>
            <a:r>
              <a:rPr lang="en-US" b="1" dirty="0"/>
              <a:t>Logical Operations</a:t>
            </a:r>
            <a:r>
              <a:rPr lang="en-US" dirty="0"/>
              <a:t>: Perform bitwise operations (AND, OR, NOT, XOR).</a:t>
            </a:r>
          </a:p>
          <a:p>
            <a:pPr algn="just"/>
            <a:r>
              <a:rPr lang="en-US" b="1" dirty="0"/>
              <a:t>Control Flow</a:t>
            </a:r>
            <a:r>
              <a:rPr lang="en-US" dirty="0"/>
              <a:t>: Manage the flow of the program using jumps, calls, and loops.</a:t>
            </a:r>
          </a:p>
          <a:p>
            <a:pPr algn="just"/>
            <a:r>
              <a:rPr lang="en-US" b="1" dirty="0"/>
              <a:t>String Operations</a:t>
            </a:r>
            <a:r>
              <a:rPr lang="en-US" dirty="0"/>
              <a:t>: Special instructions for handling string data.</a:t>
            </a:r>
            <a:endParaRPr lang="en-PK" dirty="0"/>
          </a:p>
        </p:txBody>
      </p:sp>
    </p:spTree>
    <p:extLst>
      <p:ext uri="{BB962C8B-B14F-4D97-AF65-F5344CB8AC3E}">
        <p14:creationId xmlns:p14="http://schemas.microsoft.com/office/powerpoint/2010/main" val="29181935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4DD8C-8AC5-A395-1134-058D524F4B8A}"/>
              </a:ext>
            </a:extLst>
          </p:cNvPr>
          <p:cNvSpPr>
            <a:spLocks noGrp="1"/>
          </p:cNvSpPr>
          <p:nvPr>
            <p:ph type="title"/>
          </p:nvPr>
        </p:nvSpPr>
        <p:spPr/>
        <p:txBody>
          <a:bodyPr/>
          <a:lstStyle/>
          <a:p>
            <a:r>
              <a:rPr lang="en-US" dirty="0"/>
              <a:t>Assembler Directives</a:t>
            </a:r>
            <a:endParaRPr lang="en-PK" dirty="0"/>
          </a:p>
        </p:txBody>
      </p:sp>
      <p:sp>
        <p:nvSpPr>
          <p:cNvPr id="3" name="Content Placeholder 2">
            <a:extLst>
              <a:ext uri="{FF2B5EF4-FFF2-40B4-BE49-F238E27FC236}">
                <a16:creationId xmlns:a16="http://schemas.microsoft.com/office/drawing/2014/main" id="{CF863018-E043-232E-BD83-47BE40C22684}"/>
              </a:ext>
            </a:extLst>
          </p:cNvPr>
          <p:cNvSpPr>
            <a:spLocks noGrp="1"/>
          </p:cNvSpPr>
          <p:nvPr>
            <p:ph idx="1"/>
          </p:nvPr>
        </p:nvSpPr>
        <p:spPr/>
        <p:txBody>
          <a:bodyPr/>
          <a:lstStyle/>
          <a:p>
            <a:r>
              <a:rPr lang="en-US" dirty="0"/>
              <a:t>Pseudo-ops</a:t>
            </a:r>
          </a:p>
          <a:p>
            <a:r>
              <a:rPr lang="en-US" dirty="0"/>
              <a:t>Instructions in assembly language that are not converted into machine code</a:t>
            </a:r>
          </a:p>
          <a:p>
            <a:r>
              <a:rPr lang="en-US" dirty="0"/>
              <a:t>Instructions that tell the assembler how to process the source code, define data segments, manage memory, and control the program's structure. </a:t>
            </a:r>
          </a:p>
          <a:p>
            <a:r>
              <a:rPr lang="en-US" dirty="0"/>
              <a:t>They help organize code, define data structures, and manage memory</a:t>
            </a:r>
          </a:p>
          <a:p>
            <a:r>
              <a:rPr lang="en-US" dirty="0"/>
              <a:t>Emu8086 = assembler + emulator</a:t>
            </a:r>
            <a:endParaRPr lang="en-PK" dirty="0"/>
          </a:p>
        </p:txBody>
      </p:sp>
    </p:spTree>
    <p:extLst>
      <p:ext uri="{BB962C8B-B14F-4D97-AF65-F5344CB8AC3E}">
        <p14:creationId xmlns:p14="http://schemas.microsoft.com/office/powerpoint/2010/main" val="5405931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8E2E7-9E6D-803C-6DD5-FB71BEDB06AF}"/>
              </a:ext>
            </a:extLst>
          </p:cNvPr>
          <p:cNvSpPr>
            <a:spLocks noGrp="1"/>
          </p:cNvSpPr>
          <p:nvPr>
            <p:ph type="title"/>
          </p:nvPr>
        </p:nvSpPr>
        <p:spPr/>
        <p:txBody>
          <a:bodyPr/>
          <a:lstStyle/>
          <a:p>
            <a:r>
              <a:rPr lang="en-US" dirty="0"/>
              <a:t>Data Definition Directives</a:t>
            </a:r>
            <a:endParaRPr lang="en-PK" dirty="0"/>
          </a:p>
        </p:txBody>
      </p:sp>
      <p:sp>
        <p:nvSpPr>
          <p:cNvPr id="3" name="Content Placeholder 2">
            <a:extLst>
              <a:ext uri="{FF2B5EF4-FFF2-40B4-BE49-F238E27FC236}">
                <a16:creationId xmlns:a16="http://schemas.microsoft.com/office/drawing/2014/main" id="{1CD9CF10-E0F7-C0A8-8EE9-61CB408D4172}"/>
              </a:ext>
            </a:extLst>
          </p:cNvPr>
          <p:cNvSpPr>
            <a:spLocks noGrp="1"/>
          </p:cNvSpPr>
          <p:nvPr>
            <p:ph idx="1"/>
          </p:nvPr>
        </p:nvSpPr>
        <p:spPr/>
        <p:txBody>
          <a:bodyPr>
            <a:normAutofit fontScale="70000" lnSpcReduction="20000"/>
          </a:bodyPr>
          <a:lstStyle/>
          <a:p>
            <a:r>
              <a:rPr lang="en-US" b="1" dirty="0"/>
              <a:t>DB (Define Byte)</a:t>
            </a:r>
            <a:r>
              <a:rPr lang="en-US" dirty="0"/>
              <a:t>: Allocates space for a byte (8 bits) or initializes it with a value.</a:t>
            </a:r>
          </a:p>
          <a:p>
            <a:pPr lvl="1"/>
            <a:r>
              <a:rPr lang="en-US" dirty="0"/>
              <a:t>Value DB 10 (value is name of variable initialize to 10)</a:t>
            </a:r>
          </a:p>
          <a:p>
            <a:r>
              <a:rPr lang="en-US" b="1" dirty="0"/>
              <a:t>DW (Define Word)</a:t>
            </a:r>
            <a:r>
              <a:rPr lang="en-US" dirty="0"/>
              <a:t>: Allocates space for a word (usually 16 bits) or initializes it with a value.</a:t>
            </a:r>
          </a:p>
          <a:p>
            <a:pPr lvl="1"/>
            <a:r>
              <a:rPr lang="en-US" dirty="0"/>
              <a:t>Num DW 1234</a:t>
            </a:r>
          </a:p>
          <a:p>
            <a:r>
              <a:rPr lang="en-US" b="1" dirty="0"/>
              <a:t>DD (Define Doubleword)</a:t>
            </a:r>
            <a:r>
              <a:rPr lang="en-US" dirty="0"/>
              <a:t>: Allocates space for a doubleword (usually 32 bits) or initializes it with a value.</a:t>
            </a:r>
          </a:p>
          <a:p>
            <a:pPr lvl="1"/>
            <a:r>
              <a:rPr lang="en-US" dirty="0" err="1"/>
              <a:t>largeNum</a:t>
            </a:r>
            <a:r>
              <a:rPr lang="en-US" dirty="0"/>
              <a:t> DD 100000</a:t>
            </a:r>
          </a:p>
          <a:p>
            <a:r>
              <a:rPr lang="en-US" b="1" dirty="0"/>
              <a:t>DQ (Define Quadword)</a:t>
            </a:r>
            <a:r>
              <a:rPr lang="en-US" dirty="0"/>
              <a:t>: Allocates space for a quadword (usually 64 bits) or initializes it with a value.</a:t>
            </a:r>
          </a:p>
          <a:p>
            <a:pPr lvl="1"/>
            <a:r>
              <a:rPr lang="en-US" dirty="0" err="1"/>
              <a:t>bigNum</a:t>
            </a:r>
            <a:r>
              <a:rPr lang="en-US" dirty="0"/>
              <a:t> DQ 123456789012345</a:t>
            </a:r>
          </a:p>
          <a:p>
            <a:r>
              <a:rPr lang="en-US" b="1" dirty="0"/>
              <a:t>DT (Define Ten Bytes)</a:t>
            </a:r>
            <a:r>
              <a:rPr lang="en-US" dirty="0"/>
              <a:t>: Allocates space for ten bytes.</a:t>
            </a:r>
          </a:p>
          <a:p>
            <a:pPr lvl="1"/>
            <a:r>
              <a:rPr lang="en-US" dirty="0" err="1"/>
              <a:t>myArray</a:t>
            </a:r>
            <a:r>
              <a:rPr lang="en-US" dirty="0"/>
              <a:t> DT 1, 2, 3, 4, 5</a:t>
            </a:r>
            <a:endParaRPr lang="en-PK" dirty="0"/>
          </a:p>
        </p:txBody>
      </p:sp>
    </p:spTree>
    <p:extLst>
      <p:ext uri="{BB962C8B-B14F-4D97-AF65-F5344CB8AC3E}">
        <p14:creationId xmlns:p14="http://schemas.microsoft.com/office/powerpoint/2010/main" val="20519753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31D61-90BE-564B-50FF-73E4F3CADBA8}"/>
              </a:ext>
            </a:extLst>
          </p:cNvPr>
          <p:cNvSpPr>
            <a:spLocks noGrp="1"/>
          </p:cNvSpPr>
          <p:nvPr>
            <p:ph type="title"/>
          </p:nvPr>
        </p:nvSpPr>
        <p:spPr/>
        <p:txBody>
          <a:bodyPr/>
          <a:lstStyle/>
          <a:p>
            <a:r>
              <a:rPr lang="en-US" dirty="0"/>
              <a:t>Section Directives</a:t>
            </a:r>
            <a:endParaRPr lang="en-PK" dirty="0"/>
          </a:p>
        </p:txBody>
      </p:sp>
      <p:sp>
        <p:nvSpPr>
          <p:cNvPr id="3" name="Content Placeholder 2">
            <a:extLst>
              <a:ext uri="{FF2B5EF4-FFF2-40B4-BE49-F238E27FC236}">
                <a16:creationId xmlns:a16="http://schemas.microsoft.com/office/drawing/2014/main" id="{21AED173-8D02-234B-2DAA-D41EBB6C59B4}"/>
              </a:ext>
            </a:extLst>
          </p:cNvPr>
          <p:cNvSpPr>
            <a:spLocks noGrp="1"/>
          </p:cNvSpPr>
          <p:nvPr>
            <p:ph idx="1"/>
          </p:nvPr>
        </p:nvSpPr>
        <p:spPr/>
        <p:txBody>
          <a:bodyPr/>
          <a:lstStyle/>
          <a:p>
            <a:r>
              <a:rPr lang="en-US" b="1" dirty="0"/>
              <a:t>SECTION or SEGMENT</a:t>
            </a:r>
            <a:r>
              <a:rPr lang="en-US" dirty="0"/>
              <a:t>: Begins a new section in the program (like .text for code or .data for initialized data).</a:t>
            </a:r>
          </a:p>
          <a:p>
            <a:r>
              <a:rPr lang="en-US" dirty="0"/>
              <a:t>SECTION .text</a:t>
            </a:r>
          </a:p>
          <a:p>
            <a:r>
              <a:rPr lang="en-US" dirty="0"/>
              <a:t>; code goes here</a:t>
            </a:r>
          </a:p>
          <a:p>
            <a:r>
              <a:rPr lang="en-US" b="1" dirty="0"/>
              <a:t>END</a:t>
            </a:r>
            <a:r>
              <a:rPr lang="en-US" dirty="0"/>
              <a:t>: Marks the end of the assembly file. Indicates the end of the program.</a:t>
            </a:r>
          </a:p>
          <a:p>
            <a:endParaRPr lang="en-PK" dirty="0"/>
          </a:p>
        </p:txBody>
      </p:sp>
    </p:spTree>
    <p:extLst>
      <p:ext uri="{BB962C8B-B14F-4D97-AF65-F5344CB8AC3E}">
        <p14:creationId xmlns:p14="http://schemas.microsoft.com/office/powerpoint/2010/main" val="38522571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8B0C5-55B5-7C9C-1B96-EECE966FA1E9}"/>
              </a:ext>
            </a:extLst>
          </p:cNvPr>
          <p:cNvSpPr>
            <a:spLocks noGrp="1"/>
          </p:cNvSpPr>
          <p:nvPr>
            <p:ph type="title"/>
          </p:nvPr>
        </p:nvSpPr>
        <p:spPr/>
        <p:txBody>
          <a:bodyPr/>
          <a:lstStyle/>
          <a:p>
            <a:r>
              <a:rPr lang="en-US" dirty="0"/>
              <a:t>Code Control Directives</a:t>
            </a:r>
            <a:endParaRPr lang="en-PK" dirty="0"/>
          </a:p>
        </p:txBody>
      </p:sp>
      <p:sp>
        <p:nvSpPr>
          <p:cNvPr id="3" name="Content Placeholder 2">
            <a:extLst>
              <a:ext uri="{FF2B5EF4-FFF2-40B4-BE49-F238E27FC236}">
                <a16:creationId xmlns:a16="http://schemas.microsoft.com/office/drawing/2014/main" id="{E74DD00D-D963-C7FA-CCF4-B57E3CF4FE70}"/>
              </a:ext>
            </a:extLst>
          </p:cNvPr>
          <p:cNvSpPr>
            <a:spLocks noGrp="1"/>
          </p:cNvSpPr>
          <p:nvPr>
            <p:ph idx="1"/>
          </p:nvPr>
        </p:nvSpPr>
        <p:spPr/>
        <p:txBody>
          <a:bodyPr>
            <a:normAutofit/>
          </a:bodyPr>
          <a:lstStyle/>
          <a:p>
            <a:r>
              <a:rPr lang="en-US" b="1" dirty="0"/>
              <a:t>LABEL</a:t>
            </a:r>
            <a:r>
              <a:rPr lang="en-US" dirty="0"/>
              <a:t>: Marks a location in the code for use as a reference.</a:t>
            </a:r>
          </a:p>
          <a:p>
            <a:pPr lvl="1"/>
            <a:r>
              <a:rPr lang="en-US" dirty="0"/>
              <a:t>Labels can be any valid identifier and are typically used to indicate where certain operations or blocks of code begin. </a:t>
            </a:r>
          </a:p>
          <a:p>
            <a:pPr lvl="1"/>
            <a:r>
              <a:rPr lang="en-US" dirty="0"/>
              <a:t>start: MOV AX, 1</a:t>
            </a:r>
            <a:endParaRPr lang="en-PK" dirty="0"/>
          </a:p>
        </p:txBody>
      </p:sp>
    </p:spTree>
    <p:extLst>
      <p:ext uri="{BB962C8B-B14F-4D97-AF65-F5344CB8AC3E}">
        <p14:creationId xmlns:p14="http://schemas.microsoft.com/office/powerpoint/2010/main" val="15210191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A8E22-18EA-1737-37BD-8E51237E28CC}"/>
              </a:ext>
            </a:extLst>
          </p:cNvPr>
          <p:cNvSpPr>
            <a:spLocks noGrp="1"/>
          </p:cNvSpPr>
          <p:nvPr>
            <p:ph type="title"/>
          </p:nvPr>
        </p:nvSpPr>
        <p:spPr/>
        <p:txBody>
          <a:bodyPr/>
          <a:lstStyle/>
          <a:p>
            <a:r>
              <a:rPr lang="en-US" dirty="0"/>
              <a:t>.model</a:t>
            </a:r>
            <a:endParaRPr lang="en-PK" dirty="0"/>
          </a:p>
        </p:txBody>
      </p:sp>
      <p:sp>
        <p:nvSpPr>
          <p:cNvPr id="3" name="Content Placeholder 2">
            <a:extLst>
              <a:ext uri="{FF2B5EF4-FFF2-40B4-BE49-F238E27FC236}">
                <a16:creationId xmlns:a16="http://schemas.microsoft.com/office/drawing/2014/main" id="{90D86770-B924-B476-F526-F4A1FB4BBCAB}"/>
              </a:ext>
            </a:extLst>
          </p:cNvPr>
          <p:cNvSpPr>
            <a:spLocks noGrp="1"/>
          </p:cNvSpPr>
          <p:nvPr>
            <p:ph idx="1"/>
          </p:nvPr>
        </p:nvSpPr>
        <p:spPr/>
        <p:txBody>
          <a:bodyPr>
            <a:normAutofit fontScale="85000" lnSpcReduction="20000"/>
          </a:bodyPr>
          <a:lstStyle/>
          <a:p>
            <a:pPr algn="just"/>
            <a:r>
              <a:rPr lang="en-US" dirty="0"/>
              <a:t>Specifies the memory model used by the program, which affects how the program accesses memory.</a:t>
            </a:r>
          </a:p>
          <a:p>
            <a:pPr algn="just"/>
            <a:r>
              <a:rPr lang="en-US" b="1" dirty="0"/>
              <a:t>Small</a:t>
            </a:r>
            <a:r>
              <a:rPr lang="en-US" dirty="0"/>
              <a:t>: Single segment for code and data. Suitable for small programs. Code and data are located in a single 64 KB segment. Well-suited for small programs that fit within the 64 KB limit.</a:t>
            </a:r>
          </a:p>
          <a:p>
            <a:pPr algn="just"/>
            <a:r>
              <a:rPr lang="en-US" b="1" dirty="0"/>
              <a:t>Medium</a:t>
            </a:r>
            <a:r>
              <a:rPr lang="en-US" dirty="0"/>
              <a:t>: One segment for code and one segment for data, allowing more code than the small model. Code and data have their own separate 64 KB segments. Suitable for larger programs, providing more flexibility.</a:t>
            </a:r>
          </a:p>
          <a:p>
            <a:pPr algn="just"/>
            <a:r>
              <a:rPr lang="en-US" b="1" dirty="0"/>
              <a:t>Large</a:t>
            </a:r>
            <a:r>
              <a:rPr lang="en-US" dirty="0"/>
              <a:t>: Multiple separate segments for code and data, allowing large programs with extensive data structures. Supports multiple code and data segments, each up to 64 KB in size. Useful for even larger programs, but with increased complexity.</a:t>
            </a:r>
          </a:p>
          <a:p>
            <a:pPr algn="just"/>
            <a:endParaRPr lang="en-US" dirty="0"/>
          </a:p>
        </p:txBody>
      </p:sp>
      <p:pic>
        <p:nvPicPr>
          <p:cNvPr id="5" name="Picture 4">
            <a:extLst>
              <a:ext uri="{FF2B5EF4-FFF2-40B4-BE49-F238E27FC236}">
                <a16:creationId xmlns:a16="http://schemas.microsoft.com/office/drawing/2014/main" id="{84FEB6D4-A2BA-47D7-7D62-61C4A2673441}"/>
              </a:ext>
            </a:extLst>
          </p:cNvPr>
          <p:cNvPicPr>
            <a:picLocks noChangeAspect="1"/>
          </p:cNvPicPr>
          <p:nvPr/>
        </p:nvPicPr>
        <p:blipFill>
          <a:blip r:embed="rId2"/>
          <a:stretch>
            <a:fillRect/>
          </a:stretch>
        </p:blipFill>
        <p:spPr>
          <a:xfrm>
            <a:off x="9511315" y="1249589"/>
            <a:ext cx="1790855" cy="1036410"/>
          </a:xfrm>
          <a:prstGeom prst="rect">
            <a:avLst/>
          </a:prstGeom>
        </p:spPr>
      </p:pic>
    </p:spTree>
    <p:extLst>
      <p:ext uri="{BB962C8B-B14F-4D97-AF65-F5344CB8AC3E}">
        <p14:creationId xmlns:p14="http://schemas.microsoft.com/office/powerpoint/2010/main" val="6144613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01BD1-3495-B590-AE2F-4CAD63730AF3}"/>
              </a:ext>
            </a:extLst>
          </p:cNvPr>
          <p:cNvSpPr>
            <a:spLocks noGrp="1"/>
          </p:cNvSpPr>
          <p:nvPr>
            <p:ph type="title"/>
          </p:nvPr>
        </p:nvSpPr>
        <p:spPr/>
        <p:txBody>
          <a:bodyPr/>
          <a:lstStyle/>
          <a:p>
            <a:r>
              <a:rPr lang="en-US" dirty="0"/>
              <a:t>.stack</a:t>
            </a:r>
            <a:endParaRPr lang="en-PK" dirty="0"/>
          </a:p>
        </p:txBody>
      </p:sp>
      <p:sp>
        <p:nvSpPr>
          <p:cNvPr id="3" name="Content Placeholder 2">
            <a:extLst>
              <a:ext uri="{FF2B5EF4-FFF2-40B4-BE49-F238E27FC236}">
                <a16:creationId xmlns:a16="http://schemas.microsoft.com/office/drawing/2014/main" id="{2812D746-8231-A01F-81A5-B8DC2E58046E}"/>
              </a:ext>
            </a:extLst>
          </p:cNvPr>
          <p:cNvSpPr>
            <a:spLocks noGrp="1"/>
          </p:cNvSpPr>
          <p:nvPr>
            <p:ph idx="1"/>
          </p:nvPr>
        </p:nvSpPr>
        <p:spPr/>
        <p:txBody>
          <a:bodyPr/>
          <a:lstStyle/>
          <a:p>
            <a:r>
              <a:rPr lang="en-US" dirty="0"/>
              <a:t>Defines the size of the stack segment. The stack is used for storing temporary data, function parameters, return addresses, and local variables.</a:t>
            </a:r>
          </a:p>
          <a:p>
            <a:r>
              <a:rPr lang="en-US" dirty="0"/>
              <a:t>100h in hexadecimal is equal to 256 in decimal</a:t>
            </a:r>
          </a:p>
          <a:p>
            <a:r>
              <a:rPr lang="en-US" dirty="0"/>
              <a:t>; is used for comment just as // in C++</a:t>
            </a:r>
            <a:endParaRPr lang="en-PK" dirty="0"/>
          </a:p>
        </p:txBody>
      </p:sp>
      <p:pic>
        <p:nvPicPr>
          <p:cNvPr id="5" name="Picture 4">
            <a:extLst>
              <a:ext uri="{FF2B5EF4-FFF2-40B4-BE49-F238E27FC236}">
                <a16:creationId xmlns:a16="http://schemas.microsoft.com/office/drawing/2014/main" id="{D60A0B1C-7B2C-E478-C35D-F70A4BFD9E01}"/>
              </a:ext>
            </a:extLst>
          </p:cNvPr>
          <p:cNvPicPr>
            <a:picLocks noChangeAspect="1"/>
          </p:cNvPicPr>
          <p:nvPr/>
        </p:nvPicPr>
        <p:blipFill>
          <a:blip r:embed="rId2"/>
          <a:stretch>
            <a:fillRect/>
          </a:stretch>
        </p:blipFill>
        <p:spPr>
          <a:xfrm>
            <a:off x="4103884" y="4748109"/>
            <a:ext cx="6141129" cy="1398692"/>
          </a:xfrm>
          <a:prstGeom prst="rect">
            <a:avLst/>
          </a:prstGeom>
        </p:spPr>
      </p:pic>
    </p:spTree>
    <p:extLst>
      <p:ext uri="{BB962C8B-B14F-4D97-AF65-F5344CB8AC3E}">
        <p14:creationId xmlns:p14="http://schemas.microsoft.com/office/powerpoint/2010/main" val="30740810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43587-489A-B025-0490-D0771E78E854}"/>
              </a:ext>
            </a:extLst>
          </p:cNvPr>
          <p:cNvSpPr>
            <a:spLocks noGrp="1"/>
          </p:cNvSpPr>
          <p:nvPr>
            <p:ph type="title"/>
          </p:nvPr>
        </p:nvSpPr>
        <p:spPr/>
        <p:txBody>
          <a:bodyPr/>
          <a:lstStyle/>
          <a:p>
            <a:r>
              <a:rPr lang="en-US" dirty="0"/>
              <a:t>.data</a:t>
            </a:r>
            <a:endParaRPr lang="en-PK" dirty="0"/>
          </a:p>
        </p:txBody>
      </p:sp>
      <p:sp>
        <p:nvSpPr>
          <p:cNvPr id="3" name="Content Placeholder 2">
            <a:extLst>
              <a:ext uri="{FF2B5EF4-FFF2-40B4-BE49-F238E27FC236}">
                <a16:creationId xmlns:a16="http://schemas.microsoft.com/office/drawing/2014/main" id="{071346FD-7D56-77C5-9D8D-A06F473AC251}"/>
              </a:ext>
            </a:extLst>
          </p:cNvPr>
          <p:cNvSpPr>
            <a:spLocks noGrp="1"/>
          </p:cNvSpPr>
          <p:nvPr>
            <p:ph idx="1"/>
          </p:nvPr>
        </p:nvSpPr>
        <p:spPr/>
        <p:txBody>
          <a:bodyPr/>
          <a:lstStyle/>
          <a:p>
            <a:r>
              <a:rPr lang="en-US" dirty="0"/>
              <a:t>Marks the beginning of the data segment, where initialized data is defined.</a:t>
            </a:r>
          </a:p>
          <a:p>
            <a:r>
              <a:rPr lang="en-US" dirty="0"/>
              <a:t>This is where you can declare variables that hold values that your program will use.</a:t>
            </a:r>
          </a:p>
          <a:p>
            <a:r>
              <a:rPr lang="en-US" dirty="0"/>
              <a:t>Message and count are just like variable names.</a:t>
            </a:r>
          </a:p>
          <a:p>
            <a:endParaRPr lang="en-US" dirty="0"/>
          </a:p>
          <a:p>
            <a:endParaRPr lang="en-PK" dirty="0"/>
          </a:p>
        </p:txBody>
      </p:sp>
      <p:pic>
        <p:nvPicPr>
          <p:cNvPr id="5" name="Picture 4">
            <a:extLst>
              <a:ext uri="{FF2B5EF4-FFF2-40B4-BE49-F238E27FC236}">
                <a16:creationId xmlns:a16="http://schemas.microsoft.com/office/drawing/2014/main" id="{BF89E502-F09C-6515-3F86-86324D5AD148}"/>
              </a:ext>
            </a:extLst>
          </p:cNvPr>
          <p:cNvPicPr>
            <a:picLocks noChangeAspect="1"/>
          </p:cNvPicPr>
          <p:nvPr/>
        </p:nvPicPr>
        <p:blipFill>
          <a:blip r:embed="rId2"/>
          <a:stretch>
            <a:fillRect/>
          </a:stretch>
        </p:blipFill>
        <p:spPr>
          <a:xfrm>
            <a:off x="1467591" y="4477657"/>
            <a:ext cx="8594068" cy="1176694"/>
          </a:xfrm>
          <a:prstGeom prst="rect">
            <a:avLst/>
          </a:prstGeom>
        </p:spPr>
      </p:pic>
    </p:spTree>
    <p:extLst>
      <p:ext uri="{BB962C8B-B14F-4D97-AF65-F5344CB8AC3E}">
        <p14:creationId xmlns:p14="http://schemas.microsoft.com/office/powerpoint/2010/main" val="33468549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EB8C0-DB57-4238-56AC-2E3C682034AB}"/>
              </a:ext>
            </a:extLst>
          </p:cNvPr>
          <p:cNvSpPr>
            <a:spLocks noGrp="1"/>
          </p:cNvSpPr>
          <p:nvPr>
            <p:ph type="title"/>
          </p:nvPr>
        </p:nvSpPr>
        <p:spPr/>
        <p:txBody>
          <a:bodyPr/>
          <a:lstStyle/>
          <a:p>
            <a:r>
              <a:rPr lang="en-US" dirty="0"/>
              <a:t>.code</a:t>
            </a:r>
            <a:endParaRPr lang="en-PK" dirty="0"/>
          </a:p>
        </p:txBody>
      </p:sp>
      <p:sp>
        <p:nvSpPr>
          <p:cNvPr id="3" name="Content Placeholder 2">
            <a:extLst>
              <a:ext uri="{FF2B5EF4-FFF2-40B4-BE49-F238E27FC236}">
                <a16:creationId xmlns:a16="http://schemas.microsoft.com/office/drawing/2014/main" id="{B5D5D809-8122-9822-F153-6E8057408958}"/>
              </a:ext>
            </a:extLst>
          </p:cNvPr>
          <p:cNvSpPr>
            <a:spLocks noGrp="1"/>
          </p:cNvSpPr>
          <p:nvPr>
            <p:ph idx="1"/>
          </p:nvPr>
        </p:nvSpPr>
        <p:spPr/>
        <p:txBody>
          <a:bodyPr/>
          <a:lstStyle/>
          <a:p>
            <a:r>
              <a:rPr lang="en-US" dirty="0"/>
              <a:t>Indicates the beginning of the code segment, where the actual instructions (the executable part of the program) are written.</a:t>
            </a:r>
          </a:p>
          <a:p>
            <a:endParaRPr lang="en-PK" dirty="0"/>
          </a:p>
        </p:txBody>
      </p:sp>
      <p:pic>
        <p:nvPicPr>
          <p:cNvPr id="5" name="Picture 4">
            <a:extLst>
              <a:ext uri="{FF2B5EF4-FFF2-40B4-BE49-F238E27FC236}">
                <a16:creationId xmlns:a16="http://schemas.microsoft.com/office/drawing/2014/main" id="{E616F1FE-371F-A774-8ABD-2CF8E045D4DB}"/>
              </a:ext>
            </a:extLst>
          </p:cNvPr>
          <p:cNvPicPr>
            <a:picLocks noChangeAspect="1"/>
          </p:cNvPicPr>
          <p:nvPr/>
        </p:nvPicPr>
        <p:blipFill>
          <a:blip r:embed="rId2"/>
          <a:stretch>
            <a:fillRect/>
          </a:stretch>
        </p:blipFill>
        <p:spPr>
          <a:xfrm>
            <a:off x="3953448" y="3555221"/>
            <a:ext cx="4854650" cy="2591580"/>
          </a:xfrm>
          <a:prstGeom prst="rect">
            <a:avLst/>
          </a:prstGeom>
        </p:spPr>
      </p:pic>
    </p:spTree>
    <p:extLst>
      <p:ext uri="{BB962C8B-B14F-4D97-AF65-F5344CB8AC3E}">
        <p14:creationId xmlns:p14="http://schemas.microsoft.com/office/powerpoint/2010/main" val="5908233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4306F-EB58-0AE9-E4D4-463B7AA07F67}"/>
              </a:ext>
            </a:extLst>
          </p:cNvPr>
          <p:cNvSpPr>
            <a:spLocks noGrp="1"/>
          </p:cNvSpPr>
          <p:nvPr>
            <p:ph type="title"/>
          </p:nvPr>
        </p:nvSpPr>
        <p:spPr/>
        <p:txBody>
          <a:bodyPr/>
          <a:lstStyle/>
          <a:p>
            <a:r>
              <a:rPr lang="en-US" dirty="0"/>
              <a:t>.exit</a:t>
            </a:r>
            <a:endParaRPr lang="en-PK" dirty="0"/>
          </a:p>
        </p:txBody>
      </p:sp>
      <p:sp>
        <p:nvSpPr>
          <p:cNvPr id="3" name="Content Placeholder 2">
            <a:extLst>
              <a:ext uri="{FF2B5EF4-FFF2-40B4-BE49-F238E27FC236}">
                <a16:creationId xmlns:a16="http://schemas.microsoft.com/office/drawing/2014/main" id="{47E617B4-1410-25EA-4334-C4FA3F2FCBC8}"/>
              </a:ext>
            </a:extLst>
          </p:cNvPr>
          <p:cNvSpPr>
            <a:spLocks noGrp="1"/>
          </p:cNvSpPr>
          <p:nvPr>
            <p:ph idx="1"/>
          </p:nvPr>
        </p:nvSpPr>
        <p:spPr/>
        <p:txBody>
          <a:bodyPr/>
          <a:lstStyle/>
          <a:p>
            <a:r>
              <a:rPr lang="en-US" dirty="0"/>
              <a:t>.exit or .end</a:t>
            </a:r>
          </a:p>
          <a:p>
            <a:r>
              <a:rPr lang="en-US" dirty="0"/>
              <a:t>Marks the end of the program or code segment. It can signal to the assembler or the linker that there are no more instructions or data to process.</a:t>
            </a:r>
          </a:p>
          <a:p>
            <a:r>
              <a:rPr lang="en-US" dirty="0"/>
              <a:t>Marks the point in the code where the program will perform the termination process</a:t>
            </a:r>
            <a:endParaRPr lang="en-PK" dirty="0"/>
          </a:p>
        </p:txBody>
      </p:sp>
      <p:pic>
        <p:nvPicPr>
          <p:cNvPr id="5" name="Picture 4">
            <a:extLst>
              <a:ext uri="{FF2B5EF4-FFF2-40B4-BE49-F238E27FC236}">
                <a16:creationId xmlns:a16="http://schemas.microsoft.com/office/drawing/2014/main" id="{6EA3F38F-5E8D-D185-8C1B-FED219965A2F}"/>
              </a:ext>
            </a:extLst>
          </p:cNvPr>
          <p:cNvPicPr>
            <a:picLocks noChangeAspect="1"/>
          </p:cNvPicPr>
          <p:nvPr/>
        </p:nvPicPr>
        <p:blipFill>
          <a:blip r:embed="rId3"/>
          <a:stretch>
            <a:fillRect/>
          </a:stretch>
        </p:blipFill>
        <p:spPr>
          <a:xfrm>
            <a:off x="1977824" y="4786603"/>
            <a:ext cx="7537915" cy="1160529"/>
          </a:xfrm>
          <a:prstGeom prst="rect">
            <a:avLst/>
          </a:prstGeom>
        </p:spPr>
      </p:pic>
    </p:spTree>
    <p:extLst>
      <p:ext uri="{BB962C8B-B14F-4D97-AF65-F5344CB8AC3E}">
        <p14:creationId xmlns:p14="http://schemas.microsoft.com/office/powerpoint/2010/main" val="15383569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07C4F-C9F5-98E1-316F-D118BE44CBCF}"/>
              </a:ext>
            </a:extLst>
          </p:cNvPr>
          <p:cNvSpPr>
            <a:spLocks noGrp="1"/>
          </p:cNvSpPr>
          <p:nvPr>
            <p:ph type="title"/>
          </p:nvPr>
        </p:nvSpPr>
        <p:spPr/>
        <p:txBody>
          <a:bodyPr/>
          <a:lstStyle/>
          <a:p>
            <a:r>
              <a:rPr lang="en-US" dirty="0"/>
              <a:t>First Assembly Language Program</a:t>
            </a:r>
            <a:endParaRPr lang="en-PK" dirty="0"/>
          </a:p>
        </p:txBody>
      </p:sp>
      <p:pic>
        <p:nvPicPr>
          <p:cNvPr id="7" name="Content Placeholder 6">
            <a:extLst>
              <a:ext uri="{FF2B5EF4-FFF2-40B4-BE49-F238E27FC236}">
                <a16:creationId xmlns:a16="http://schemas.microsoft.com/office/drawing/2014/main" id="{97C74895-1E8E-FE66-DEC3-EB5600D0D338}"/>
              </a:ext>
            </a:extLst>
          </p:cNvPr>
          <p:cNvPicPr>
            <a:picLocks noGrp="1" noChangeAspect="1"/>
          </p:cNvPicPr>
          <p:nvPr>
            <p:ph idx="1"/>
          </p:nvPr>
        </p:nvPicPr>
        <p:blipFill>
          <a:blip r:embed="rId3"/>
          <a:stretch>
            <a:fillRect/>
          </a:stretch>
        </p:blipFill>
        <p:spPr>
          <a:xfrm>
            <a:off x="4902767" y="2551579"/>
            <a:ext cx="2386466" cy="3677843"/>
          </a:xfrm>
          <a:prstGeom prst="rect">
            <a:avLst/>
          </a:prstGeom>
        </p:spPr>
      </p:pic>
    </p:spTree>
    <p:extLst>
      <p:ext uri="{BB962C8B-B14F-4D97-AF65-F5344CB8AC3E}">
        <p14:creationId xmlns:p14="http://schemas.microsoft.com/office/powerpoint/2010/main" val="16051121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AF0E1-70A1-E942-AE57-206775ED9F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E4C61C-A75D-7F1C-59B3-F0396A270451}"/>
              </a:ext>
            </a:extLst>
          </p:cNvPr>
          <p:cNvSpPr>
            <a:spLocks noGrp="1"/>
          </p:cNvSpPr>
          <p:nvPr>
            <p:ph type="title"/>
          </p:nvPr>
        </p:nvSpPr>
        <p:spPr/>
        <p:txBody>
          <a:bodyPr/>
          <a:lstStyle/>
          <a:p>
            <a:r>
              <a:rPr lang="en-US" dirty="0"/>
              <a:t>Example</a:t>
            </a:r>
            <a:endParaRPr lang="en-PK" dirty="0"/>
          </a:p>
        </p:txBody>
      </p:sp>
      <p:pic>
        <p:nvPicPr>
          <p:cNvPr id="5" name="Content Placeholder 4">
            <a:extLst>
              <a:ext uri="{FF2B5EF4-FFF2-40B4-BE49-F238E27FC236}">
                <a16:creationId xmlns:a16="http://schemas.microsoft.com/office/drawing/2014/main" id="{4B2536EF-46E1-102C-C0DF-1E1FFA38D8FD}"/>
              </a:ext>
            </a:extLst>
          </p:cNvPr>
          <p:cNvPicPr>
            <a:picLocks noGrp="1" noChangeAspect="1"/>
          </p:cNvPicPr>
          <p:nvPr>
            <p:ph idx="1"/>
          </p:nvPr>
        </p:nvPicPr>
        <p:blipFill>
          <a:blip r:embed="rId2"/>
          <a:stretch>
            <a:fillRect/>
          </a:stretch>
        </p:blipFill>
        <p:spPr>
          <a:xfrm>
            <a:off x="3648269" y="2690050"/>
            <a:ext cx="4315331" cy="3202286"/>
          </a:xfrm>
        </p:spPr>
      </p:pic>
    </p:spTree>
    <p:extLst>
      <p:ext uri="{BB962C8B-B14F-4D97-AF65-F5344CB8AC3E}">
        <p14:creationId xmlns:p14="http://schemas.microsoft.com/office/powerpoint/2010/main" val="23185287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50BB1-C107-6686-E407-A740198F590C}"/>
              </a:ext>
            </a:extLst>
          </p:cNvPr>
          <p:cNvSpPr>
            <a:spLocks noGrp="1"/>
          </p:cNvSpPr>
          <p:nvPr>
            <p:ph type="title"/>
          </p:nvPr>
        </p:nvSpPr>
        <p:spPr/>
        <p:txBody>
          <a:bodyPr/>
          <a:lstStyle/>
          <a:p>
            <a:r>
              <a:rPr lang="en-US" dirty="0"/>
              <a:t>Program to add 2 numbers</a:t>
            </a:r>
            <a:endParaRPr lang="en-PK" dirty="0"/>
          </a:p>
        </p:txBody>
      </p:sp>
      <p:pic>
        <p:nvPicPr>
          <p:cNvPr id="5" name="Content Placeholder 4">
            <a:extLst>
              <a:ext uri="{FF2B5EF4-FFF2-40B4-BE49-F238E27FC236}">
                <a16:creationId xmlns:a16="http://schemas.microsoft.com/office/drawing/2014/main" id="{F93003B8-B9BA-616B-8E70-986F81638914}"/>
              </a:ext>
            </a:extLst>
          </p:cNvPr>
          <p:cNvPicPr>
            <a:picLocks noGrp="1" noChangeAspect="1"/>
          </p:cNvPicPr>
          <p:nvPr>
            <p:ph idx="1"/>
          </p:nvPr>
        </p:nvPicPr>
        <p:blipFill>
          <a:blip r:embed="rId2"/>
          <a:srcRect b="75297"/>
          <a:stretch/>
        </p:blipFill>
        <p:spPr>
          <a:xfrm>
            <a:off x="3821374" y="2557463"/>
            <a:ext cx="7116160" cy="1282084"/>
          </a:xfrm>
        </p:spPr>
      </p:pic>
      <p:pic>
        <p:nvPicPr>
          <p:cNvPr id="3" name="Content Placeholder 4">
            <a:extLst>
              <a:ext uri="{FF2B5EF4-FFF2-40B4-BE49-F238E27FC236}">
                <a16:creationId xmlns:a16="http://schemas.microsoft.com/office/drawing/2014/main" id="{A1FED0B4-DB24-DBC4-977F-C0A22F960C4A}"/>
              </a:ext>
            </a:extLst>
          </p:cNvPr>
          <p:cNvPicPr>
            <a:picLocks noChangeAspect="1"/>
          </p:cNvPicPr>
          <p:nvPr/>
        </p:nvPicPr>
        <p:blipFill>
          <a:blip r:embed="rId2"/>
          <a:srcRect t="44847" b="22888"/>
          <a:stretch/>
        </p:blipFill>
        <p:spPr>
          <a:xfrm>
            <a:off x="3677282" y="3839546"/>
            <a:ext cx="5999263" cy="1411733"/>
          </a:xfrm>
          <a:prstGeom prst="rect">
            <a:avLst/>
          </a:prstGeom>
        </p:spPr>
      </p:pic>
    </p:spTree>
    <p:extLst>
      <p:ext uri="{BB962C8B-B14F-4D97-AF65-F5344CB8AC3E}">
        <p14:creationId xmlns:p14="http://schemas.microsoft.com/office/powerpoint/2010/main" val="571951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54628-999F-DD7F-CC7E-20C393638B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614215-C2A0-F095-7715-F23032ED37BA}"/>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5637A527-BC57-D105-481E-2D4AB53C3F96}"/>
              </a:ext>
            </a:extLst>
          </p:cNvPr>
          <p:cNvSpPr>
            <a:spLocks noGrp="1"/>
          </p:cNvSpPr>
          <p:nvPr>
            <p:ph idx="1"/>
          </p:nvPr>
        </p:nvSpPr>
        <p:spPr/>
        <p:txBody>
          <a:bodyPr>
            <a:normAutofit fontScale="92500" lnSpcReduction="20000"/>
          </a:bodyPr>
          <a:lstStyle/>
          <a:p>
            <a:r>
              <a:rPr lang="en-US" dirty="0"/>
              <a:t>Structure of an Assembly Language Program</a:t>
            </a:r>
          </a:p>
          <a:p>
            <a:r>
              <a:rPr lang="en-US" dirty="0"/>
              <a:t>.model small ; Select a memory model.</a:t>
            </a:r>
          </a:p>
          <a:p>
            <a:r>
              <a:rPr lang="en-US" dirty="0"/>
              <a:t>.stack </a:t>
            </a:r>
            <a:r>
              <a:rPr lang="en-US" dirty="0" err="1"/>
              <a:t>stack_size</a:t>
            </a:r>
            <a:r>
              <a:rPr lang="en-US" dirty="0"/>
              <a:t> ; Define the stack size</a:t>
            </a:r>
          </a:p>
          <a:p>
            <a:r>
              <a:rPr lang="en-US" dirty="0"/>
              <a:t>.data ; Variable and array declarations</a:t>
            </a:r>
          </a:p>
          <a:p>
            <a:pPr lvl="1"/>
            <a:r>
              <a:rPr lang="en-US" dirty="0"/>
              <a:t>Declare variables at this level</a:t>
            </a:r>
          </a:p>
          <a:p>
            <a:r>
              <a:rPr lang="en-US" dirty="0"/>
              <a:t>.code</a:t>
            </a:r>
          </a:p>
          <a:p>
            <a:r>
              <a:rPr lang="en-US" dirty="0"/>
              <a:t>main proc ; Write the program main code at this level</a:t>
            </a:r>
          </a:p>
          <a:p>
            <a:r>
              <a:rPr lang="en-US" dirty="0"/>
              <a:t>main </a:t>
            </a:r>
            <a:r>
              <a:rPr lang="en-US" dirty="0" err="1"/>
              <a:t>endp</a:t>
            </a:r>
            <a:r>
              <a:rPr lang="en-US" dirty="0"/>
              <a:t> ; End of program</a:t>
            </a:r>
          </a:p>
        </p:txBody>
      </p:sp>
    </p:spTree>
    <p:extLst>
      <p:ext uri="{BB962C8B-B14F-4D97-AF65-F5344CB8AC3E}">
        <p14:creationId xmlns:p14="http://schemas.microsoft.com/office/powerpoint/2010/main" val="29583985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8C98D-0627-E50E-4006-739C44A666DA}"/>
              </a:ext>
            </a:extLst>
          </p:cNvPr>
          <p:cNvSpPr>
            <a:spLocks noGrp="1"/>
          </p:cNvSpPr>
          <p:nvPr>
            <p:ph type="title"/>
          </p:nvPr>
        </p:nvSpPr>
        <p:spPr/>
        <p:txBody>
          <a:bodyPr>
            <a:normAutofit/>
          </a:bodyPr>
          <a:lstStyle/>
          <a:p>
            <a:r>
              <a:rPr lang="en-US" dirty="0"/>
              <a:t>MOV Instruction</a:t>
            </a:r>
            <a:endParaRPr lang="en-PK" dirty="0"/>
          </a:p>
        </p:txBody>
      </p:sp>
      <p:sp>
        <p:nvSpPr>
          <p:cNvPr id="3" name="Content Placeholder 2">
            <a:extLst>
              <a:ext uri="{FF2B5EF4-FFF2-40B4-BE49-F238E27FC236}">
                <a16:creationId xmlns:a16="http://schemas.microsoft.com/office/drawing/2014/main" id="{EF43FBA1-3A00-BAED-A8B2-811A33F039FD}"/>
              </a:ext>
            </a:extLst>
          </p:cNvPr>
          <p:cNvSpPr>
            <a:spLocks noGrp="1"/>
          </p:cNvSpPr>
          <p:nvPr>
            <p:ph idx="1"/>
          </p:nvPr>
        </p:nvSpPr>
        <p:spPr/>
        <p:txBody>
          <a:bodyPr/>
          <a:lstStyle/>
          <a:p>
            <a:r>
              <a:rPr lang="en-US" dirty="0"/>
              <a:t>Transfer data from one location to another</a:t>
            </a:r>
          </a:p>
          <a:p>
            <a:r>
              <a:rPr lang="en-US" dirty="0"/>
              <a:t>Between registers, between a register and memory, or between a register and an immediate (constant) value</a:t>
            </a:r>
          </a:p>
          <a:p>
            <a:pPr lvl="1"/>
            <a:r>
              <a:rPr lang="en-US" dirty="0"/>
              <a:t>Mov AL, [num1]	or	Mov AL, 5</a:t>
            </a:r>
          </a:p>
          <a:p>
            <a:r>
              <a:rPr lang="en-US" dirty="0"/>
              <a:t>Does not perform any arithmetic operation</a:t>
            </a:r>
          </a:p>
          <a:p>
            <a:r>
              <a:rPr lang="en-US" dirty="0"/>
              <a:t>It simply copies the value from the source to the destination.</a:t>
            </a:r>
            <a:endParaRPr lang="en-PK" dirty="0"/>
          </a:p>
        </p:txBody>
      </p:sp>
    </p:spTree>
    <p:extLst>
      <p:ext uri="{BB962C8B-B14F-4D97-AF65-F5344CB8AC3E}">
        <p14:creationId xmlns:p14="http://schemas.microsoft.com/office/powerpoint/2010/main" val="9581067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D934E2-9263-4E38-D547-E6E97880C6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8701C8-4BC3-F882-A93F-96B061A012B4}"/>
              </a:ext>
            </a:extLst>
          </p:cNvPr>
          <p:cNvSpPr>
            <a:spLocks noGrp="1"/>
          </p:cNvSpPr>
          <p:nvPr>
            <p:ph type="title"/>
          </p:nvPr>
        </p:nvSpPr>
        <p:spPr/>
        <p:txBody>
          <a:bodyPr>
            <a:normAutofit/>
          </a:bodyPr>
          <a:lstStyle/>
          <a:p>
            <a:r>
              <a:rPr lang="en-US" dirty="0"/>
              <a:t>MOV Instruction – Syntax</a:t>
            </a:r>
            <a:endParaRPr lang="en-PK" dirty="0"/>
          </a:p>
        </p:txBody>
      </p:sp>
      <p:sp>
        <p:nvSpPr>
          <p:cNvPr id="7" name="Content Placeholder 6">
            <a:extLst>
              <a:ext uri="{FF2B5EF4-FFF2-40B4-BE49-F238E27FC236}">
                <a16:creationId xmlns:a16="http://schemas.microsoft.com/office/drawing/2014/main" id="{7271A536-2FFB-0960-2BC8-08F3DD218E05}"/>
              </a:ext>
            </a:extLst>
          </p:cNvPr>
          <p:cNvSpPr>
            <a:spLocks noGrp="1"/>
          </p:cNvSpPr>
          <p:nvPr>
            <p:ph idx="1"/>
          </p:nvPr>
        </p:nvSpPr>
        <p:spPr/>
        <p:txBody>
          <a:bodyPr/>
          <a:lstStyle/>
          <a:p>
            <a:r>
              <a:rPr lang="en-US" dirty="0"/>
              <a:t>The basic syntax of MOV instruction is:</a:t>
            </a:r>
          </a:p>
          <a:p>
            <a:r>
              <a:rPr lang="en-US" b="1" dirty="0"/>
              <a:t>Destination</a:t>
            </a:r>
            <a:r>
              <a:rPr lang="en-US" dirty="0"/>
              <a:t>: The location where the data will be copied to (this can be a register or a memory address).</a:t>
            </a:r>
          </a:p>
          <a:p>
            <a:r>
              <a:rPr lang="en-US" b="1" dirty="0"/>
              <a:t>Source</a:t>
            </a:r>
            <a:r>
              <a:rPr lang="en-US" dirty="0"/>
              <a:t>: The location from which the data will be copied (this can also be a register, memory address, or an immediate value).</a:t>
            </a:r>
          </a:p>
        </p:txBody>
      </p:sp>
      <p:pic>
        <p:nvPicPr>
          <p:cNvPr id="9" name="Picture 8">
            <a:extLst>
              <a:ext uri="{FF2B5EF4-FFF2-40B4-BE49-F238E27FC236}">
                <a16:creationId xmlns:a16="http://schemas.microsoft.com/office/drawing/2014/main" id="{3925684E-95A7-D99F-E4D6-33DE52752185}"/>
              </a:ext>
            </a:extLst>
          </p:cNvPr>
          <p:cNvPicPr>
            <a:picLocks noChangeAspect="1"/>
          </p:cNvPicPr>
          <p:nvPr/>
        </p:nvPicPr>
        <p:blipFill>
          <a:blip r:embed="rId2"/>
          <a:srcRect t="57409"/>
          <a:stretch/>
        </p:blipFill>
        <p:spPr>
          <a:xfrm>
            <a:off x="7302316" y="2556932"/>
            <a:ext cx="3017782" cy="509581"/>
          </a:xfrm>
          <a:prstGeom prst="rect">
            <a:avLst/>
          </a:prstGeom>
        </p:spPr>
      </p:pic>
    </p:spTree>
    <p:extLst>
      <p:ext uri="{BB962C8B-B14F-4D97-AF65-F5344CB8AC3E}">
        <p14:creationId xmlns:p14="http://schemas.microsoft.com/office/powerpoint/2010/main" val="128817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08C35-C072-4977-1890-44F50C89C18F}"/>
              </a:ext>
            </a:extLst>
          </p:cNvPr>
          <p:cNvSpPr>
            <a:spLocks noGrp="1"/>
          </p:cNvSpPr>
          <p:nvPr>
            <p:ph type="title"/>
          </p:nvPr>
        </p:nvSpPr>
        <p:spPr/>
        <p:txBody>
          <a:bodyPr/>
          <a:lstStyle/>
          <a:p>
            <a:r>
              <a:rPr lang="en-US" dirty="0"/>
              <a:t>Data Movement Among Registers</a:t>
            </a:r>
            <a:endParaRPr lang="en-PK" dirty="0"/>
          </a:p>
        </p:txBody>
      </p:sp>
      <p:sp>
        <p:nvSpPr>
          <p:cNvPr id="3" name="Content Placeholder 2">
            <a:extLst>
              <a:ext uri="{FF2B5EF4-FFF2-40B4-BE49-F238E27FC236}">
                <a16:creationId xmlns:a16="http://schemas.microsoft.com/office/drawing/2014/main" id="{B371A93B-7DAF-CA4C-8177-78C2B510D351}"/>
              </a:ext>
            </a:extLst>
          </p:cNvPr>
          <p:cNvSpPr>
            <a:spLocks noGrp="1"/>
          </p:cNvSpPr>
          <p:nvPr>
            <p:ph idx="1"/>
          </p:nvPr>
        </p:nvSpPr>
        <p:spPr/>
        <p:txBody>
          <a:bodyPr/>
          <a:lstStyle/>
          <a:p>
            <a:r>
              <a:rPr lang="en-US" dirty="0"/>
              <a:t>Moving Data Between General-Purpose Registers</a:t>
            </a:r>
          </a:p>
          <a:p>
            <a:pPr lvl="1"/>
            <a:r>
              <a:rPr lang="en-US" dirty="0"/>
              <a:t>MOV AX, BX ; Move the value in BX to AX</a:t>
            </a:r>
          </a:p>
          <a:p>
            <a:r>
              <a:rPr lang="en-US" dirty="0"/>
              <a:t>Moving Immediate Values into Registers</a:t>
            </a:r>
          </a:p>
          <a:p>
            <a:pPr lvl="1"/>
            <a:r>
              <a:rPr lang="en-US" dirty="0"/>
              <a:t>MOV CX, 10  ; Move the immediate value 10 into CX</a:t>
            </a:r>
          </a:p>
          <a:p>
            <a:pPr lvl="1"/>
            <a:endParaRPr lang="en-US" dirty="0"/>
          </a:p>
          <a:p>
            <a:r>
              <a:rPr lang="en-US" dirty="0"/>
              <a:t>Mov 10, CX (Is that valid?)</a:t>
            </a:r>
          </a:p>
          <a:p>
            <a:endParaRPr lang="en-US" dirty="0"/>
          </a:p>
          <a:p>
            <a:endParaRPr lang="en-PK" dirty="0"/>
          </a:p>
        </p:txBody>
      </p:sp>
    </p:spTree>
    <p:extLst>
      <p:ext uri="{BB962C8B-B14F-4D97-AF65-F5344CB8AC3E}">
        <p14:creationId xmlns:p14="http://schemas.microsoft.com/office/powerpoint/2010/main" val="30178760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Machine Instruction Elements</a:t>
            </a:r>
          </a:p>
        </p:txBody>
      </p:sp>
      <p:sp>
        <p:nvSpPr>
          <p:cNvPr id="6" name="Content Placeholder 5"/>
          <p:cNvSpPr>
            <a:spLocks noGrp="1"/>
          </p:cNvSpPr>
          <p:nvPr>
            <p:ph idx="1"/>
          </p:nvPr>
        </p:nvSpPr>
        <p:spPr>
          <a:xfrm>
            <a:off x="876300" y="2845836"/>
            <a:ext cx="10628312" cy="3065385"/>
          </a:xfrm>
        </p:spPr>
        <p:txBody>
          <a:bodyPr>
            <a:noAutofit/>
          </a:bodyPr>
          <a:lstStyle/>
          <a:p>
            <a:pPr algn="just"/>
            <a:r>
              <a:rPr lang="en-US" sz="2400" dirty="0"/>
              <a:t>Each instruction must have elements that contain the information required by the CPU for execution.</a:t>
            </a:r>
          </a:p>
          <a:p>
            <a:pPr algn="just"/>
            <a:r>
              <a:rPr lang="en-US" sz="2400" dirty="0"/>
              <a:t>These elements can be:  </a:t>
            </a:r>
          </a:p>
          <a:p>
            <a:pPr lvl="1" algn="just"/>
            <a:r>
              <a:rPr lang="en-US" sz="2100" b="1" dirty="0"/>
              <a:t>Operation code</a:t>
            </a:r>
            <a:r>
              <a:rPr lang="en-US" sz="2100" dirty="0"/>
              <a:t>: Specifies the operation to be performed (e.g.. ADD, I/O). The operation is specified by a binary code, known as the operation code, or opcode.</a:t>
            </a:r>
          </a:p>
          <a:p>
            <a:pPr lvl="2" algn="just"/>
            <a:r>
              <a:rPr lang="en-US" sz="1900" dirty="0"/>
              <a:t>ADD, SUB, MOV, or JMP translate to opcodes in machine language</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2E592-78C6-B280-4556-B9E966418A2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AB376BC-6053-805D-6677-35F358B5CE1D}"/>
              </a:ext>
            </a:extLst>
          </p:cNvPr>
          <p:cNvSpPr>
            <a:spLocks noGrp="1"/>
          </p:cNvSpPr>
          <p:nvPr>
            <p:ph type="title"/>
          </p:nvPr>
        </p:nvSpPr>
        <p:spPr/>
        <p:txBody>
          <a:bodyPr/>
          <a:lstStyle/>
          <a:p>
            <a:r>
              <a:rPr lang="en-US" dirty="0"/>
              <a:t>Machine Instruction Elements</a:t>
            </a:r>
          </a:p>
        </p:txBody>
      </p:sp>
      <p:sp>
        <p:nvSpPr>
          <p:cNvPr id="6" name="Content Placeholder 5">
            <a:extLst>
              <a:ext uri="{FF2B5EF4-FFF2-40B4-BE49-F238E27FC236}">
                <a16:creationId xmlns:a16="http://schemas.microsoft.com/office/drawing/2014/main" id="{330DFDA8-3D9C-E508-D9BD-ACE74545524B}"/>
              </a:ext>
            </a:extLst>
          </p:cNvPr>
          <p:cNvSpPr>
            <a:spLocks noGrp="1"/>
          </p:cNvSpPr>
          <p:nvPr>
            <p:ph idx="1"/>
          </p:nvPr>
        </p:nvSpPr>
        <p:spPr>
          <a:xfrm>
            <a:off x="876300" y="2845836"/>
            <a:ext cx="10628312" cy="3065385"/>
          </a:xfrm>
        </p:spPr>
        <p:txBody>
          <a:bodyPr>
            <a:noAutofit/>
          </a:bodyPr>
          <a:lstStyle/>
          <a:p>
            <a:pPr lvl="1" algn="just"/>
            <a:r>
              <a:rPr lang="en-US" sz="2000" b="1" dirty="0"/>
              <a:t>Source operand reference</a:t>
            </a:r>
            <a:r>
              <a:rPr lang="en-US" sz="2000" dirty="0"/>
              <a:t>: The operation may involve one or more source operands, that is, operands that are inputs for the operation. </a:t>
            </a:r>
          </a:p>
          <a:p>
            <a:pPr lvl="1" algn="just"/>
            <a:r>
              <a:rPr lang="en-US" sz="2000" b="1" dirty="0"/>
              <a:t>Result operand reference</a:t>
            </a:r>
            <a:r>
              <a:rPr lang="en-US" sz="2000" dirty="0"/>
              <a:t>: The operation may produce a result.  Also called destination operand.</a:t>
            </a:r>
          </a:p>
          <a:p>
            <a:pPr lvl="1" algn="just"/>
            <a:r>
              <a:rPr lang="en-US" sz="2000" b="1" dirty="0"/>
              <a:t>Next instruction reference</a:t>
            </a:r>
            <a:r>
              <a:rPr lang="en-US" sz="2000" dirty="0"/>
              <a:t>: This tells the CPU where to fetch the next instruction from.</a:t>
            </a:r>
            <a:endParaRPr lang="en-US" sz="1900" dirty="0"/>
          </a:p>
        </p:txBody>
      </p:sp>
      <p:sp>
        <p:nvSpPr>
          <p:cNvPr id="4" name="Slide Number Placeholder 3">
            <a:extLst>
              <a:ext uri="{FF2B5EF4-FFF2-40B4-BE49-F238E27FC236}">
                <a16:creationId xmlns:a16="http://schemas.microsoft.com/office/drawing/2014/main" id="{E6EEF34E-F5EE-857C-F86F-2759E0C085C8}"/>
              </a:ext>
            </a:extLst>
          </p:cNvPr>
          <p:cNvSpPr>
            <a:spLocks noGrp="1"/>
          </p:cNvSpPr>
          <p:nvPr>
            <p:ph type="sldNum" sz="quarter" idx="12"/>
          </p:nvPr>
        </p:nvSpPr>
        <p:spPr/>
        <p:txBody>
          <a:bodyPr/>
          <a:lstStyle/>
          <a:p>
            <a:fld id="{B6F15528-21DE-4FAA-801E-634DDDAF4B2B}" type="slidenum">
              <a:rPr lang="en-US" smtClean="0"/>
              <a:pPr/>
              <a:t>24</a:t>
            </a:fld>
            <a:endParaRPr lang="en-US"/>
          </a:p>
        </p:txBody>
      </p:sp>
    </p:spTree>
    <p:extLst>
      <p:ext uri="{BB962C8B-B14F-4D97-AF65-F5344CB8AC3E}">
        <p14:creationId xmlns:p14="http://schemas.microsoft.com/office/powerpoint/2010/main" val="38690317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Instruction Representation</a:t>
            </a:r>
          </a:p>
        </p:txBody>
      </p:sp>
      <p:sp>
        <p:nvSpPr>
          <p:cNvPr id="4" name="Content Placeholder 3"/>
          <p:cNvSpPr>
            <a:spLocks noGrp="1"/>
          </p:cNvSpPr>
          <p:nvPr>
            <p:ph idx="1"/>
          </p:nvPr>
        </p:nvSpPr>
        <p:spPr>
          <a:xfrm>
            <a:off x="1981200" y="2603240"/>
            <a:ext cx="8229600" cy="1824828"/>
          </a:xfrm>
        </p:spPr>
        <p:txBody>
          <a:bodyPr>
            <a:normAutofit fontScale="62500" lnSpcReduction="20000"/>
          </a:bodyPr>
          <a:lstStyle/>
          <a:p>
            <a:pPr algn="just"/>
            <a:r>
              <a:rPr lang="en-US" sz="2400" dirty="0"/>
              <a:t>Within the computer, each instruction is represented by a sequence of bits. </a:t>
            </a:r>
          </a:p>
          <a:p>
            <a:pPr algn="just"/>
            <a:r>
              <a:rPr lang="en-US" sz="2400" dirty="0"/>
              <a:t>16 bits instruction</a:t>
            </a:r>
          </a:p>
          <a:p>
            <a:pPr lvl="1" algn="just"/>
            <a:r>
              <a:rPr lang="en-US" sz="2000" dirty="0"/>
              <a:t>4 bit </a:t>
            </a:r>
            <a:r>
              <a:rPr lang="en-US" sz="2000" dirty="0" err="1"/>
              <a:t>opcode</a:t>
            </a:r>
            <a:r>
              <a:rPr lang="en-US" sz="2000" dirty="0"/>
              <a:t>, 6 bit operand 1, 6 bit operand 2</a:t>
            </a:r>
          </a:p>
          <a:p>
            <a:pPr lvl="1" algn="just"/>
            <a:r>
              <a:rPr lang="en-US" sz="2000" dirty="0"/>
              <a:t>4 bit </a:t>
            </a:r>
            <a:r>
              <a:rPr lang="en-US" sz="2000" dirty="0" err="1"/>
              <a:t>opcode</a:t>
            </a:r>
            <a:r>
              <a:rPr lang="en-US" sz="2000" dirty="0"/>
              <a:t>, 12 bit operand</a:t>
            </a:r>
          </a:p>
          <a:p>
            <a:pPr algn="just"/>
            <a:r>
              <a:rPr lang="en-US" sz="2400" dirty="0"/>
              <a:t>32 bits instruction</a:t>
            </a:r>
          </a:p>
          <a:p>
            <a:pPr algn="just"/>
            <a:r>
              <a:rPr lang="en-US" sz="2400" dirty="0"/>
              <a:t>64 bits instruction</a:t>
            </a:r>
          </a:p>
        </p:txBody>
      </p:sp>
      <p:sp>
        <p:nvSpPr>
          <p:cNvPr id="3" name="Slide Number Placeholder 2"/>
          <p:cNvSpPr>
            <a:spLocks noGrp="1"/>
          </p:cNvSpPr>
          <p:nvPr>
            <p:ph type="sldNum" sz="quarter" idx="12"/>
          </p:nvPr>
        </p:nvSpPr>
        <p:spPr/>
        <p:txBody>
          <a:bodyPr/>
          <a:lstStyle/>
          <a:p>
            <a:fld id="{B6F15528-21DE-4FAA-801E-634DDDAF4B2B}" type="slidenum">
              <a:rPr lang="en-US" smtClean="0"/>
              <a:pPr/>
              <a:t>25</a:t>
            </a:fld>
            <a:endParaRPr lang="en-US" dirty="0"/>
          </a:p>
        </p:txBody>
      </p:sp>
      <p:pic>
        <p:nvPicPr>
          <p:cNvPr id="166914" name="Picture 2"/>
          <p:cNvPicPr>
            <a:picLocks noChangeAspect="1" noChangeArrowheads="1"/>
          </p:cNvPicPr>
          <p:nvPr/>
        </p:nvPicPr>
        <p:blipFill>
          <a:blip r:embed="rId2" cstate="print"/>
          <a:srcRect/>
          <a:stretch>
            <a:fillRect/>
          </a:stretch>
        </p:blipFill>
        <p:spPr bwMode="auto">
          <a:xfrm>
            <a:off x="634484" y="4428068"/>
            <a:ext cx="5943600" cy="1447800"/>
          </a:xfrm>
          <a:prstGeom prst="rect">
            <a:avLst/>
          </a:prstGeom>
          <a:noFill/>
          <a:ln w="9525">
            <a:noFill/>
            <a:miter lim="800000"/>
            <a:headEnd/>
            <a:tailEnd/>
          </a:ln>
          <a:effectLst/>
        </p:spPr>
      </p:pic>
      <p:sp>
        <p:nvSpPr>
          <p:cNvPr id="6" name="TextBox 5"/>
          <p:cNvSpPr txBox="1"/>
          <p:nvPr/>
        </p:nvSpPr>
        <p:spPr>
          <a:xfrm>
            <a:off x="660918" y="5847961"/>
            <a:ext cx="4953000" cy="369332"/>
          </a:xfrm>
          <a:prstGeom prst="rect">
            <a:avLst/>
          </a:prstGeom>
          <a:noFill/>
        </p:spPr>
        <p:txBody>
          <a:bodyPr wrap="square" rtlCol="0">
            <a:spAutoFit/>
          </a:bodyPr>
          <a:lstStyle/>
          <a:p>
            <a:r>
              <a:rPr lang="en-US" b="1" dirty="0"/>
              <a:t>Figure: A Simple Instruction Format</a:t>
            </a:r>
          </a:p>
        </p:txBody>
      </p:sp>
      <p:pic>
        <p:nvPicPr>
          <p:cNvPr id="166916" name="Picture 4"/>
          <p:cNvPicPr>
            <a:picLocks noChangeAspect="1" noChangeArrowheads="1"/>
          </p:cNvPicPr>
          <p:nvPr/>
        </p:nvPicPr>
        <p:blipFill>
          <a:blip r:embed="rId3" cstate="print"/>
          <a:srcRect/>
          <a:stretch>
            <a:fillRect/>
          </a:stretch>
        </p:blipFill>
        <p:spPr bwMode="auto">
          <a:xfrm>
            <a:off x="7119257" y="4857361"/>
            <a:ext cx="4076700" cy="990600"/>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t>
            </a:r>
          </a:p>
        </p:txBody>
      </p:sp>
      <p:sp>
        <p:nvSpPr>
          <p:cNvPr id="4" name="Content Placeholder 3"/>
          <p:cNvSpPr>
            <a:spLocks noGrp="1"/>
          </p:cNvSpPr>
          <p:nvPr>
            <p:ph idx="1"/>
          </p:nvPr>
        </p:nvSpPr>
        <p:spPr>
          <a:xfrm>
            <a:off x="964163" y="2606350"/>
            <a:ext cx="6714931" cy="2362200"/>
          </a:xfrm>
        </p:spPr>
        <p:txBody>
          <a:bodyPr>
            <a:noAutofit/>
          </a:bodyPr>
          <a:lstStyle/>
          <a:p>
            <a:pPr algn="just"/>
            <a:r>
              <a:rPr lang="en-US" sz="2400" dirty="0"/>
              <a:t>Binary representations of machine instructions is difficult to remember. </a:t>
            </a:r>
          </a:p>
          <a:p>
            <a:pPr algn="just"/>
            <a:r>
              <a:rPr lang="en-US" sz="2400" dirty="0"/>
              <a:t>Use a symbolic representation of machine instructions. </a:t>
            </a:r>
          </a:p>
          <a:p>
            <a:pPr algn="just"/>
            <a:r>
              <a:rPr lang="en-US" sz="2400" dirty="0" err="1"/>
              <a:t>Opcodes</a:t>
            </a:r>
            <a:r>
              <a:rPr lang="en-US" sz="2400" dirty="0"/>
              <a:t> are represented by abbreviations, called mnemonics, that indicate the operation. Common examples include:</a:t>
            </a:r>
          </a:p>
        </p:txBody>
      </p:sp>
      <p:sp>
        <p:nvSpPr>
          <p:cNvPr id="3" name="Slide Number Placeholder 2"/>
          <p:cNvSpPr>
            <a:spLocks noGrp="1"/>
          </p:cNvSpPr>
          <p:nvPr>
            <p:ph type="sldNum" sz="quarter" idx="12"/>
          </p:nvPr>
        </p:nvSpPr>
        <p:spPr/>
        <p:txBody>
          <a:bodyPr/>
          <a:lstStyle/>
          <a:p>
            <a:fld id="{B6F15528-21DE-4FAA-801E-634DDDAF4B2B}" type="slidenum">
              <a:rPr lang="en-US" smtClean="0"/>
              <a:pPr/>
              <a:t>26</a:t>
            </a:fld>
            <a:endParaRPr lang="en-US"/>
          </a:p>
        </p:txBody>
      </p:sp>
      <p:pic>
        <p:nvPicPr>
          <p:cNvPr id="167938" name="Picture 2"/>
          <p:cNvPicPr>
            <a:picLocks noChangeAspect="1" noChangeArrowheads="1"/>
          </p:cNvPicPr>
          <p:nvPr/>
        </p:nvPicPr>
        <p:blipFill>
          <a:blip r:embed="rId2" cstate="print"/>
          <a:srcRect/>
          <a:stretch>
            <a:fillRect/>
          </a:stretch>
        </p:blipFill>
        <p:spPr bwMode="auto">
          <a:xfrm>
            <a:off x="8328932" y="3594100"/>
            <a:ext cx="3048000" cy="2514600"/>
          </a:xfrm>
          <a:prstGeom prst="rect">
            <a:avLst/>
          </a:prstGeom>
          <a:noFill/>
          <a:ln w="9525">
            <a:noFill/>
            <a:miter lim="800000"/>
            <a:headEnd/>
            <a:tailEnd/>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48D7F-D142-9E57-A790-67BFB4EFA6A2}"/>
              </a:ext>
            </a:extLst>
          </p:cNvPr>
          <p:cNvSpPr>
            <a:spLocks noGrp="1"/>
          </p:cNvSpPr>
          <p:nvPr>
            <p:ph type="title"/>
          </p:nvPr>
        </p:nvSpPr>
        <p:spPr/>
        <p:txBody>
          <a:bodyPr/>
          <a:lstStyle/>
          <a:p>
            <a:r>
              <a:rPr lang="en-US" dirty="0"/>
              <a:t>Some Rules To Follow</a:t>
            </a:r>
          </a:p>
        </p:txBody>
      </p:sp>
      <p:sp>
        <p:nvSpPr>
          <p:cNvPr id="3" name="Content Placeholder 2">
            <a:extLst>
              <a:ext uri="{FF2B5EF4-FFF2-40B4-BE49-F238E27FC236}">
                <a16:creationId xmlns:a16="http://schemas.microsoft.com/office/drawing/2014/main" id="{E2DE35FA-90E6-F714-5BAA-C709C1B1620B}"/>
              </a:ext>
            </a:extLst>
          </p:cNvPr>
          <p:cNvSpPr>
            <a:spLocks noGrp="1"/>
          </p:cNvSpPr>
          <p:nvPr>
            <p:ph idx="1"/>
          </p:nvPr>
        </p:nvSpPr>
        <p:spPr/>
        <p:txBody>
          <a:bodyPr>
            <a:noAutofit/>
          </a:bodyPr>
          <a:lstStyle/>
          <a:p>
            <a:r>
              <a:rPr lang="en-US" sz="1100" dirty="0"/>
              <a:t>Both source and destination operands should be the same size.</a:t>
            </a:r>
          </a:p>
          <a:p>
            <a:r>
              <a:rPr lang="en-US" sz="1100" dirty="0"/>
              <a:t>Both operands cannot be segment registers simultaneously</a:t>
            </a:r>
          </a:p>
          <a:p>
            <a:pPr lvl="1"/>
            <a:r>
              <a:rPr lang="en-US" sz="1100" dirty="0"/>
              <a:t>MOV DS, SS</a:t>
            </a:r>
          </a:p>
          <a:p>
            <a:pPr lvl="1"/>
            <a:r>
              <a:rPr lang="en-US" sz="1100" dirty="0"/>
              <a:t>Using two segment registers as operands in an operation could create ambiguity about which segment of memory is being referenced.</a:t>
            </a:r>
          </a:p>
          <a:p>
            <a:r>
              <a:rPr lang="en-US" sz="1100" dirty="0"/>
              <a:t>The destination operand cannot be a CS or an IP register</a:t>
            </a:r>
          </a:p>
          <a:p>
            <a:pPr lvl="1"/>
            <a:r>
              <a:rPr lang="en-US" sz="1100" dirty="0"/>
              <a:t>MOV CS, AX</a:t>
            </a:r>
          </a:p>
          <a:p>
            <a:pPr lvl="1"/>
            <a:r>
              <a:rPr lang="en-US" sz="1100" dirty="0"/>
              <a:t>Changing the CS register directly could disrupt the flow of program execution</a:t>
            </a:r>
          </a:p>
          <a:p>
            <a:r>
              <a:rPr lang="en-US" sz="1100" dirty="0"/>
              <a:t>If the destination operand is a segment register, the source operand cannot be an immediate (constant) value. Instead, copy it from some other register like AX.</a:t>
            </a:r>
          </a:p>
          <a:p>
            <a:pPr lvl="1"/>
            <a:r>
              <a:rPr lang="en-US" sz="1100" dirty="0"/>
              <a:t>MOV ES, [num1] is not valid.</a:t>
            </a:r>
          </a:p>
          <a:p>
            <a:r>
              <a:rPr lang="en-US" sz="1100" b="1" dirty="0"/>
              <a:t>No direct memory-to-memory moves.</a:t>
            </a:r>
            <a:endParaRPr lang="en-US" sz="1100" dirty="0"/>
          </a:p>
          <a:p>
            <a:pPr lvl="1"/>
            <a:r>
              <a:rPr lang="en-US" sz="1100" dirty="0"/>
              <a:t>mov [var1], [var2]</a:t>
            </a:r>
          </a:p>
          <a:p>
            <a:pPr lvl="1"/>
            <a:r>
              <a:rPr lang="en-US" sz="1100" dirty="0"/>
              <a:t>Use register as intermediate:</a:t>
            </a:r>
          </a:p>
          <a:p>
            <a:pPr lvl="1"/>
            <a:r>
              <a:rPr lang="en-US" sz="1100" dirty="0"/>
              <a:t>mov al, [var1] and mov [var2], al</a:t>
            </a:r>
          </a:p>
        </p:txBody>
      </p:sp>
    </p:spTree>
    <p:extLst>
      <p:ext uri="{BB962C8B-B14F-4D97-AF65-F5344CB8AC3E}">
        <p14:creationId xmlns:p14="http://schemas.microsoft.com/office/powerpoint/2010/main" val="6633373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3C025-C368-CC74-8B06-49068429A82F}"/>
              </a:ext>
            </a:extLst>
          </p:cNvPr>
          <p:cNvSpPr>
            <a:spLocks noGrp="1"/>
          </p:cNvSpPr>
          <p:nvPr>
            <p:ph type="title"/>
          </p:nvPr>
        </p:nvSpPr>
        <p:spPr/>
        <p:txBody>
          <a:bodyPr/>
          <a:lstStyle/>
          <a:p>
            <a:r>
              <a:rPr lang="en-US" dirty="0"/>
              <a:t>Addressing Modes</a:t>
            </a:r>
            <a:endParaRPr lang="en-PK" dirty="0"/>
          </a:p>
        </p:txBody>
      </p:sp>
      <p:sp>
        <p:nvSpPr>
          <p:cNvPr id="3" name="Content Placeholder 2">
            <a:extLst>
              <a:ext uri="{FF2B5EF4-FFF2-40B4-BE49-F238E27FC236}">
                <a16:creationId xmlns:a16="http://schemas.microsoft.com/office/drawing/2014/main" id="{B69C7108-6013-E4F9-C6D8-C36C02FCB361}"/>
              </a:ext>
            </a:extLst>
          </p:cNvPr>
          <p:cNvSpPr>
            <a:spLocks noGrp="1"/>
          </p:cNvSpPr>
          <p:nvPr>
            <p:ph idx="1"/>
          </p:nvPr>
        </p:nvSpPr>
        <p:spPr/>
        <p:txBody>
          <a:bodyPr/>
          <a:lstStyle/>
          <a:p>
            <a:pPr algn="just"/>
            <a:r>
              <a:rPr lang="en-US" dirty="0"/>
              <a:t>Addressing modes are techniques used in assembly language to specify how the operand of an instruction is accessed. </a:t>
            </a:r>
          </a:p>
          <a:p>
            <a:pPr algn="just"/>
            <a:r>
              <a:rPr lang="en-US" dirty="0"/>
              <a:t>They determine the method of obtaining the data for the operation, whether from a constant, register, memory address, or a combination of these.</a:t>
            </a:r>
            <a:endParaRPr lang="en-PK" dirty="0"/>
          </a:p>
        </p:txBody>
      </p:sp>
    </p:spTree>
    <p:extLst>
      <p:ext uri="{BB962C8B-B14F-4D97-AF65-F5344CB8AC3E}">
        <p14:creationId xmlns:p14="http://schemas.microsoft.com/office/powerpoint/2010/main" val="19280186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EDDEC-A865-AAB1-3C84-D675D0B88D2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A8A0919-208F-A0A8-BB59-642D55234B55}"/>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77407B33-1ABE-1A18-51CA-0C6E3372A4B5}"/>
              </a:ext>
            </a:extLst>
          </p:cNvPr>
          <p:cNvPicPr>
            <a:picLocks noChangeAspect="1"/>
          </p:cNvPicPr>
          <p:nvPr/>
        </p:nvPicPr>
        <p:blipFill>
          <a:blip r:embed="rId2"/>
          <a:stretch>
            <a:fillRect/>
          </a:stretch>
        </p:blipFill>
        <p:spPr>
          <a:xfrm>
            <a:off x="337038" y="0"/>
            <a:ext cx="11517923" cy="6858000"/>
          </a:xfrm>
          <a:prstGeom prst="rect">
            <a:avLst/>
          </a:prstGeom>
        </p:spPr>
      </p:pic>
    </p:spTree>
    <p:extLst>
      <p:ext uri="{BB962C8B-B14F-4D97-AF65-F5344CB8AC3E}">
        <p14:creationId xmlns:p14="http://schemas.microsoft.com/office/powerpoint/2010/main" val="34002639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AB798-A5A5-6E95-E77A-A55112DCABC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932AEA0-3A4D-D27B-DCE4-6E802FFA3686}"/>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6202C4B3-4788-3916-9458-527962F31548}"/>
              </a:ext>
            </a:extLst>
          </p:cNvPr>
          <p:cNvPicPr>
            <a:picLocks noChangeAspect="1"/>
          </p:cNvPicPr>
          <p:nvPr/>
        </p:nvPicPr>
        <p:blipFill>
          <a:blip r:embed="rId2"/>
          <a:stretch>
            <a:fillRect/>
          </a:stretch>
        </p:blipFill>
        <p:spPr>
          <a:xfrm>
            <a:off x="240323" y="0"/>
            <a:ext cx="11711354" cy="6858000"/>
          </a:xfrm>
          <a:prstGeom prst="rect">
            <a:avLst/>
          </a:prstGeom>
        </p:spPr>
      </p:pic>
    </p:spTree>
    <p:extLst>
      <p:ext uri="{BB962C8B-B14F-4D97-AF65-F5344CB8AC3E}">
        <p14:creationId xmlns:p14="http://schemas.microsoft.com/office/powerpoint/2010/main" val="26549147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E5CC7-05BA-25FF-12DA-686CBEFA94C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044AC34-B197-A2A1-7847-6038020D52AB}"/>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B160CBEC-71D8-FDDA-49BA-6B1E39ECF233}"/>
              </a:ext>
            </a:extLst>
          </p:cNvPr>
          <p:cNvPicPr>
            <a:picLocks noChangeAspect="1"/>
          </p:cNvPicPr>
          <p:nvPr/>
        </p:nvPicPr>
        <p:blipFill>
          <a:blip r:embed="rId2"/>
          <a:stretch>
            <a:fillRect/>
          </a:stretch>
        </p:blipFill>
        <p:spPr>
          <a:xfrm>
            <a:off x="340488" y="0"/>
            <a:ext cx="11511023" cy="6858000"/>
          </a:xfrm>
          <a:prstGeom prst="rect">
            <a:avLst/>
          </a:prstGeom>
        </p:spPr>
      </p:pic>
    </p:spTree>
    <p:extLst>
      <p:ext uri="{BB962C8B-B14F-4D97-AF65-F5344CB8AC3E}">
        <p14:creationId xmlns:p14="http://schemas.microsoft.com/office/powerpoint/2010/main" val="1905609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48976-704F-D924-9767-7F4CCF027D3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16E5F4B-FCC2-CA32-F38B-B70EAF9178C5}"/>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988E3852-2A52-E2C5-8111-DCB52ACE1B71}"/>
              </a:ext>
            </a:extLst>
          </p:cNvPr>
          <p:cNvPicPr>
            <a:picLocks noChangeAspect="1"/>
          </p:cNvPicPr>
          <p:nvPr/>
        </p:nvPicPr>
        <p:blipFill>
          <a:blip r:embed="rId2"/>
          <a:stretch>
            <a:fillRect/>
          </a:stretch>
        </p:blipFill>
        <p:spPr>
          <a:xfrm>
            <a:off x="0" y="814"/>
            <a:ext cx="12192000" cy="6856371"/>
          </a:xfrm>
          <a:prstGeom prst="rect">
            <a:avLst/>
          </a:prstGeom>
        </p:spPr>
      </p:pic>
    </p:spTree>
    <p:extLst>
      <p:ext uri="{BB962C8B-B14F-4D97-AF65-F5344CB8AC3E}">
        <p14:creationId xmlns:p14="http://schemas.microsoft.com/office/powerpoint/2010/main" val="18659962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FC76A-FA44-7E59-FDCC-DA9553E727F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46BED60-EFEB-4F1E-100D-61B74ABC66B3}"/>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1FD8DC26-2A21-EFD2-AD2F-FD1CF08116B6}"/>
              </a:ext>
            </a:extLst>
          </p:cNvPr>
          <p:cNvPicPr>
            <a:picLocks noChangeAspect="1"/>
          </p:cNvPicPr>
          <p:nvPr/>
        </p:nvPicPr>
        <p:blipFill>
          <a:blip r:embed="rId2"/>
          <a:stretch>
            <a:fillRect/>
          </a:stretch>
        </p:blipFill>
        <p:spPr>
          <a:xfrm>
            <a:off x="210032" y="-19050"/>
            <a:ext cx="11771935" cy="6858000"/>
          </a:xfrm>
          <a:prstGeom prst="rect">
            <a:avLst/>
          </a:prstGeom>
        </p:spPr>
      </p:pic>
    </p:spTree>
    <p:extLst>
      <p:ext uri="{BB962C8B-B14F-4D97-AF65-F5344CB8AC3E}">
        <p14:creationId xmlns:p14="http://schemas.microsoft.com/office/powerpoint/2010/main" val="7534703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EA5ED-2732-6374-49B5-AE54213C8678}"/>
              </a:ext>
            </a:extLst>
          </p:cNvPr>
          <p:cNvSpPr>
            <a:spLocks noGrp="1"/>
          </p:cNvSpPr>
          <p:nvPr>
            <p:ph type="title"/>
          </p:nvPr>
        </p:nvSpPr>
        <p:spPr/>
        <p:txBody>
          <a:bodyPr/>
          <a:lstStyle/>
          <a:p>
            <a:r>
              <a:rPr lang="en-US" dirty="0"/>
              <a:t>Physical Address to Logical Address</a:t>
            </a:r>
          </a:p>
        </p:txBody>
      </p:sp>
      <p:sp>
        <p:nvSpPr>
          <p:cNvPr id="3" name="Content Placeholder 2">
            <a:extLst>
              <a:ext uri="{FF2B5EF4-FFF2-40B4-BE49-F238E27FC236}">
                <a16:creationId xmlns:a16="http://schemas.microsoft.com/office/drawing/2014/main" id="{DFFF95E8-4169-1C04-B081-3747430D4F25}"/>
              </a:ext>
            </a:extLst>
          </p:cNvPr>
          <p:cNvSpPr>
            <a:spLocks noGrp="1"/>
          </p:cNvSpPr>
          <p:nvPr>
            <p:ph idx="1"/>
          </p:nvPr>
        </p:nvSpPr>
        <p:spPr/>
        <p:txBody>
          <a:bodyPr>
            <a:normAutofit fontScale="92500" lnSpcReduction="10000"/>
          </a:bodyPr>
          <a:lstStyle/>
          <a:p>
            <a:r>
              <a:rPr lang="en-US" b="1" dirty="0"/>
              <a:t>Logical Address</a:t>
            </a:r>
            <a:r>
              <a:rPr lang="en-US" dirty="0"/>
              <a:t>: An address generated by the CPU during program execution, consisting of a </a:t>
            </a:r>
            <a:r>
              <a:rPr lang="en-US" b="1" dirty="0"/>
              <a:t>segment</a:t>
            </a:r>
            <a:r>
              <a:rPr lang="en-US" dirty="0"/>
              <a:t> and an </a:t>
            </a:r>
            <a:r>
              <a:rPr lang="en-US" b="1" dirty="0"/>
              <a:t>offset</a:t>
            </a:r>
            <a:r>
              <a:rPr lang="en-US" dirty="0"/>
              <a:t>.</a:t>
            </a:r>
          </a:p>
          <a:p>
            <a:r>
              <a:rPr lang="en-US" b="1" dirty="0"/>
              <a:t>Physical Address</a:t>
            </a:r>
            <a:r>
              <a:rPr lang="en-US" dirty="0"/>
              <a:t>: The actual location in physical memory (RAM) where data is stored. </a:t>
            </a:r>
          </a:p>
          <a:p>
            <a:r>
              <a:rPr lang="en-US" dirty="0"/>
              <a:t>Physical address will be calculated by Segment address and Offset</a:t>
            </a:r>
          </a:p>
          <a:p>
            <a:r>
              <a:rPr lang="en-US" dirty="0"/>
              <a:t>Both Segment address and Offset size is 16 bits.</a:t>
            </a:r>
          </a:p>
          <a:p>
            <a:r>
              <a:rPr lang="en-US" dirty="0"/>
              <a:t>So Physical address is calculated by </a:t>
            </a:r>
            <a:r>
              <a:rPr lang="en-US" b="1" dirty="0"/>
              <a:t>Segment * 10h + offset address</a:t>
            </a:r>
          </a:p>
          <a:p>
            <a:r>
              <a:rPr lang="en-US" dirty="0"/>
              <a:t>10h = 16</a:t>
            </a:r>
          </a:p>
        </p:txBody>
      </p:sp>
    </p:spTree>
    <p:extLst>
      <p:ext uri="{BB962C8B-B14F-4D97-AF65-F5344CB8AC3E}">
        <p14:creationId xmlns:p14="http://schemas.microsoft.com/office/powerpoint/2010/main" val="4134784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8C46A-B680-E007-EC19-64391FFCD06F}"/>
              </a:ext>
            </a:extLst>
          </p:cNvPr>
          <p:cNvSpPr>
            <a:spLocks noGrp="1"/>
          </p:cNvSpPr>
          <p:nvPr>
            <p:ph type="title"/>
          </p:nvPr>
        </p:nvSpPr>
        <p:spPr/>
        <p:txBody>
          <a:bodyPr/>
          <a:lstStyle/>
          <a:p>
            <a:r>
              <a:rPr lang="en-US" dirty="0"/>
              <a:t>Example</a:t>
            </a:r>
            <a:endParaRPr lang="en-PK" dirty="0"/>
          </a:p>
        </p:txBody>
      </p:sp>
      <p:sp>
        <p:nvSpPr>
          <p:cNvPr id="3" name="Content Placeholder 2">
            <a:extLst>
              <a:ext uri="{FF2B5EF4-FFF2-40B4-BE49-F238E27FC236}">
                <a16:creationId xmlns:a16="http://schemas.microsoft.com/office/drawing/2014/main" id="{4C3D88A8-E63E-9B9E-0A7D-4C8B493D7C9E}"/>
              </a:ext>
            </a:extLst>
          </p:cNvPr>
          <p:cNvSpPr>
            <a:spLocks noGrp="1"/>
          </p:cNvSpPr>
          <p:nvPr>
            <p:ph idx="1"/>
          </p:nvPr>
        </p:nvSpPr>
        <p:spPr/>
        <p:txBody>
          <a:bodyPr>
            <a:normAutofit lnSpcReduction="10000"/>
          </a:bodyPr>
          <a:lstStyle/>
          <a:p>
            <a:r>
              <a:rPr lang="en-US" dirty="0"/>
              <a:t>Segment: 0x1234</a:t>
            </a:r>
          </a:p>
          <a:p>
            <a:r>
              <a:rPr lang="en-US" dirty="0"/>
              <a:t>Offset: 0x5678</a:t>
            </a:r>
          </a:p>
          <a:p>
            <a:r>
              <a:rPr lang="en-US" dirty="0"/>
              <a:t>Step 1: Convert the Segment to a Physical Address</a:t>
            </a:r>
          </a:p>
          <a:p>
            <a:pPr lvl="1"/>
            <a:r>
              <a:rPr lang="en-US" dirty="0"/>
              <a:t>Base Physical Address=Segment×16</a:t>
            </a:r>
          </a:p>
          <a:p>
            <a:pPr lvl="1"/>
            <a:r>
              <a:rPr lang="en-US" dirty="0"/>
              <a:t>0x1234 = 4660 (decimal)</a:t>
            </a:r>
          </a:p>
          <a:p>
            <a:pPr lvl="1"/>
            <a:r>
              <a:rPr lang="en-PK" dirty="0"/>
              <a:t>4660×16=74560</a:t>
            </a:r>
            <a:r>
              <a:rPr lang="en-US" dirty="0"/>
              <a:t> = 0x12340</a:t>
            </a:r>
          </a:p>
          <a:p>
            <a:r>
              <a:rPr lang="en-US" dirty="0"/>
              <a:t>Base Physical Address=0x12340</a:t>
            </a:r>
          </a:p>
        </p:txBody>
      </p:sp>
    </p:spTree>
    <p:extLst>
      <p:ext uri="{BB962C8B-B14F-4D97-AF65-F5344CB8AC3E}">
        <p14:creationId xmlns:p14="http://schemas.microsoft.com/office/powerpoint/2010/main" val="29904500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2629D-73D7-A08B-10F5-ACB79A2A53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15C61A-902F-C074-EE38-A1A1A5AC5D02}"/>
              </a:ext>
            </a:extLst>
          </p:cNvPr>
          <p:cNvSpPr>
            <a:spLocks noGrp="1"/>
          </p:cNvSpPr>
          <p:nvPr>
            <p:ph type="title"/>
          </p:nvPr>
        </p:nvSpPr>
        <p:spPr/>
        <p:txBody>
          <a:bodyPr/>
          <a:lstStyle/>
          <a:p>
            <a:r>
              <a:rPr lang="en-US" dirty="0"/>
              <a:t>Example</a:t>
            </a:r>
            <a:endParaRPr lang="en-PK" dirty="0"/>
          </a:p>
        </p:txBody>
      </p:sp>
      <p:sp>
        <p:nvSpPr>
          <p:cNvPr id="3" name="Content Placeholder 2">
            <a:extLst>
              <a:ext uri="{FF2B5EF4-FFF2-40B4-BE49-F238E27FC236}">
                <a16:creationId xmlns:a16="http://schemas.microsoft.com/office/drawing/2014/main" id="{2546B8EC-F7F6-43DF-51F1-EB42A63AEA33}"/>
              </a:ext>
            </a:extLst>
          </p:cNvPr>
          <p:cNvSpPr>
            <a:spLocks noGrp="1"/>
          </p:cNvSpPr>
          <p:nvPr>
            <p:ph idx="1"/>
          </p:nvPr>
        </p:nvSpPr>
        <p:spPr/>
        <p:txBody>
          <a:bodyPr>
            <a:normAutofit/>
          </a:bodyPr>
          <a:lstStyle/>
          <a:p>
            <a:r>
              <a:rPr lang="en-US" dirty="0"/>
              <a:t>Step 2: Add the Offset</a:t>
            </a:r>
          </a:p>
          <a:p>
            <a:r>
              <a:rPr lang="en-US" dirty="0"/>
              <a:t>Physical Address=Base Physical Address + Offset</a:t>
            </a:r>
          </a:p>
          <a:p>
            <a:pPr lvl="1"/>
            <a:r>
              <a:rPr lang="en-US" dirty="0"/>
              <a:t>0x5678 = 22136</a:t>
            </a:r>
          </a:p>
          <a:p>
            <a:r>
              <a:rPr lang="en-US" dirty="0"/>
              <a:t>Physical Address=74560+22136=96696</a:t>
            </a:r>
          </a:p>
          <a:p>
            <a:pPr lvl="1"/>
            <a:r>
              <a:rPr lang="en-US" dirty="0"/>
              <a:t>96696 = 0x179B8</a:t>
            </a:r>
          </a:p>
          <a:p>
            <a:r>
              <a:rPr lang="en-US" dirty="0"/>
              <a:t>Physical Address=0x179B8</a:t>
            </a:r>
          </a:p>
        </p:txBody>
      </p:sp>
    </p:spTree>
    <p:extLst>
      <p:ext uri="{BB962C8B-B14F-4D97-AF65-F5344CB8AC3E}">
        <p14:creationId xmlns:p14="http://schemas.microsoft.com/office/powerpoint/2010/main" val="19445048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CD282-AB3E-611C-D113-ACB93B4B3FD5}"/>
              </a:ext>
            </a:extLst>
          </p:cNvPr>
          <p:cNvSpPr>
            <a:spLocks noGrp="1"/>
          </p:cNvSpPr>
          <p:nvPr>
            <p:ph type="title"/>
          </p:nvPr>
        </p:nvSpPr>
        <p:spPr/>
        <p:txBody>
          <a:bodyPr/>
          <a:lstStyle/>
          <a:p>
            <a:r>
              <a:rPr lang="en-US" dirty="0"/>
              <a:t>Practice Questions</a:t>
            </a:r>
            <a:endParaRPr lang="en-PK" dirty="0"/>
          </a:p>
        </p:txBody>
      </p:sp>
      <p:sp>
        <p:nvSpPr>
          <p:cNvPr id="3" name="Content Placeholder 2">
            <a:extLst>
              <a:ext uri="{FF2B5EF4-FFF2-40B4-BE49-F238E27FC236}">
                <a16:creationId xmlns:a16="http://schemas.microsoft.com/office/drawing/2014/main" id="{12F817D4-0432-177E-5F79-34D2E9E43940}"/>
              </a:ext>
            </a:extLst>
          </p:cNvPr>
          <p:cNvSpPr>
            <a:spLocks noGrp="1"/>
          </p:cNvSpPr>
          <p:nvPr>
            <p:ph idx="1"/>
          </p:nvPr>
        </p:nvSpPr>
        <p:spPr/>
        <p:txBody>
          <a:bodyPr/>
          <a:lstStyle/>
          <a:p>
            <a:r>
              <a:rPr lang="en-US" dirty="0"/>
              <a:t>0x2000:0x0050 </a:t>
            </a:r>
            <a:r>
              <a:rPr lang="en-US" dirty="0" err="1"/>
              <a:t>segment:offset</a:t>
            </a:r>
            <a:endParaRPr lang="en-US" dirty="0"/>
          </a:p>
          <a:p>
            <a:r>
              <a:rPr lang="en-US" dirty="0"/>
              <a:t>0x3000:0x00C0</a:t>
            </a:r>
          </a:p>
          <a:p>
            <a:r>
              <a:rPr lang="en-US" dirty="0"/>
              <a:t>0x1234:0x00A0</a:t>
            </a:r>
          </a:p>
          <a:p>
            <a:r>
              <a:rPr lang="en-US" dirty="0"/>
              <a:t>0x4000:0x0100</a:t>
            </a:r>
          </a:p>
          <a:p>
            <a:r>
              <a:rPr lang="en-US" dirty="0"/>
              <a:t>0x1A2B:0x0005</a:t>
            </a:r>
            <a:endParaRPr lang="en-PK" dirty="0"/>
          </a:p>
        </p:txBody>
      </p:sp>
    </p:spTree>
    <p:extLst>
      <p:ext uri="{BB962C8B-B14F-4D97-AF65-F5344CB8AC3E}">
        <p14:creationId xmlns:p14="http://schemas.microsoft.com/office/powerpoint/2010/main" val="2744680683"/>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408</TotalTime>
  <Words>1674</Words>
  <Application>Microsoft Office PowerPoint</Application>
  <PresentationFormat>Widescreen</PresentationFormat>
  <Paragraphs>178</Paragraphs>
  <Slides>37</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37</vt:i4>
      </vt:variant>
    </vt:vector>
  </HeadingPairs>
  <TitlesOfParts>
    <vt:vector size="41" baseType="lpstr">
      <vt:lpstr>Arial</vt:lpstr>
      <vt:lpstr>Calibri</vt:lpstr>
      <vt:lpstr>Garamond</vt:lpstr>
      <vt:lpstr>Organic</vt:lpstr>
      <vt:lpstr>Computer Organization &amp; Assembly Language</vt:lpstr>
      <vt:lpstr>Programming Model x8086</vt:lpstr>
      <vt:lpstr>Architecture</vt:lpstr>
      <vt:lpstr>Memory</vt:lpstr>
      <vt:lpstr>Memory</vt:lpstr>
      <vt:lpstr>Instruction Set</vt:lpstr>
      <vt:lpstr>Assembler Directives</vt:lpstr>
      <vt:lpstr>Data Definition Directives</vt:lpstr>
      <vt:lpstr>Section Directives</vt:lpstr>
      <vt:lpstr>Code Control Directives</vt:lpstr>
      <vt:lpstr>.model</vt:lpstr>
      <vt:lpstr>.stack</vt:lpstr>
      <vt:lpstr>.data</vt:lpstr>
      <vt:lpstr>.code</vt:lpstr>
      <vt:lpstr>.exit</vt:lpstr>
      <vt:lpstr>First Assembly Language Program</vt:lpstr>
      <vt:lpstr>Example</vt:lpstr>
      <vt:lpstr>Program to add 2 numbers</vt:lpstr>
      <vt:lpstr>Summary</vt:lpstr>
      <vt:lpstr>MOV Instruction</vt:lpstr>
      <vt:lpstr>MOV Instruction – Syntax</vt:lpstr>
      <vt:lpstr>Data Movement Among Registers</vt:lpstr>
      <vt:lpstr>Machine Instruction Elements</vt:lpstr>
      <vt:lpstr>Machine Instruction Elements</vt:lpstr>
      <vt:lpstr>Instruction Representation</vt:lpstr>
      <vt:lpstr>Cont.</vt:lpstr>
      <vt:lpstr>Some Rules To Follow</vt:lpstr>
      <vt:lpstr>Addressing Modes</vt:lpstr>
      <vt:lpstr>PowerPoint Presentation</vt:lpstr>
      <vt:lpstr>PowerPoint Presentation</vt:lpstr>
      <vt:lpstr>PowerPoint Presentation</vt:lpstr>
      <vt:lpstr>PowerPoint Presentation</vt:lpstr>
      <vt:lpstr>PowerPoint Presentation</vt:lpstr>
      <vt:lpstr>Physical Address to Logical Address</vt:lpstr>
      <vt:lpstr>Example</vt:lpstr>
      <vt:lpstr>Example</vt:lpstr>
      <vt:lpstr>Practice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Organization &amp; Assembly Language</dc:title>
  <dc:creator>Ihtisham ul haq</dc:creator>
  <cp:lastModifiedBy>Sehar Ali</cp:lastModifiedBy>
  <cp:revision>36</cp:revision>
  <dcterms:created xsi:type="dcterms:W3CDTF">2023-10-17T17:30:28Z</dcterms:created>
  <dcterms:modified xsi:type="dcterms:W3CDTF">2025-10-05T10:05:45Z</dcterms:modified>
</cp:coreProperties>
</file>