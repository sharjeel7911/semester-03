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  <p:sldMasterId id="2147483695" r:id="rId2"/>
  </p:sldMasterIdLst>
  <p:notesMasterIdLst>
    <p:notesMasterId r:id="rId26"/>
  </p:notesMasterIdLst>
  <p:sldIdLst>
    <p:sldId id="256" r:id="rId3"/>
    <p:sldId id="257" r:id="rId4"/>
    <p:sldId id="283" r:id="rId5"/>
    <p:sldId id="258" r:id="rId6"/>
    <p:sldId id="260" r:id="rId7"/>
    <p:sldId id="259" r:id="rId8"/>
    <p:sldId id="261" r:id="rId9"/>
    <p:sldId id="262" r:id="rId10"/>
    <p:sldId id="263" r:id="rId11"/>
    <p:sldId id="264" r:id="rId12"/>
    <p:sldId id="271" r:id="rId13"/>
    <p:sldId id="272" r:id="rId14"/>
    <p:sldId id="273" r:id="rId15"/>
    <p:sldId id="274" r:id="rId16"/>
    <p:sldId id="275" r:id="rId17"/>
    <p:sldId id="265" r:id="rId18"/>
    <p:sldId id="266" r:id="rId19"/>
    <p:sldId id="267" r:id="rId20"/>
    <p:sldId id="268" r:id="rId21"/>
    <p:sldId id="269" r:id="rId22"/>
    <p:sldId id="270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4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59307-FD9A-4506-868F-38EAB1970A9E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DD0BA-05A3-4E41-BF9C-58D71883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; Initial setup</a:t>
            </a:r>
          </a:p>
          <a:p>
            <a:r>
              <a:rPr lang="en-US" dirty="0"/>
              <a:t>MOV AX, 5      ; Load value 5 into AX register</a:t>
            </a:r>
          </a:p>
          <a:p>
            <a:r>
              <a:rPr lang="en-US" dirty="0"/>
              <a:t>PUSH AX        ; Push AX onto the stack, SP decreases</a:t>
            </a:r>
          </a:p>
          <a:p>
            <a:r>
              <a:rPr lang="en-US" dirty="0"/>
              <a:t>MOV BX, 10     ; Load value 10 into BX register</a:t>
            </a:r>
          </a:p>
          <a:p>
            <a:r>
              <a:rPr lang="en-US" dirty="0"/>
              <a:t>PUSH BX        ; Push BX onto the stack, SP decreases again</a:t>
            </a:r>
          </a:p>
          <a:p>
            <a:endParaRPr lang="en-US" dirty="0"/>
          </a:p>
          <a:p>
            <a:r>
              <a:rPr lang="en-US" dirty="0"/>
              <a:t>; Now, let's pop the values back</a:t>
            </a:r>
          </a:p>
          <a:p>
            <a:r>
              <a:rPr lang="en-US" dirty="0"/>
              <a:t>POP CX         ; Pop top value from stack into CX, SP increases</a:t>
            </a:r>
          </a:p>
          <a:p>
            <a:r>
              <a:rPr lang="en-US" dirty="0"/>
              <a:t>POP DX         ; Pop next value from stack into DX, SP increases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60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; Initial setup</a:t>
            </a:r>
          </a:p>
          <a:p>
            <a:r>
              <a:rPr lang="en-US" dirty="0"/>
              <a:t>MOV AX, 5      ; Load value 5 into AX register</a:t>
            </a:r>
          </a:p>
          <a:p>
            <a:r>
              <a:rPr lang="en-US" dirty="0"/>
              <a:t>PUSH AX        ; Push AX onto the stack, SP decreases</a:t>
            </a:r>
          </a:p>
          <a:p>
            <a:endParaRPr lang="en-US" dirty="0"/>
          </a:p>
          <a:p>
            <a:r>
              <a:rPr lang="en-US" dirty="0"/>
              <a:t>MOV BX, 10     ; Load value 10 into BX register</a:t>
            </a:r>
          </a:p>
          <a:p>
            <a:r>
              <a:rPr lang="en-US" dirty="0"/>
              <a:t>PUSH BX </a:t>
            </a:r>
          </a:p>
          <a:p>
            <a:endParaRPr lang="en-US" dirty="0"/>
          </a:p>
          <a:p>
            <a:r>
              <a:rPr lang="en-US" dirty="0"/>
              <a:t>       ; Push BX onto the stack, SP decreases again</a:t>
            </a:r>
          </a:p>
          <a:p>
            <a:endParaRPr lang="en-US" dirty="0"/>
          </a:p>
          <a:p>
            <a:r>
              <a:rPr lang="en-US" dirty="0"/>
              <a:t>mov AX, 7</a:t>
            </a:r>
          </a:p>
          <a:p>
            <a:r>
              <a:rPr lang="en-US" dirty="0"/>
              <a:t>mov bx, 6  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; Now, let's pop the values back</a:t>
            </a:r>
          </a:p>
          <a:p>
            <a:endParaRPr lang="en-US" dirty="0"/>
          </a:p>
          <a:p>
            <a:r>
              <a:rPr lang="en-US" dirty="0"/>
              <a:t>POP BX         ; Pop top value from stack into CX, SP increases</a:t>
            </a:r>
          </a:p>
          <a:p>
            <a:r>
              <a:rPr lang="en-US" dirty="0"/>
              <a:t>POP AX         ; Pop next value from stack into DX, SP increases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114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32FDD-3C03-FED5-50BD-292B0F60E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EE163-E373-D73D-C5A5-B2CC9D58E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C4424-43F0-7169-0F51-44C40B0C4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; Initial setup</a:t>
            </a:r>
          </a:p>
          <a:p>
            <a:r>
              <a:rPr lang="en-US" dirty="0"/>
              <a:t>MOV AX, 5      ; Load value 5 into AX register</a:t>
            </a:r>
          </a:p>
          <a:p>
            <a:r>
              <a:rPr lang="en-US" dirty="0"/>
              <a:t>PUSH AX        ; Push AX onto the stack, SP decreases</a:t>
            </a:r>
          </a:p>
          <a:p>
            <a:endParaRPr lang="en-US" dirty="0"/>
          </a:p>
          <a:p>
            <a:r>
              <a:rPr lang="en-US" dirty="0"/>
              <a:t>MOV BX, 10     ; Load value 10 into BX register</a:t>
            </a:r>
          </a:p>
          <a:p>
            <a:r>
              <a:rPr lang="en-US" dirty="0"/>
              <a:t>PUSH BX </a:t>
            </a:r>
          </a:p>
          <a:p>
            <a:endParaRPr lang="en-US" dirty="0"/>
          </a:p>
          <a:p>
            <a:r>
              <a:rPr lang="en-US" dirty="0"/>
              <a:t>       ; Push BX onto the stack, SP decreases again</a:t>
            </a:r>
          </a:p>
          <a:p>
            <a:endParaRPr lang="en-US" dirty="0"/>
          </a:p>
          <a:p>
            <a:r>
              <a:rPr lang="en-US" dirty="0"/>
              <a:t>mov AX, 7</a:t>
            </a:r>
          </a:p>
          <a:p>
            <a:r>
              <a:rPr lang="en-US" dirty="0"/>
              <a:t>mov bx, 6  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; Now, let's pop the values back</a:t>
            </a:r>
          </a:p>
          <a:p>
            <a:endParaRPr lang="en-US" dirty="0"/>
          </a:p>
          <a:p>
            <a:r>
              <a:rPr lang="en-US" dirty="0"/>
              <a:t>POP BX         ; Pop top value from stack into CX, SP increases</a:t>
            </a:r>
          </a:p>
          <a:p>
            <a:r>
              <a:rPr lang="en-US" dirty="0"/>
              <a:t>POP AX         ; Pop next value from stack into DX, SP increases</a:t>
            </a:r>
          </a:p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9065B-4688-10B4-E10A-032E939205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106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508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762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10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750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15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0213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495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026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304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611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736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110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269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533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12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8773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5571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44DDB-B337-CE5D-C329-14B512E6A6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38ED0F-DF8E-6E5E-B6BC-2825817BE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5D6BF-C1B3-1CE9-2A59-B17DA0D8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0A4AC-7E95-F518-AAF9-B934D9905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FE59E-4AC3-A190-EFF4-578FADB79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58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40D2C-6949-EA44-624F-3A91D15B3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77F7A-B8E9-E88D-C60A-D4191466B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E373E-F7D6-56D2-2055-E2553D993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7C118-08C7-6FD7-0EA2-3345FA76A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6C208-6871-C9E1-AEAA-3A0103FEA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7592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17214-1527-8BB6-65BC-0A959918E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CE3A3-F2FA-0D85-D500-DFFC143EE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2FA44-A7E7-9D49-237C-95820D652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9BAA0-F5ED-3E3D-2643-1EFEB592A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10D70-4B98-8427-8AB4-0BFDC7BDC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1237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8E320-0CB9-BF04-7A87-33EDFEA03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9DC6A-A529-F299-3E41-748C5FAC7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280D8-92F2-FE63-1409-79F502EC1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CB85E-6EC5-CD80-551F-DAE53A0BC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AE0A2-81D8-28D6-7B61-18223A5E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6A734-7C60-15B9-681E-40E7FCC82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7558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5DC53-0E90-D40B-7F0C-26455B7C8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B4905-1254-165F-EAC2-E0F73AECF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0E018-5F73-6C7A-7022-B9C1D0BAE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9D3332-AA76-15CD-BE1B-5E79B5EF79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910932-CB35-B4CE-5F59-4231D4B519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108E42-5F42-9264-8738-2FBAFCBB3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57E3F1-699E-2C65-7A9F-764999F9B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760E47-1B91-CEE4-E7DB-B2C69F606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1553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5EC3F-5320-195F-8B7F-12BBA5AAB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89F34C-B1F1-5636-F856-3F0294E54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2475C-2E03-FD50-1371-374671160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E9B49-6167-D15D-F24F-3514EB03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1456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A39ECF-E7CF-A0AD-64ED-79CA9F7C6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5C14C7-3C56-4277-44A4-CE9CE8B0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00DC9-7C84-B0BA-4811-7515F4D3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5426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656A7-9797-09F6-9601-6921F578C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EF732-D575-5944-EA6E-6C6AB52D2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7D2DF-3794-3A56-D4B9-2273B5894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16D8D-3343-694A-AFEE-258D84C0D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9BD19A-6075-934F-93BB-2E030A98F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EFEA9-D2FC-5370-32D8-809911B8D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3529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7DC37-A7C9-BA4F-BA4C-4A49A7213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58E130-D335-F5B8-6695-050DA2DB1C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FA155-E5DE-22BE-BBF1-0E8E5675F1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D39E7-3EF0-A4C8-9405-237BC8062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4B835-A268-5CA6-D208-21F5D337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C703F-99A0-F99B-80EF-FC87C9EF5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68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CF481-115A-E153-13FB-2C009D89C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74026E-271C-B199-F360-47210FC3E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C2041-9DCE-D844-EFF2-0ADD21D10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A3E2F-3543-F872-5636-DA4F17B39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43F9F-355D-5B2E-AFBE-EFE569073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2098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EE8BDC-17A1-945C-D9C0-B8BD17FF99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294CC4-0D6B-62A5-8492-64D4C30E2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442B1-072B-CCB6-BCC5-6D931F9C0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B5B32-17FF-3404-6F4A-E5D883AB5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B9A3C-D001-1507-8327-B1A310F24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95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330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10C3BE-2C9A-D4DF-4332-08E2F32A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C0E3F-9BE2-9A6D-F2FE-F3708BD9C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B432D-57D1-8632-E485-34E481E0B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642CD-AAAD-4E54-BAD2-9AEC05630F5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621C3-77E6-EA5C-739B-7C541A505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CE24B-8F1C-362A-6826-AD5A1761DD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47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0FB50-9906-96B7-CBC2-B32E967A67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COAL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BDC21D-3997-61A2-BA94-BDCD378A39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6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53763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5BB39-6EF9-D10B-D2CA-6FBBD354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Masking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90D7E-1515-5510-CCAE-7C055EAAF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 masking involves using binary masks to manipulate specific bits within a binary number through bitwise operations.</a:t>
            </a:r>
          </a:p>
          <a:p>
            <a:pPr lvl="1"/>
            <a:r>
              <a:rPr lang="en-US" dirty="0"/>
              <a:t>Type of bit manipulation</a:t>
            </a:r>
          </a:p>
          <a:p>
            <a:pPr lvl="1"/>
            <a:r>
              <a:rPr lang="en-US" dirty="0"/>
              <a:t>Binary masks are the bitwise operations</a:t>
            </a:r>
          </a:p>
          <a:p>
            <a:pPr lvl="1"/>
            <a:r>
              <a:rPr lang="en-US" dirty="0"/>
              <a:t>AND, OR, NOT, XOR</a:t>
            </a:r>
          </a:p>
          <a:p>
            <a:pPr lvl="1"/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B2A9AD-3077-C64D-5EB3-6DFD9208D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046" y="4683967"/>
            <a:ext cx="5869551" cy="119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117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AD229-0FCF-8EB7-03C9-016069043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masking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4C74B-4F2C-6EA3-DDF4-06860C932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Selective set -&gt; set a specific bit (1)</a:t>
            </a:r>
          </a:p>
          <a:p>
            <a:r>
              <a:rPr lang="en-US" dirty="0"/>
              <a:t>Selective clear -&gt; clear a specific bit (0)</a:t>
            </a:r>
          </a:p>
          <a:p>
            <a:r>
              <a:rPr lang="en-US" dirty="0"/>
              <a:t>Selective compliment -&gt; Compliment of a specific bit (1-&gt;0, 0 -&gt;1)</a:t>
            </a:r>
          </a:p>
        </p:txBody>
      </p:sp>
    </p:spTree>
    <p:extLst>
      <p:ext uri="{BB962C8B-B14F-4D97-AF65-F5344CB8AC3E}">
        <p14:creationId xmlns:p14="http://schemas.microsoft.com/office/powerpoint/2010/main" val="3843732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BCE2B-EDE4-EB79-7E6B-62E583F74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Selective Set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4F451-C233-8317-B56C-4D19E3D2A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selective set operation sets specific bits to 1 in a binary value without changing the other bits.</a:t>
            </a:r>
          </a:p>
          <a:p>
            <a:pPr algn="just"/>
            <a:r>
              <a:rPr lang="en-US" dirty="0"/>
              <a:t>OR operation is used with </a:t>
            </a:r>
            <a:r>
              <a:rPr lang="en-US" b="1" dirty="0"/>
              <a:t>mask</a:t>
            </a:r>
            <a:r>
              <a:rPr lang="en-US" dirty="0"/>
              <a:t> to set bits in original value to 1.</a:t>
            </a:r>
          </a:p>
          <a:p>
            <a:pPr algn="just"/>
            <a:r>
              <a:rPr lang="en-US" dirty="0"/>
              <a:t>Rest of bits remain 0.</a:t>
            </a:r>
          </a:p>
          <a:p>
            <a:pPr algn="just"/>
            <a:r>
              <a:rPr lang="en-US" dirty="0"/>
              <a:t>Let’s set the 2nd and 4th bits of a binary number </a:t>
            </a:r>
            <a:r>
              <a:rPr lang="en-US" b="1" dirty="0"/>
              <a:t>1010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b="1" dirty="0"/>
              <a:t>0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b="1" dirty="0"/>
              <a:t>0</a:t>
            </a:r>
            <a:r>
              <a:rPr lang="en-US" dirty="0"/>
              <a:t>b, by using mask 0000</a:t>
            </a:r>
            <a:r>
              <a:rPr lang="en-US" b="1" dirty="0"/>
              <a:t>1</a:t>
            </a:r>
            <a:r>
              <a:rPr lang="en-US" dirty="0"/>
              <a:t>0</a:t>
            </a:r>
            <a:r>
              <a:rPr lang="en-US" b="1" dirty="0"/>
              <a:t>1</a:t>
            </a:r>
            <a:r>
              <a:rPr lang="en-US" dirty="0"/>
              <a:t>0b</a:t>
            </a:r>
          </a:p>
          <a:p>
            <a:pPr lvl="1" algn="just"/>
            <a:r>
              <a:rPr lang="en-US" dirty="0"/>
              <a:t>10100000b | 00001010b -&gt; 1010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0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0b</a:t>
            </a:r>
          </a:p>
        </p:txBody>
      </p:sp>
    </p:spTree>
    <p:extLst>
      <p:ext uri="{BB962C8B-B14F-4D97-AF65-F5344CB8AC3E}">
        <p14:creationId xmlns:p14="http://schemas.microsoft.com/office/powerpoint/2010/main" val="946078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0435D-82FE-CA1B-1156-B78967ED5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Selective Set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0A732-DCFF-4FE8-657A-5AD792C9B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mask to set 2</a:t>
            </a:r>
            <a:r>
              <a:rPr lang="en-US" baseline="30000" dirty="0"/>
              <a:t>nd</a:t>
            </a:r>
            <a:r>
              <a:rPr lang="en-US" dirty="0"/>
              <a:t> and 6</a:t>
            </a:r>
            <a:r>
              <a:rPr lang="en-US" baseline="30000" dirty="0"/>
              <a:t>th</a:t>
            </a:r>
            <a:r>
              <a:rPr lang="en-US" dirty="0"/>
              <a:t> bit in 10010000b.</a:t>
            </a:r>
          </a:p>
          <a:p>
            <a:pPr lvl="1"/>
            <a:r>
              <a:rPr lang="en-US" dirty="0"/>
              <a:t>00100010b</a:t>
            </a:r>
          </a:p>
          <a:p>
            <a:r>
              <a:rPr lang="en-US" dirty="0"/>
              <a:t>Identify mask to set 1</a:t>
            </a:r>
            <a:r>
              <a:rPr lang="en-US" baseline="30000" dirty="0"/>
              <a:t>st</a:t>
            </a:r>
            <a:r>
              <a:rPr lang="en-US" dirty="0"/>
              <a:t>, 3</a:t>
            </a:r>
            <a:r>
              <a:rPr lang="en-US" baseline="30000" dirty="0"/>
              <a:t>rd</a:t>
            </a:r>
            <a:r>
              <a:rPr lang="en-US" dirty="0"/>
              <a:t> and 4</a:t>
            </a:r>
            <a:r>
              <a:rPr lang="en-US" baseline="30000" dirty="0"/>
              <a:t>th</a:t>
            </a:r>
            <a:r>
              <a:rPr lang="en-US" dirty="0"/>
              <a:t> bit in 00000000b.</a:t>
            </a:r>
          </a:p>
          <a:p>
            <a:pPr lvl="1"/>
            <a:r>
              <a:rPr lang="en-US" dirty="0"/>
              <a:t>00001101b</a:t>
            </a:r>
          </a:p>
          <a:p>
            <a:r>
              <a:rPr lang="en-US" dirty="0"/>
              <a:t>Which bits will be set in the binary number 00111100b, using mask 01001000b?</a:t>
            </a:r>
          </a:p>
          <a:p>
            <a:pPr lvl="1"/>
            <a:r>
              <a:rPr lang="en-US" dirty="0"/>
              <a:t>7</a:t>
            </a:r>
            <a:r>
              <a:rPr lang="en-US" baseline="30000" dirty="0"/>
              <a:t>th</a:t>
            </a:r>
            <a:r>
              <a:rPr lang="en-US" dirty="0"/>
              <a:t> bit</a:t>
            </a:r>
          </a:p>
        </p:txBody>
      </p:sp>
    </p:spTree>
    <p:extLst>
      <p:ext uri="{BB962C8B-B14F-4D97-AF65-F5344CB8AC3E}">
        <p14:creationId xmlns:p14="http://schemas.microsoft.com/office/powerpoint/2010/main" val="2530957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80493-0D87-AE8E-A119-5926066F8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Selective Clear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B2153-BA20-E05D-9473-E23550C5E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 selective clear operation clears specific bits (sets them to 0) without changing the other bits.</a:t>
            </a:r>
          </a:p>
          <a:p>
            <a:pPr algn="just"/>
            <a:r>
              <a:rPr lang="en-US" dirty="0"/>
              <a:t>AND operation is used with the mask to clear bits to 0.</a:t>
            </a:r>
          </a:p>
          <a:p>
            <a:pPr algn="just"/>
            <a:r>
              <a:rPr lang="en-US" dirty="0"/>
              <a:t>Rest of the bits remain 1.</a:t>
            </a:r>
          </a:p>
          <a:p>
            <a:pPr algn="just"/>
            <a:r>
              <a:rPr lang="en-US" dirty="0"/>
              <a:t>To clear the 3rd and 6th bits of a binary number 11</a:t>
            </a:r>
            <a:r>
              <a:rPr lang="en-US" b="1" dirty="0"/>
              <a:t>1</a:t>
            </a:r>
            <a:r>
              <a:rPr lang="en-US" dirty="0"/>
              <a:t>01</a:t>
            </a:r>
            <a:r>
              <a:rPr lang="en-US" b="1" dirty="0"/>
              <a:t>1</a:t>
            </a:r>
            <a:r>
              <a:rPr lang="en-US" dirty="0"/>
              <a:t>11b, use a mask 11011011b</a:t>
            </a:r>
          </a:p>
          <a:p>
            <a:pPr lvl="1" algn="just"/>
            <a:r>
              <a:rPr lang="en-US" dirty="0"/>
              <a:t>11101111b &amp; 11011011b -&gt; 11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01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11b</a:t>
            </a:r>
          </a:p>
        </p:txBody>
      </p:sp>
    </p:spTree>
    <p:extLst>
      <p:ext uri="{BB962C8B-B14F-4D97-AF65-F5344CB8AC3E}">
        <p14:creationId xmlns:p14="http://schemas.microsoft.com/office/powerpoint/2010/main" val="2514669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213E8-C073-E26D-2A48-8FFB78A72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3C706-4700-48B6-20F2-634B3C74E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Selective Clear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7DC87-8C56-6D41-CAA6-F4F2CE252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mask to clear 3</a:t>
            </a:r>
            <a:r>
              <a:rPr lang="en-US" baseline="30000" dirty="0"/>
              <a:t>rd</a:t>
            </a:r>
            <a:r>
              <a:rPr lang="en-US" dirty="0"/>
              <a:t> and 7</a:t>
            </a:r>
            <a:r>
              <a:rPr lang="en-US" baseline="30000" dirty="0"/>
              <a:t>th</a:t>
            </a:r>
            <a:r>
              <a:rPr lang="en-US" dirty="0"/>
              <a:t> bit in 11101111b.</a:t>
            </a:r>
          </a:p>
          <a:p>
            <a:pPr lvl="1"/>
            <a:r>
              <a:rPr lang="en-US" dirty="0"/>
              <a:t>10111011b</a:t>
            </a:r>
          </a:p>
          <a:p>
            <a:r>
              <a:rPr lang="en-US" dirty="0"/>
              <a:t>Identify mask to clear 1</a:t>
            </a:r>
            <a:r>
              <a:rPr lang="en-US" baseline="30000" dirty="0"/>
              <a:t>st</a:t>
            </a:r>
            <a:r>
              <a:rPr lang="en-US" dirty="0"/>
              <a:t>, 6</a:t>
            </a:r>
            <a:r>
              <a:rPr lang="en-US" baseline="30000" dirty="0"/>
              <a:t>th</a:t>
            </a:r>
            <a:r>
              <a:rPr lang="en-US" dirty="0"/>
              <a:t> and 8</a:t>
            </a:r>
            <a:r>
              <a:rPr lang="en-US" baseline="30000" dirty="0"/>
              <a:t>th</a:t>
            </a:r>
            <a:r>
              <a:rPr lang="en-US" dirty="0"/>
              <a:t> bit in 10101011b.</a:t>
            </a:r>
          </a:p>
          <a:p>
            <a:pPr lvl="1"/>
            <a:r>
              <a:rPr lang="en-US" dirty="0"/>
              <a:t>01011110b</a:t>
            </a:r>
          </a:p>
          <a:p>
            <a:r>
              <a:rPr lang="en-US" dirty="0"/>
              <a:t>Which bits will be cleared in the binary number 10101100b, using mask 01111011b?</a:t>
            </a:r>
          </a:p>
          <a:p>
            <a:pPr lvl="1"/>
            <a:r>
              <a:rPr lang="en-US" dirty="0"/>
              <a:t>8</a:t>
            </a:r>
            <a:r>
              <a:rPr lang="en-US" baseline="30000" dirty="0"/>
              <a:t>th</a:t>
            </a:r>
            <a:r>
              <a:rPr lang="en-US" dirty="0"/>
              <a:t> bit and 3</a:t>
            </a:r>
            <a:r>
              <a:rPr lang="en-US" baseline="30000" dirty="0"/>
              <a:t>rd</a:t>
            </a:r>
            <a:r>
              <a:rPr lang="en-US" dirty="0"/>
              <a:t> bit</a:t>
            </a:r>
          </a:p>
        </p:txBody>
      </p:sp>
    </p:spTree>
    <p:extLst>
      <p:ext uri="{BB962C8B-B14F-4D97-AF65-F5344CB8AC3E}">
        <p14:creationId xmlns:p14="http://schemas.microsoft.com/office/powerpoint/2010/main" val="3912661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D6D1A-0D27-5ED9-403A-7BD9690F7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Selective Compliment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9A73C-3CCA-0FB6-B10B-4F12D0F1E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Flipping the bits( 0 to 1 and 1 to 0) at specific positions in a binary number, based on a mask.</a:t>
            </a:r>
          </a:p>
          <a:p>
            <a:r>
              <a:rPr lang="en-US" dirty="0"/>
              <a:t>Selectively inverts bits according to where the mask has 1.</a:t>
            </a:r>
          </a:p>
          <a:p>
            <a:r>
              <a:rPr lang="en-US" dirty="0"/>
              <a:t>XOR operation (^) is used with value and mask.</a:t>
            </a:r>
          </a:p>
          <a:p>
            <a:r>
              <a:rPr lang="en-US" dirty="0"/>
              <a:t>Flip 1</a:t>
            </a:r>
            <a:r>
              <a:rPr lang="en-US" baseline="30000" dirty="0"/>
              <a:t>st</a:t>
            </a:r>
            <a:r>
              <a:rPr lang="en-US" dirty="0"/>
              <a:t>, 5</a:t>
            </a:r>
            <a:r>
              <a:rPr lang="en-US" baseline="30000" dirty="0"/>
              <a:t>th</a:t>
            </a:r>
            <a:r>
              <a:rPr lang="en-US" dirty="0"/>
              <a:t>, 7</a:t>
            </a:r>
            <a:r>
              <a:rPr lang="en-US" baseline="30000" dirty="0"/>
              <a:t>th</a:t>
            </a:r>
            <a:r>
              <a:rPr lang="en-US" dirty="0"/>
              <a:t> and 8</a:t>
            </a:r>
            <a:r>
              <a:rPr lang="en-US" baseline="30000" dirty="0"/>
              <a:t>th</a:t>
            </a:r>
            <a:r>
              <a:rPr lang="en-US" dirty="0"/>
              <a:t> bit in </a:t>
            </a:r>
            <a:r>
              <a:rPr lang="en-US" b="1" dirty="0"/>
              <a:t>10</a:t>
            </a:r>
            <a:r>
              <a:rPr lang="en-US" dirty="0"/>
              <a:t>1</a:t>
            </a:r>
            <a:r>
              <a:rPr lang="en-US" b="1" dirty="0"/>
              <a:t>0</a:t>
            </a:r>
            <a:r>
              <a:rPr lang="en-US" dirty="0"/>
              <a:t>110</a:t>
            </a:r>
            <a:r>
              <a:rPr lang="en-US" b="1" dirty="0"/>
              <a:t>0</a:t>
            </a:r>
            <a:r>
              <a:rPr lang="en-US" dirty="0"/>
              <a:t>b, using mask 11010001b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01</a:t>
            </a:r>
            <a:r>
              <a:rPr lang="en-US" dirty="0"/>
              <a:t>1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110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b					1-&gt;1 =  0; 0-&gt;0 = 0       ;    1-&gt;0=1, 0-&gt;1=1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3699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171FF-94BB-0669-0D0B-584EF8C04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7A185-EAC9-D4DA-C234-105BC2A06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Selective Compliment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23EF1-370E-9977-1135-F43095BDA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mask to flip 3</a:t>
            </a:r>
            <a:r>
              <a:rPr lang="en-US" baseline="30000" dirty="0"/>
              <a:t>rd</a:t>
            </a:r>
            <a:r>
              <a:rPr lang="en-US" dirty="0"/>
              <a:t>, 5</a:t>
            </a:r>
            <a:r>
              <a:rPr lang="en-US" baseline="30000" dirty="0"/>
              <a:t>th</a:t>
            </a:r>
            <a:r>
              <a:rPr lang="en-US" dirty="0"/>
              <a:t> and 7</a:t>
            </a:r>
            <a:r>
              <a:rPr lang="en-US" baseline="30000" dirty="0"/>
              <a:t>th</a:t>
            </a:r>
            <a:r>
              <a:rPr lang="en-US" dirty="0"/>
              <a:t> bit in 11101111b.</a:t>
            </a:r>
          </a:p>
          <a:p>
            <a:pPr lvl="1"/>
            <a:r>
              <a:rPr lang="en-US" dirty="0"/>
              <a:t>01010100b</a:t>
            </a:r>
          </a:p>
          <a:p>
            <a:r>
              <a:rPr lang="en-US" dirty="0"/>
              <a:t>Identify mask to flip 1</a:t>
            </a:r>
            <a:r>
              <a:rPr lang="en-US" baseline="30000" dirty="0"/>
              <a:t>st</a:t>
            </a:r>
            <a:r>
              <a:rPr lang="en-US" dirty="0"/>
              <a:t>, 6</a:t>
            </a:r>
            <a:r>
              <a:rPr lang="en-US" baseline="30000" dirty="0"/>
              <a:t>th</a:t>
            </a:r>
            <a:r>
              <a:rPr lang="en-US" dirty="0"/>
              <a:t> and 8</a:t>
            </a:r>
            <a:r>
              <a:rPr lang="en-US" baseline="30000" dirty="0"/>
              <a:t>th</a:t>
            </a:r>
            <a:r>
              <a:rPr lang="en-US" dirty="0"/>
              <a:t> bit in 10101011b.</a:t>
            </a:r>
          </a:p>
          <a:p>
            <a:pPr lvl="1"/>
            <a:r>
              <a:rPr lang="en-US" dirty="0"/>
              <a:t>10100001b</a:t>
            </a:r>
          </a:p>
          <a:p>
            <a:r>
              <a:rPr lang="en-US" dirty="0"/>
              <a:t>Which bits will be flipped in the binary number 10101100b, using mask 01111011b?</a:t>
            </a:r>
          </a:p>
          <a:p>
            <a:pPr lvl="1"/>
            <a:r>
              <a:rPr lang="en-US" dirty="0"/>
              <a:t>1, 2, 4, 5, 6, 7</a:t>
            </a:r>
          </a:p>
        </p:txBody>
      </p:sp>
    </p:spTree>
    <p:extLst>
      <p:ext uri="{BB962C8B-B14F-4D97-AF65-F5344CB8AC3E}">
        <p14:creationId xmlns:p14="http://schemas.microsoft.com/office/powerpoint/2010/main" val="98493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AE5CA-4178-625F-20E1-202FC08FF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4006C-D435-21AD-2C9D-A88849FB3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Stack is a data structure used for managing function calls, local variables, and control flow.</a:t>
            </a:r>
          </a:p>
          <a:p>
            <a:r>
              <a:rPr lang="en-US" dirty="0">
                <a:solidFill>
                  <a:schemeClr val="tx1"/>
                </a:solidFill>
              </a:rPr>
              <a:t>Last in First Out (LIFO)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Last item pushed onto the stack is the first one to be popped off.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.stack </a:t>
            </a:r>
            <a:r>
              <a:rPr lang="en-US" sz="2400" dirty="0">
                <a:solidFill>
                  <a:schemeClr val="tx1"/>
                </a:solidFill>
              </a:rPr>
              <a:t>directive is used to reserve a block of memory for stack. (.stack 100h)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SS (Stack Segment) Register: Holds stack Segment Address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stack pointer (SP) register is used to keep track of the top of the stack.</a:t>
            </a: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145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EC5F7-A0FC-B649-B211-7C18AED2A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on Stack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4BEA0-2E0F-9B4F-142F-7671D39A6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Push: Adds an item to the top of the stack.</a:t>
            </a:r>
          </a:p>
          <a:p>
            <a:r>
              <a:rPr lang="en-US" dirty="0"/>
              <a:t>Pop: Removes the top item from the stack.</a:t>
            </a:r>
          </a:p>
          <a:p>
            <a:r>
              <a:rPr lang="en-US" dirty="0"/>
              <a:t>Peek: Views the top item without removing it.</a:t>
            </a:r>
          </a:p>
        </p:txBody>
      </p:sp>
    </p:spTree>
    <p:extLst>
      <p:ext uri="{BB962C8B-B14F-4D97-AF65-F5344CB8AC3E}">
        <p14:creationId xmlns:p14="http://schemas.microsoft.com/office/powerpoint/2010/main" val="2483781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FF62C55F-DF56-0591-92DB-87E916F58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Push and </a:t>
            </a:r>
            <a:r>
              <a:rPr lang="en-US" altLang="en-US" dirty="0" err="1"/>
              <a:t>PushF</a:t>
            </a:r>
            <a:endParaRPr lang="en-US" altLang="en-US" dirty="0"/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5093750D-FE97-BF55-EB2C-12127226EEC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95402" y="2593196"/>
            <a:ext cx="9350827" cy="3375804"/>
          </a:xfrm>
        </p:spPr>
        <p:txBody>
          <a:bodyPr>
            <a:noAutofit/>
          </a:bodyPr>
          <a:lstStyle/>
          <a:p>
            <a:pPr algn="just"/>
            <a:r>
              <a:rPr lang="en-US" altLang="en-US" sz="2000" dirty="0"/>
              <a:t>Push: Used to add a new source (16-bit register or memory word) on stack</a:t>
            </a:r>
          </a:p>
          <a:p>
            <a:pPr algn="just"/>
            <a:r>
              <a:rPr lang="en-US" altLang="en-US" sz="2000" dirty="0"/>
              <a:t>Syntax:</a:t>
            </a:r>
          </a:p>
          <a:p>
            <a:pPr algn="just">
              <a:buFont typeface="Wingdings 3" panose="05040102010807070707" pitchFamily="18" charset="2"/>
              <a:buNone/>
            </a:pPr>
            <a:r>
              <a:rPr lang="en-US" altLang="en-US" sz="2000" dirty="0"/>
              <a:t>		PUSH </a:t>
            </a:r>
            <a:r>
              <a:rPr lang="en-US" altLang="en-US" sz="2000" i="1" dirty="0"/>
              <a:t>source</a:t>
            </a:r>
          </a:p>
          <a:p>
            <a:pPr algn="just"/>
            <a:r>
              <a:rPr lang="en-US" altLang="en-US" sz="2000" dirty="0"/>
              <a:t>Execution of PUSH causes:</a:t>
            </a:r>
          </a:p>
          <a:p>
            <a:pPr lvl="1" algn="just"/>
            <a:r>
              <a:rPr lang="en-US" altLang="en-US" dirty="0"/>
              <a:t>SP is decreased by 2 (stack grows downward in memory)</a:t>
            </a:r>
          </a:p>
          <a:p>
            <a:pPr lvl="1" algn="just"/>
            <a:r>
              <a:rPr lang="en-US" altLang="en-US" dirty="0"/>
              <a:t>A copy of source contents is moved to the address specified by SS:SP.</a:t>
            </a:r>
          </a:p>
          <a:p>
            <a:pPr lvl="1" algn="just"/>
            <a:r>
              <a:rPr lang="en-US" altLang="en-US" dirty="0"/>
              <a:t>Source remains unchanged</a:t>
            </a:r>
          </a:p>
          <a:p>
            <a:pPr algn="just">
              <a:buClr>
                <a:srgbClr val="727CA3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PUSHF has no operand and it pushes the contents of FLAG register onto the stack. </a:t>
            </a:r>
          </a:p>
          <a:p>
            <a:pPr lvl="1" algn="just"/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8914F-FDB9-CF06-7855-D6C4498FA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5ADCD1-CFE9-42F3-B572-58E842AE89F0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12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A495488B-CDD7-4371-E04F-4DD4C96FF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2" y="84402"/>
            <a:ext cx="9601196" cy="1303867"/>
          </a:xfrm>
        </p:spPr>
        <p:txBody>
          <a:bodyPr/>
          <a:lstStyle/>
          <a:p>
            <a:r>
              <a:rPr lang="en-US" altLang="en-US" dirty="0">
                <a:latin typeface="Garamond" panose="02020404030301010803" pitchFamily="18" charset="0"/>
              </a:rPr>
              <a:t>PUSH -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EB98E-4022-B8D7-A4D1-7EE01E21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0D6B9D2-F31F-473B-A3EF-980C6371237D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13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BCC94A-E0B6-96FE-E756-C7EABC412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297958"/>
              </p:ext>
            </p:extLst>
          </p:nvPr>
        </p:nvGraphicFramePr>
        <p:xfrm>
          <a:off x="1981200" y="1905000"/>
          <a:ext cx="1981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0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00F8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00FA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0100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1BE6C5-C0D4-165B-603F-54D0B59DF49B}"/>
              </a:ext>
            </a:extLst>
          </p:cNvPr>
          <p:cNvCxnSpPr/>
          <p:nvPr/>
        </p:nvCxnSpPr>
        <p:spPr>
          <a:xfrm rot="10800000">
            <a:off x="3962400" y="35814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12" name="TextBox 9">
            <a:extLst>
              <a:ext uri="{FF2B5EF4-FFF2-40B4-BE49-F238E27FC236}">
                <a16:creationId xmlns:a16="http://schemas.microsoft.com/office/drawing/2014/main" id="{B149D90C-6083-18A2-88FF-3C618DEFE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4290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SP</a:t>
            </a:r>
          </a:p>
        </p:txBody>
      </p:sp>
      <p:grpSp>
        <p:nvGrpSpPr>
          <p:cNvPr id="12313" name="Group 17">
            <a:extLst>
              <a:ext uri="{FF2B5EF4-FFF2-40B4-BE49-F238E27FC236}">
                <a16:creationId xmlns:a16="http://schemas.microsoft.com/office/drawing/2014/main" id="{F7E3EDC9-2643-E5C2-4E9C-EAD0C57FF764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4038600"/>
            <a:ext cx="1600200" cy="1752600"/>
            <a:chOff x="609600" y="4038600"/>
            <a:chExt cx="1600200" cy="1752600"/>
          </a:xfrm>
        </p:grpSpPr>
        <p:sp>
          <p:nvSpPr>
            <p:cNvPr id="12383" name="TextBox 11">
              <a:extLst>
                <a:ext uri="{FF2B5EF4-FFF2-40B4-BE49-F238E27FC236}">
                  <a16:creationId xmlns:a16="http://schemas.microsoft.com/office/drawing/2014/main" id="{FB347E14-6F0C-6416-B8C4-9A60030ED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4114800"/>
              <a:ext cx="685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SP</a:t>
              </a:r>
            </a:p>
          </p:txBody>
        </p:sp>
        <p:sp>
          <p:nvSpPr>
            <p:cNvPr id="12384" name="TextBox 12">
              <a:extLst>
                <a:ext uri="{FF2B5EF4-FFF2-40B4-BE49-F238E27FC236}">
                  <a16:creationId xmlns:a16="http://schemas.microsoft.com/office/drawing/2014/main" id="{1ADBCD44-67DD-290D-DD57-DF7C641716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4724400"/>
              <a:ext cx="533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AX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035EA31-51D6-D67E-A156-F24397D01DFB}"/>
                </a:ext>
              </a:extLst>
            </p:cNvPr>
            <p:cNvSpPr/>
            <p:nvPr/>
          </p:nvSpPr>
          <p:spPr>
            <a:xfrm>
              <a:off x="1219200" y="4038600"/>
              <a:ext cx="990600" cy="4572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FF0000"/>
                  </a:solidFill>
                </a:rPr>
                <a:t>0100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1E17CB7-1390-C6F2-02C9-E33A6644ADA5}"/>
                </a:ext>
              </a:extLst>
            </p:cNvPr>
            <p:cNvSpPr/>
            <p:nvPr/>
          </p:nvSpPr>
          <p:spPr>
            <a:xfrm>
              <a:off x="1219200" y="4648200"/>
              <a:ext cx="990600" cy="4572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1234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72754B4-89F6-68DE-401B-B6DA2F395758}"/>
                </a:ext>
              </a:extLst>
            </p:cNvPr>
            <p:cNvSpPr/>
            <p:nvPr/>
          </p:nvSpPr>
          <p:spPr>
            <a:xfrm>
              <a:off x="1219200" y="5334000"/>
              <a:ext cx="990600" cy="4572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5678</a:t>
              </a:r>
            </a:p>
          </p:txBody>
        </p:sp>
        <p:sp>
          <p:nvSpPr>
            <p:cNvPr id="12388" name="TextBox 16">
              <a:extLst>
                <a:ext uri="{FF2B5EF4-FFF2-40B4-BE49-F238E27FC236}">
                  <a16:creationId xmlns:a16="http://schemas.microsoft.com/office/drawing/2014/main" id="{7763AB79-EB4B-BF55-A40B-0BB6A2E8BC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5410200"/>
              <a:ext cx="533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BX</a:t>
              </a:r>
            </a:p>
          </p:txBody>
        </p: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1E1A39D-2283-257E-85EB-BA8A96A69E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087266"/>
              </p:ext>
            </p:extLst>
          </p:nvPr>
        </p:nvGraphicFramePr>
        <p:xfrm>
          <a:off x="4724400" y="1905000"/>
          <a:ext cx="1981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0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00F8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00FA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1234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0100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2333" name="Group 38">
            <a:extLst>
              <a:ext uri="{FF2B5EF4-FFF2-40B4-BE49-F238E27FC236}">
                <a16:creationId xmlns:a16="http://schemas.microsoft.com/office/drawing/2014/main" id="{4D2EED2D-FAF9-5E1D-DBD7-DD6A7395C776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3048000"/>
            <a:ext cx="762000" cy="369888"/>
            <a:chOff x="5105400" y="3429000"/>
            <a:chExt cx="762000" cy="369332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1AD9E78-8AD6-DB5F-8D9B-2FC5FC1882B9}"/>
                </a:ext>
              </a:extLst>
            </p:cNvPr>
            <p:cNvCxnSpPr/>
            <p:nvPr/>
          </p:nvCxnSpPr>
          <p:spPr>
            <a:xfrm rot="10800000">
              <a:off x="5105400" y="3581171"/>
              <a:ext cx="228600" cy="158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382" name="TextBox 20">
              <a:extLst>
                <a:ext uri="{FF2B5EF4-FFF2-40B4-BE49-F238E27FC236}">
                  <a16:creationId xmlns:a16="http://schemas.microsoft.com/office/drawing/2014/main" id="{828F000B-E7FE-8160-5FEF-F1A95F583A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3429000"/>
              <a:ext cx="533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FF0000"/>
                  </a:solidFill>
                </a:rPr>
                <a:t>SP</a:t>
              </a:r>
            </a:p>
          </p:txBody>
        </p:sp>
      </p:grpSp>
      <p:grpSp>
        <p:nvGrpSpPr>
          <p:cNvPr id="12334" name="Group 21">
            <a:extLst>
              <a:ext uri="{FF2B5EF4-FFF2-40B4-BE49-F238E27FC236}">
                <a16:creationId xmlns:a16="http://schemas.microsoft.com/office/drawing/2014/main" id="{B640AC20-C1EE-61A6-57FF-6634F9AFAFB7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4038600"/>
            <a:ext cx="1600200" cy="1752600"/>
            <a:chOff x="609600" y="4038600"/>
            <a:chExt cx="1600200" cy="1752600"/>
          </a:xfrm>
        </p:grpSpPr>
        <p:sp>
          <p:nvSpPr>
            <p:cNvPr id="12375" name="TextBox 22">
              <a:extLst>
                <a:ext uri="{FF2B5EF4-FFF2-40B4-BE49-F238E27FC236}">
                  <a16:creationId xmlns:a16="http://schemas.microsoft.com/office/drawing/2014/main" id="{580C66EC-1526-43E4-83FF-DB195AA701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4114800"/>
              <a:ext cx="685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SP</a:t>
              </a:r>
            </a:p>
          </p:txBody>
        </p:sp>
        <p:sp>
          <p:nvSpPr>
            <p:cNvPr id="12376" name="TextBox 23">
              <a:extLst>
                <a:ext uri="{FF2B5EF4-FFF2-40B4-BE49-F238E27FC236}">
                  <a16:creationId xmlns:a16="http://schemas.microsoft.com/office/drawing/2014/main" id="{B918BDA0-9C39-7ACB-80C1-2E47E3DC18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4724400"/>
              <a:ext cx="533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AX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5EEC1E9-C4AA-2802-10D7-E5F7F55DDB7D}"/>
                </a:ext>
              </a:extLst>
            </p:cNvPr>
            <p:cNvSpPr/>
            <p:nvPr/>
          </p:nvSpPr>
          <p:spPr>
            <a:xfrm>
              <a:off x="1219200" y="4038600"/>
              <a:ext cx="990600" cy="4572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FF0000"/>
                  </a:solidFill>
                </a:rPr>
                <a:t>00FE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3FDBC6E-21AA-2C5A-28C0-F18739014AC3}"/>
                </a:ext>
              </a:extLst>
            </p:cNvPr>
            <p:cNvSpPr/>
            <p:nvPr/>
          </p:nvSpPr>
          <p:spPr>
            <a:xfrm>
              <a:off x="1219200" y="4648200"/>
              <a:ext cx="990600" cy="4572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1234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EA8D065-3BE7-4334-D68A-DC7664870EFF}"/>
                </a:ext>
              </a:extLst>
            </p:cNvPr>
            <p:cNvSpPr/>
            <p:nvPr/>
          </p:nvSpPr>
          <p:spPr>
            <a:xfrm>
              <a:off x="1219200" y="5334000"/>
              <a:ext cx="990600" cy="4572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5678</a:t>
              </a:r>
            </a:p>
          </p:txBody>
        </p:sp>
        <p:sp>
          <p:nvSpPr>
            <p:cNvPr id="12380" name="TextBox 27">
              <a:extLst>
                <a:ext uri="{FF2B5EF4-FFF2-40B4-BE49-F238E27FC236}">
                  <a16:creationId xmlns:a16="http://schemas.microsoft.com/office/drawing/2014/main" id="{3E19C222-C0EA-DC3E-3B2B-83067303A9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5410200"/>
              <a:ext cx="533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BX</a:t>
              </a:r>
            </a:p>
          </p:txBody>
        </p:sp>
      </p:grp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AD45C13-9F54-AA0C-E88D-AC34B1FAD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513058"/>
              </p:ext>
            </p:extLst>
          </p:nvPr>
        </p:nvGraphicFramePr>
        <p:xfrm>
          <a:off x="7620000" y="1905000"/>
          <a:ext cx="1981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0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00F8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00FA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5678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1234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0100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2354" name="Group 39">
            <a:extLst>
              <a:ext uri="{FF2B5EF4-FFF2-40B4-BE49-F238E27FC236}">
                <a16:creationId xmlns:a16="http://schemas.microsoft.com/office/drawing/2014/main" id="{5ABB57E2-36A0-77C8-0261-9D9F1157BBA1}"/>
              </a:ext>
            </a:extLst>
          </p:cNvPr>
          <p:cNvGrpSpPr>
            <a:grpSpLocks/>
          </p:cNvGrpSpPr>
          <p:nvPr/>
        </p:nvGrpSpPr>
        <p:grpSpPr bwMode="auto">
          <a:xfrm>
            <a:off x="9601200" y="2667000"/>
            <a:ext cx="762000" cy="369888"/>
            <a:chOff x="8001000" y="3429000"/>
            <a:chExt cx="762000" cy="369332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0651BA8F-F500-3BB8-43F2-261A1224A785}"/>
                </a:ext>
              </a:extLst>
            </p:cNvPr>
            <p:cNvCxnSpPr/>
            <p:nvPr/>
          </p:nvCxnSpPr>
          <p:spPr>
            <a:xfrm rot="10800000">
              <a:off x="8001000" y="3581171"/>
              <a:ext cx="228600" cy="158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374" name="TextBox 30">
              <a:extLst>
                <a:ext uri="{FF2B5EF4-FFF2-40B4-BE49-F238E27FC236}">
                  <a16:creationId xmlns:a16="http://schemas.microsoft.com/office/drawing/2014/main" id="{22ABC9EE-5DF5-875C-EBDE-FA931A5330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29600" y="3429000"/>
              <a:ext cx="533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FF0000"/>
                  </a:solidFill>
                </a:rPr>
                <a:t>SP</a:t>
              </a:r>
            </a:p>
          </p:txBody>
        </p:sp>
      </p:grpSp>
      <p:grpSp>
        <p:nvGrpSpPr>
          <p:cNvPr id="12355" name="Group 31">
            <a:extLst>
              <a:ext uri="{FF2B5EF4-FFF2-40B4-BE49-F238E27FC236}">
                <a16:creationId xmlns:a16="http://schemas.microsoft.com/office/drawing/2014/main" id="{7CD327B2-EBCA-A412-8392-AA969D3D0E0C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4038600"/>
            <a:ext cx="1600200" cy="1752600"/>
            <a:chOff x="609600" y="4038600"/>
            <a:chExt cx="1600200" cy="1752600"/>
          </a:xfrm>
        </p:grpSpPr>
        <p:sp>
          <p:nvSpPr>
            <p:cNvPr id="12367" name="TextBox 32">
              <a:extLst>
                <a:ext uri="{FF2B5EF4-FFF2-40B4-BE49-F238E27FC236}">
                  <a16:creationId xmlns:a16="http://schemas.microsoft.com/office/drawing/2014/main" id="{769C717B-7FB6-D115-EE1C-E1348FCC10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4114800"/>
              <a:ext cx="685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SP</a:t>
              </a:r>
            </a:p>
          </p:txBody>
        </p:sp>
        <p:sp>
          <p:nvSpPr>
            <p:cNvPr id="12368" name="TextBox 33">
              <a:extLst>
                <a:ext uri="{FF2B5EF4-FFF2-40B4-BE49-F238E27FC236}">
                  <a16:creationId xmlns:a16="http://schemas.microsoft.com/office/drawing/2014/main" id="{81DDFED5-2640-C90D-B19A-D9F41D86B9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4724400"/>
              <a:ext cx="533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AX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12505C1-0C6E-D8D4-7BF0-F8DCBEA56656}"/>
                </a:ext>
              </a:extLst>
            </p:cNvPr>
            <p:cNvSpPr/>
            <p:nvPr/>
          </p:nvSpPr>
          <p:spPr>
            <a:xfrm>
              <a:off x="1219200" y="4038600"/>
              <a:ext cx="990600" cy="4572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FF0000"/>
                  </a:solidFill>
                </a:rPr>
                <a:t>00FC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9D6E264-76CF-CE68-C2A8-5A92C6C7D364}"/>
                </a:ext>
              </a:extLst>
            </p:cNvPr>
            <p:cNvSpPr/>
            <p:nvPr/>
          </p:nvSpPr>
          <p:spPr>
            <a:xfrm>
              <a:off x="1219200" y="4648200"/>
              <a:ext cx="990600" cy="4572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1234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1721208-A621-51AB-D669-AFDD346E90F9}"/>
                </a:ext>
              </a:extLst>
            </p:cNvPr>
            <p:cNvSpPr/>
            <p:nvPr/>
          </p:nvSpPr>
          <p:spPr>
            <a:xfrm>
              <a:off x="1219200" y="5334000"/>
              <a:ext cx="990600" cy="4572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5678</a:t>
              </a:r>
            </a:p>
          </p:txBody>
        </p:sp>
        <p:sp>
          <p:nvSpPr>
            <p:cNvPr id="12372" name="TextBox 37">
              <a:extLst>
                <a:ext uri="{FF2B5EF4-FFF2-40B4-BE49-F238E27FC236}">
                  <a16:creationId xmlns:a16="http://schemas.microsoft.com/office/drawing/2014/main" id="{83A560B6-3DE8-B651-9C26-096F37BCC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5410200"/>
              <a:ext cx="533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BX</a:t>
              </a:r>
            </a:p>
          </p:txBody>
        </p:sp>
      </p:grpSp>
      <p:sp>
        <p:nvSpPr>
          <p:cNvPr id="12356" name="TextBox 40">
            <a:extLst>
              <a:ext uri="{FF2B5EF4-FFF2-40B4-BE49-F238E27FC236}">
                <a16:creationId xmlns:a16="http://schemas.microsoft.com/office/drawing/2014/main" id="{AADCA18D-2428-0AD2-EF76-4466543B4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5943600"/>
            <a:ext cx="1828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/>
              <a:t>After PUSH AX</a:t>
            </a:r>
          </a:p>
        </p:txBody>
      </p:sp>
      <p:sp>
        <p:nvSpPr>
          <p:cNvPr id="12357" name="TextBox 41">
            <a:extLst>
              <a:ext uri="{FF2B5EF4-FFF2-40B4-BE49-F238E27FC236}">
                <a16:creationId xmlns:a16="http://schemas.microsoft.com/office/drawing/2014/main" id="{B8B0A97A-7D34-6985-34EA-D98ED04C6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943600"/>
            <a:ext cx="1828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 dirty="0"/>
              <a:t>INITIAL STACK</a:t>
            </a:r>
          </a:p>
        </p:txBody>
      </p:sp>
      <p:sp>
        <p:nvSpPr>
          <p:cNvPr id="12358" name="TextBox 42">
            <a:extLst>
              <a:ext uri="{FF2B5EF4-FFF2-40B4-BE49-F238E27FC236}">
                <a16:creationId xmlns:a16="http://schemas.microsoft.com/office/drawing/2014/main" id="{F24AB768-95E5-D37F-D62D-8D6737D71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5943600"/>
            <a:ext cx="1828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/>
              <a:t>After PUSH BX</a:t>
            </a:r>
          </a:p>
        </p:txBody>
      </p:sp>
      <p:sp>
        <p:nvSpPr>
          <p:cNvPr id="12359" name="TextBox 43">
            <a:extLst>
              <a:ext uri="{FF2B5EF4-FFF2-40B4-BE49-F238E27FC236}">
                <a16:creationId xmlns:a16="http://schemas.microsoft.com/office/drawing/2014/main" id="{B7E6430D-37E9-3F99-87A2-82DD5208A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3716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Offset</a:t>
            </a:r>
          </a:p>
        </p:txBody>
      </p:sp>
      <p:sp>
        <p:nvSpPr>
          <p:cNvPr id="12360" name="TextBox 44">
            <a:extLst>
              <a:ext uri="{FF2B5EF4-FFF2-40B4-BE49-F238E27FC236}">
                <a16:creationId xmlns:a16="http://schemas.microsoft.com/office/drawing/2014/main" id="{84200EBF-6BFB-0B9F-7888-28380C628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3716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Offset</a:t>
            </a:r>
          </a:p>
        </p:txBody>
      </p:sp>
      <p:sp>
        <p:nvSpPr>
          <p:cNvPr id="12361" name="TextBox 45">
            <a:extLst>
              <a:ext uri="{FF2B5EF4-FFF2-40B4-BE49-F238E27FC236}">
                <a16:creationId xmlns:a16="http://schemas.microsoft.com/office/drawing/2014/main" id="{D8CEA6B0-1B8D-A7BA-3823-EDC3A3148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14478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Offset</a:t>
            </a:r>
          </a:p>
        </p:txBody>
      </p:sp>
      <p:sp>
        <p:nvSpPr>
          <p:cNvPr id="12362" name="TextBox 46">
            <a:extLst>
              <a:ext uri="{FF2B5EF4-FFF2-40B4-BE49-F238E27FC236}">
                <a16:creationId xmlns:a16="http://schemas.microsoft.com/office/drawing/2014/main" id="{E08315C6-115E-932E-E619-F107A7B9D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3716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Stack</a:t>
            </a:r>
          </a:p>
        </p:txBody>
      </p:sp>
      <p:sp>
        <p:nvSpPr>
          <p:cNvPr id="12363" name="TextBox 47">
            <a:extLst>
              <a:ext uri="{FF2B5EF4-FFF2-40B4-BE49-F238E27FC236}">
                <a16:creationId xmlns:a16="http://schemas.microsoft.com/office/drawing/2014/main" id="{218046DA-57FF-9A3D-7A3F-5781B5846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3716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Stack</a:t>
            </a:r>
          </a:p>
        </p:txBody>
      </p:sp>
      <p:sp>
        <p:nvSpPr>
          <p:cNvPr id="12364" name="TextBox 48">
            <a:extLst>
              <a:ext uri="{FF2B5EF4-FFF2-40B4-BE49-F238E27FC236}">
                <a16:creationId xmlns:a16="http://schemas.microsoft.com/office/drawing/2014/main" id="{D87F8FF3-05D0-4324-B9A8-4CDCB2067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13716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Stack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4922393-7999-4501-44A1-2FA144DACD1E}"/>
              </a:ext>
            </a:extLst>
          </p:cNvPr>
          <p:cNvCxnSpPr/>
          <p:nvPr/>
        </p:nvCxnSpPr>
        <p:spPr>
          <a:xfrm rot="5400000">
            <a:off x="2134394" y="3733006"/>
            <a:ext cx="5029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A7C2590-139A-22F7-233B-949DB2D5A0E9}"/>
              </a:ext>
            </a:extLst>
          </p:cNvPr>
          <p:cNvCxnSpPr/>
          <p:nvPr/>
        </p:nvCxnSpPr>
        <p:spPr>
          <a:xfrm rot="5400000">
            <a:off x="4877594" y="3733006"/>
            <a:ext cx="5029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941E1121-1469-C4BE-B9DC-DE1C6FC11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POP And POPF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71C157A3-0AFD-00BB-2011-7E6399ED8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237" y="2659224"/>
            <a:ext cx="9422361" cy="3497102"/>
          </a:xfrm>
        </p:spPr>
        <p:txBody>
          <a:bodyPr>
            <a:normAutofit/>
          </a:bodyPr>
          <a:lstStyle/>
          <a:p>
            <a:pPr algn="just"/>
            <a:r>
              <a:rPr lang="en-US" altLang="en-US" sz="2000" dirty="0"/>
              <a:t>POP: Used to remove top item from stack to destination (i.e. a 16-bit register or memory word).</a:t>
            </a:r>
          </a:p>
          <a:p>
            <a:pPr algn="just"/>
            <a:r>
              <a:rPr lang="en-US" altLang="en-US" sz="2000" dirty="0"/>
              <a:t>Syntax:</a:t>
            </a:r>
          </a:p>
          <a:p>
            <a:pPr algn="just">
              <a:buFont typeface="Wingdings 3" panose="05040102010807070707" pitchFamily="18" charset="2"/>
              <a:buNone/>
            </a:pPr>
            <a:r>
              <a:rPr lang="en-US" altLang="en-US" sz="2000" dirty="0"/>
              <a:t>		POP </a:t>
            </a:r>
            <a:r>
              <a:rPr lang="en-US" altLang="en-US" sz="2000" i="1" dirty="0"/>
              <a:t>destination</a:t>
            </a:r>
          </a:p>
          <a:p>
            <a:pPr algn="just"/>
            <a:r>
              <a:rPr lang="en-US" altLang="en-US" sz="2000" dirty="0"/>
              <a:t>Execution of POP causes:</a:t>
            </a:r>
          </a:p>
          <a:p>
            <a:pPr lvl="1" algn="just"/>
            <a:r>
              <a:rPr lang="en-US" altLang="en-US" dirty="0"/>
              <a:t>The contents of SS:SP (top of the stack) is moved to the destination.</a:t>
            </a:r>
          </a:p>
          <a:p>
            <a:pPr lvl="1" algn="just"/>
            <a:r>
              <a:rPr lang="en-US" altLang="en-US" dirty="0"/>
              <a:t>SP is increased by 2</a:t>
            </a:r>
          </a:p>
          <a:p>
            <a:pPr algn="just">
              <a:buClr>
                <a:srgbClr val="727CA3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POPF has no operand and pops the top of the stack into FLAG register. </a:t>
            </a:r>
          </a:p>
          <a:p>
            <a:pPr lvl="1" algn="just"/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3189F-2491-8A44-9A93-ABF947DE3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704F816-D6B8-4A30-8F52-AA4F1444499C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14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B1EF2495-7DF5-054B-2B3E-9B688FB95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936"/>
            <a:ext cx="10515600" cy="1325563"/>
          </a:xfrm>
        </p:spPr>
        <p:txBody>
          <a:bodyPr/>
          <a:lstStyle/>
          <a:p>
            <a:r>
              <a:rPr lang="en-US" altLang="en-US" dirty="0">
                <a:latin typeface="Garamond" panose="02020404030301010803" pitchFamily="18" charset="0"/>
              </a:rPr>
              <a:t>POP -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02A4B-28A1-64BB-4232-C0FCE244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69EC2C2-BC2A-42FA-87BB-3D9888AEAF84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15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6C72C1-CE60-CFE3-8C6E-50E99BA164E4}"/>
              </a:ext>
            </a:extLst>
          </p:cNvPr>
          <p:cNvGraphicFramePr>
            <a:graphicFrameLocks noGrp="1"/>
          </p:cNvGraphicFramePr>
          <p:nvPr/>
        </p:nvGraphicFramePr>
        <p:xfrm>
          <a:off x="2133600" y="1828800"/>
          <a:ext cx="1981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0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00F8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00FA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5678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1234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0100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4359" name="Group 5">
            <a:extLst>
              <a:ext uri="{FF2B5EF4-FFF2-40B4-BE49-F238E27FC236}">
                <a16:creationId xmlns:a16="http://schemas.microsoft.com/office/drawing/2014/main" id="{ED73FE59-75FD-9D60-1B56-1E99234C3F4F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2590800"/>
            <a:ext cx="762000" cy="369888"/>
            <a:chOff x="8001000" y="3429000"/>
            <a:chExt cx="762000" cy="36933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2CA296B-D928-A21B-3FF8-D3AAD26AE475}"/>
                </a:ext>
              </a:extLst>
            </p:cNvPr>
            <p:cNvCxnSpPr/>
            <p:nvPr/>
          </p:nvCxnSpPr>
          <p:spPr>
            <a:xfrm rot="10800000">
              <a:off x="8001000" y="3581171"/>
              <a:ext cx="228600" cy="158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437" name="TextBox 7">
              <a:extLst>
                <a:ext uri="{FF2B5EF4-FFF2-40B4-BE49-F238E27FC236}">
                  <a16:creationId xmlns:a16="http://schemas.microsoft.com/office/drawing/2014/main" id="{6EF63D6F-2BE3-6AFB-579C-AC6D41DEAE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29600" y="3429000"/>
              <a:ext cx="533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FF0000"/>
                  </a:solidFill>
                </a:rPr>
                <a:t>SP</a:t>
              </a:r>
            </a:p>
          </p:txBody>
        </p:sp>
      </p:grpSp>
      <p:grpSp>
        <p:nvGrpSpPr>
          <p:cNvPr id="14360" name="Group 8">
            <a:extLst>
              <a:ext uri="{FF2B5EF4-FFF2-40B4-BE49-F238E27FC236}">
                <a16:creationId xmlns:a16="http://schemas.microsoft.com/office/drawing/2014/main" id="{F6C5DC82-C17C-BE8F-66F8-857811C2DCDC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4038600"/>
            <a:ext cx="1600200" cy="1752600"/>
            <a:chOff x="609600" y="4038600"/>
            <a:chExt cx="1600200" cy="1752600"/>
          </a:xfrm>
        </p:grpSpPr>
        <p:sp>
          <p:nvSpPr>
            <p:cNvPr id="14430" name="TextBox 9">
              <a:extLst>
                <a:ext uri="{FF2B5EF4-FFF2-40B4-BE49-F238E27FC236}">
                  <a16:creationId xmlns:a16="http://schemas.microsoft.com/office/drawing/2014/main" id="{525CE0C2-3E54-045A-521A-F82730F66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4114800"/>
              <a:ext cx="685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SP</a:t>
              </a:r>
            </a:p>
          </p:txBody>
        </p:sp>
        <p:sp>
          <p:nvSpPr>
            <p:cNvPr id="14431" name="TextBox 10">
              <a:extLst>
                <a:ext uri="{FF2B5EF4-FFF2-40B4-BE49-F238E27FC236}">
                  <a16:creationId xmlns:a16="http://schemas.microsoft.com/office/drawing/2014/main" id="{A811CBE0-3BAC-B1FF-FC0B-4FA9FF2DDC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4724400"/>
              <a:ext cx="533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CX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1934A13-B001-FD26-25BA-7206117D5111}"/>
                </a:ext>
              </a:extLst>
            </p:cNvPr>
            <p:cNvSpPr/>
            <p:nvPr/>
          </p:nvSpPr>
          <p:spPr>
            <a:xfrm>
              <a:off x="1219200" y="4038600"/>
              <a:ext cx="990600" cy="4572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00FC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8159E9-96B0-D34D-C47E-168478BDA54F}"/>
                </a:ext>
              </a:extLst>
            </p:cNvPr>
            <p:cNvSpPr/>
            <p:nvPr/>
          </p:nvSpPr>
          <p:spPr>
            <a:xfrm>
              <a:off x="1219200" y="4648200"/>
              <a:ext cx="990600" cy="4572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FFFF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FB7E47A-EDE1-8E27-BD5A-945CE570A610}"/>
                </a:ext>
              </a:extLst>
            </p:cNvPr>
            <p:cNvSpPr/>
            <p:nvPr/>
          </p:nvSpPr>
          <p:spPr>
            <a:xfrm>
              <a:off x="1219200" y="5334000"/>
              <a:ext cx="990600" cy="4572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0001</a:t>
              </a:r>
            </a:p>
          </p:txBody>
        </p:sp>
        <p:sp>
          <p:nvSpPr>
            <p:cNvPr id="14435" name="TextBox 14">
              <a:extLst>
                <a:ext uri="{FF2B5EF4-FFF2-40B4-BE49-F238E27FC236}">
                  <a16:creationId xmlns:a16="http://schemas.microsoft.com/office/drawing/2014/main" id="{F3AD631C-3AA4-4445-846C-2913B83B7A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5410200"/>
              <a:ext cx="533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DX</a:t>
              </a:r>
            </a:p>
          </p:txBody>
        </p:sp>
      </p:grpSp>
      <p:sp>
        <p:nvSpPr>
          <p:cNvPr id="14361" name="TextBox 15">
            <a:extLst>
              <a:ext uri="{FF2B5EF4-FFF2-40B4-BE49-F238E27FC236}">
                <a16:creationId xmlns:a16="http://schemas.microsoft.com/office/drawing/2014/main" id="{83994D03-0C65-CB58-864C-6A317FADE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3716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Offset</a:t>
            </a:r>
          </a:p>
        </p:txBody>
      </p:sp>
      <p:sp>
        <p:nvSpPr>
          <p:cNvPr id="14362" name="TextBox 16">
            <a:extLst>
              <a:ext uri="{FF2B5EF4-FFF2-40B4-BE49-F238E27FC236}">
                <a16:creationId xmlns:a16="http://schemas.microsoft.com/office/drawing/2014/main" id="{84694155-B262-7927-DBD3-001B728AF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3716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Stack</a:t>
            </a:r>
          </a:p>
        </p:txBody>
      </p:sp>
      <p:sp>
        <p:nvSpPr>
          <p:cNvPr id="14363" name="TextBox 17">
            <a:extLst>
              <a:ext uri="{FF2B5EF4-FFF2-40B4-BE49-F238E27FC236}">
                <a16:creationId xmlns:a16="http://schemas.microsoft.com/office/drawing/2014/main" id="{C4F80741-6E60-FEDF-762C-96502D0E7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943600"/>
            <a:ext cx="1828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/>
              <a:t>Before POP</a:t>
            </a:r>
          </a:p>
        </p:txBody>
      </p:sp>
      <p:grpSp>
        <p:nvGrpSpPr>
          <p:cNvPr id="14364" name="Group 18">
            <a:extLst>
              <a:ext uri="{FF2B5EF4-FFF2-40B4-BE49-F238E27FC236}">
                <a16:creationId xmlns:a16="http://schemas.microsoft.com/office/drawing/2014/main" id="{DF8F97FC-0A2A-31E0-1850-74B2EE07BEF6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4038600"/>
            <a:ext cx="1600200" cy="1752600"/>
            <a:chOff x="609600" y="4038600"/>
            <a:chExt cx="1600200" cy="1752600"/>
          </a:xfrm>
        </p:grpSpPr>
        <p:sp>
          <p:nvSpPr>
            <p:cNvPr id="14424" name="TextBox 19">
              <a:extLst>
                <a:ext uri="{FF2B5EF4-FFF2-40B4-BE49-F238E27FC236}">
                  <a16:creationId xmlns:a16="http://schemas.microsoft.com/office/drawing/2014/main" id="{6CD19394-B258-4649-F5CB-E0D28ED847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4114800"/>
              <a:ext cx="685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SP</a:t>
              </a:r>
            </a:p>
          </p:txBody>
        </p:sp>
        <p:sp>
          <p:nvSpPr>
            <p:cNvPr id="14425" name="TextBox 20">
              <a:extLst>
                <a:ext uri="{FF2B5EF4-FFF2-40B4-BE49-F238E27FC236}">
                  <a16:creationId xmlns:a16="http://schemas.microsoft.com/office/drawing/2014/main" id="{6DE1C766-E71F-3DE3-5BB2-4965ACFCB5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4724400"/>
              <a:ext cx="533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CX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0800773-B618-F42C-C30D-6AE7D153DFDD}"/>
                </a:ext>
              </a:extLst>
            </p:cNvPr>
            <p:cNvSpPr/>
            <p:nvPr/>
          </p:nvSpPr>
          <p:spPr>
            <a:xfrm>
              <a:off x="1219200" y="4038600"/>
              <a:ext cx="990600" cy="4572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FF0000"/>
                  </a:solidFill>
                </a:rPr>
                <a:t>00FE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ABB1B6-7116-4B97-ABC7-1D3485BC8EDB}"/>
                </a:ext>
              </a:extLst>
            </p:cNvPr>
            <p:cNvSpPr/>
            <p:nvPr/>
          </p:nvSpPr>
          <p:spPr>
            <a:xfrm>
              <a:off x="1219200" y="4648200"/>
              <a:ext cx="990600" cy="4572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FF0000"/>
                  </a:solidFill>
                </a:rPr>
                <a:t>5678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336A3B7-3605-7C08-D60C-A43F0D1EF393}"/>
                </a:ext>
              </a:extLst>
            </p:cNvPr>
            <p:cNvSpPr/>
            <p:nvPr/>
          </p:nvSpPr>
          <p:spPr>
            <a:xfrm>
              <a:off x="1219200" y="5334000"/>
              <a:ext cx="990600" cy="4572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0001</a:t>
              </a:r>
            </a:p>
          </p:txBody>
        </p:sp>
        <p:sp>
          <p:nvSpPr>
            <p:cNvPr id="14429" name="TextBox 24">
              <a:extLst>
                <a:ext uri="{FF2B5EF4-FFF2-40B4-BE49-F238E27FC236}">
                  <a16:creationId xmlns:a16="http://schemas.microsoft.com/office/drawing/2014/main" id="{57973461-8DD1-D259-CD11-DB6F75714E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5410200"/>
              <a:ext cx="533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DX</a:t>
              </a:r>
            </a:p>
          </p:txBody>
        </p:sp>
      </p:grpSp>
      <p:grpSp>
        <p:nvGrpSpPr>
          <p:cNvPr id="14365" name="Group 25">
            <a:extLst>
              <a:ext uri="{FF2B5EF4-FFF2-40B4-BE49-F238E27FC236}">
                <a16:creationId xmlns:a16="http://schemas.microsoft.com/office/drawing/2014/main" id="{3EAA5859-4609-C13A-33AD-6906FB7B4C4F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4038600"/>
            <a:ext cx="1600200" cy="1752600"/>
            <a:chOff x="609600" y="4038600"/>
            <a:chExt cx="1600200" cy="1752600"/>
          </a:xfrm>
        </p:grpSpPr>
        <p:sp>
          <p:nvSpPr>
            <p:cNvPr id="14418" name="TextBox 26">
              <a:extLst>
                <a:ext uri="{FF2B5EF4-FFF2-40B4-BE49-F238E27FC236}">
                  <a16:creationId xmlns:a16="http://schemas.microsoft.com/office/drawing/2014/main" id="{EAA99E21-F2EB-E020-E052-0619DC08FB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4114800"/>
              <a:ext cx="685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SP</a:t>
              </a:r>
            </a:p>
          </p:txBody>
        </p:sp>
        <p:sp>
          <p:nvSpPr>
            <p:cNvPr id="14419" name="TextBox 27">
              <a:extLst>
                <a:ext uri="{FF2B5EF4-FFF2-40B4-BE49-F238E27FC236}">
                  <a16:creationId xmlns:a16="http://schemas.microsoft.com/office/drawing/2014/main" id="{005E68D3-6957-D476-C1C7-B4D09C74A0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4724400"/>
              <a:ext cx="533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CX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7D0AEE4-53EA-01CB-24D9-97A77D6ABB5A}"/>
                </a:ext>
              </a:extLst>
            </p:cNvPr>
            <p:cNvSpPr/>
            <p:nvPr/>
          </p:nvSpPr>
          <p:spPr>
            <a:xfrm>
              <a:off x="1219200" y="4038600"/>
              <a:ext cx="990600" cy="4572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FF0000"/>
                  </a:solidFill>
                </a:rPr>
                <a:t>0100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F80EFCC-8836-C2DE-03C3-113F74BBB0EB}"/>
                </a:ext>
              </a:extLst>
            </p:cNvPr>
            <p:cNvSpPr/>
            <p:nvPr/>
          </p:nvSpPr>
          <p:spPr>
            <a:xfrm>
              <a:off x="1219200" y="4648200"/>
              <a:ext cx="990600" cy="4572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FF0000"/>
                  </a:solidFill>
                </a:rPr>
                <a:t>5678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6050BB5-2704-7ECD-E4E9-A0E674AF3CBF}"/>
                </a:ext>
              </a:extLst>
            </p:cNvPr>
            <p:cNvSpPr/>
            <p:nvPr/>
          </p:nvSpPr>
          <p:spPr>
            <a:xfrm>
              <a:off x="1219200" y="5334000"/>
              <a:ext cx="990600" cy="4572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FF0000"/>
                  </a:solidFill>
                </a:rPr>
                <a:t>1234</a:t>
              </a:r>
            </a:p>
          </p:txBody>
        </p:sp>
        <p:sp>
          <p:nvSpPr>
            <p:cNvPr id="14423" name="TextBox 31">
              <a:extLst>
                <a:ext uri="{FF2B5EF4-FFF2-40B4-BE49-F238E27FC236}">
                  <a16:creationId xmlns:a16="http://schemas.microsoft.com/office/drawing/2014/main" id="{EC7FFA70-79A6-7DE7-82E7-D0A6509DC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5410200"/>
              <a:ext cx="533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DX</a:t>
              </a:r>
            </a:p>
          </p:txBody>
        </p:sp>
      </p:grpSp>
      <p:sp>
        <p:nvSpPr>
          <p:cNvPr id="14366" name="TextBox 32">
            <a:extLst>
              <a:ext uri="{FF2B5EF4-FFF2-40B4-BE49-F238E27FC236}">
                <a16:creationId xmlns:a16="http://schemas.microsoft.com/office/drawing/2014/main" id="{3291448C-523C-9CB7-EC81-F64D20E4C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5943600"/>
            <a:ext cx="1828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/>
              <a:t>After POP CX</a:t>
            </a:r>
          </a:p>
        </p:txBody>
      </p:sp>
      <p:sp>
        <p:nvSpPr>
          <p:cNvPr id="14367" name="TextBox 33">
            <a:extLst>
              <a:ext uri="{FF2B5EF4-FFF2-40B4-BE49-F238E27FC236}">
                <a16:creationId xmlns:a16="http://schemas.microsoft.com/office/drawing/2014/main" id="{91894665-8EF4-02AF-2506-A43D81562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5867401"/>
            <a:ext cx="1981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/>
              <a:t>After POP DX (Stack Empty)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E1B9B97A-06AC-930C-67DF-32BAFA2B077A}"/>
              </a:ext>
            </a:extLst>
          </p:cNvPr>
          <p:cNvGraphicFramePr>
            <a:graphicFrameLocks noGrp="1"/>
          </p:cNvGraphicFramePr>
          <p:nvPr/>
        </p:nvGraphicFramePr>
        <p:xfrm>
          <a:off x="5029200" y="1828800"/>
          <a:ext cx="1981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0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00F8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00FA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1234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0100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387" name="TextBox 35">
            <a:extLst>
              <a:ext uri="{FF2B5EF4-FFF2-40B4-BE49-F238E27FC236}">
                <a16:creationId xmlns:a16="http://schemas.microsoft.com/office/drawing/2014/main" id="{78037737-4FBB-D9E6-6853-FA1A62706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2954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Offset</a:t>
            </a:r>
          </a:p>
        </p:txBody>
      </p:sp>
      <p:sp>
        <p:nvSpPr>
          <p:cNvPr id="14388" name="TextBox 36">
            <a:extLst>
              <a:ext uri="{FF2B5EF4-FFF2-40B4-BE49-F238E27FC236}">
                <a16:creationId xmlns:a16="http://schemas.microsoft.com/office/drawing/2014/main" id="{C8D80C62-E6CE-295B-9954-B5D6DC115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2954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Stack</a:t>
            </a:r>
          </a:p>
        </p:txBody>
      </p:sp>
      <p:grpSp>
        <p:nvGrpSpPr>
          <p:cNvPr id="14389" name="Group 37">
            <a:extLst>
              <a:ext uri="{FF2B5EF4-FFF2-40B4-BE49-F238E27FC236}">
                <a16:creationId xmlns:a16="http://schemas.microsoft.com/office/drawing/2014/main" id="{172AA5CB-05D5-A15B-808A-00A21CA9C862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2971800"/>
            <a:ext cx="762000" cy="369888"/>
            <a:chOff x="5105400" y="3429000"/>
            <a:chExt cx="762000" cy="369332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D88F5096-98DB-B4F4-E224-DF24697B8054}"/>
                </a:ext>
              </a:extLst>
            </p:cNvPr>
            <p:cNvCxnSpPr/>
            <p:nvPr/>
          </p:nvCxnSpPr>
          <p:spPr>
            <a:xfrm rot="10800000">
              <a:off x="5105400" y="3581171"/>
              <a:ext cx="228600" cy="158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417" name="TextBox 39">
              <a:extLst>
                <a:ext uri="{FF2B5EF4-FFF2-40B4-BE49-F238E27FC236}">
                  <a16:creationId xmlns:a16="http://schemas.microsoft.com/office/drawing/2014/main" id="{903B6960-2F56-494A-8B63-5C1D404195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3429000"/>
              <a:ext cx="533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FF0000"/>
                  </a:solidFill>
                </a:rPr>
                <a:t>SP</a:t>
              </a:r>
            </a:p>
          </p:txBody>
        </p:sp>
      </p:grp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CF744662-7909-A004-01ED-05ED248C8C80}"/>
              </a:ext>
            </a:extLst>
          </p:cNvPr>
          <p:cNvGraphicFramePr>
            <a:graphicFrameLocks noGrp="1"/>
          </p:cNvGraphicFramePr>
          <p:nvPr/>
        </p:nvGraphicFramePr>
        <p:xfrm>
          <a:off x="7772400" y="1752600"/>
          <a:ext cx="1981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0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00F8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00FA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00FC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00FE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0100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409" name="TextBox 42">
            <a:extLst>
              <a:ext uri="{FF2B5EF4-FFF2-40B4-BE49-F238E27FC236}">
                <a16:creationId xmlns:a16="http://schemas.microsoft.com/office/drawing/2014/main" id="{011B8AE8-4AB8-EB98-F18A-9CAEEBE56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12954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Offset</a:t>
            </a:r>
          </a:p>
        </p:txBody>
      </p:sp>
      <p:sp>
        <p:nvSpPr>
          <p:cNvPr id="14410" name="TextBox 43">
            <a:extLst>
              <a:ext uri="{FF2B5EF4-FFF2-40B4-BE49-F238E27FC236}">
                <a16:creationId xmlns:a16="http://schemas.microsoft.com/office/drawing/2014/main" id="{4F4F607F-8022-98FD-D4BE-AC75E8477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12954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Stack</a:t>
            </a:r>
          </a:p>
        </p:txBody>
      </p:sp>
      <p:grpSp>
        <p:nvGrpSpPr>
          <p:cNvPr id="14411" name="Group 44">
            <a:extLst>
              <a:ext uri="{FF2B5EF4-FFF2-40B4-BE49-F238E27FC236}">
                <a16:creationId xmlns:a16="http://schemas.microsoft.com/office/drawing/2014/main" id="{A6552F92-C188-8787-06A7-09AF88E5B56F}"/>
              </a:ext>
            </a:extLst>
          </p:cNvPr>
          <p:cNvGrpSpPr>
            <a:grpSpLocks/>
          </p:cNvGrpSpPr>
          <p:nvPr/>
        </p:nvGrpSpPr>
        <p:grpSpPr bwMode="auto">
          <a:xfrm>
            <a:off x="9753600" y="3200400"/>
            <a:ext cx="762000" cy="369888"/>
            <a:chOff x="5105400" y="3429000"/>
            <a:chExt cx="762000" cy="369332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92AB3330-40AA-1014-5528-D4F15087C0FC}"/>
                </a:ext>
              </a:extLst>
            </p:cNvPr>
            <p:cNvCxnSpPr/>
            <p:nvPr/>
          </p:nvCxnSpPr>
          <p:spPr>
            <a:xfrm rot="10800000">
              <a:off x="5105400" y="3581171"/>
              <a:ext cx="228600" cy="158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415" name="TextBox 46">
              <a:extLst>
                <a:ext uri="{FF2B5EF4-FFF2-40B4-BE49-F238E27FC236}">
                  <a16:creationId xmlns:a16="http://schemas.microsoft.com/office/drawing/2014/main" id="{E68A2C28-35D8-5354-7F8B-2A66B29778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3429000"/>
              <a:ext cx="533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FF0000"/>
                  </a:solidFill>
                </a:rPr>
                <a:t>SP</a:t>
              </a:r>
            </a:p>
          </p:txBody>
        </p: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F6C316D-2F9B-22E2-86DC-94BD3D8683DF}"/>
              </a:ext>
            </a:extLst>
          </p:cNvPr>
          <p:cNvCxnSpPr/>
          <p:nvPr/>
        </p:nvCxnSpPr>
        <p:spPr>
          <a:xfrm rot="5400000">
            <a:off x="2362994" y="3733006"/>
            <a:ext cx="5029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D82F862-EBBD-ADAD-9F69-98D6ACB83290}"/>
              </a:ext>
            </a:extLst>
          </p:cNvPr>
          <p:cNvCxnSpPr/>
          <p:nvPr/>
        </p:nvCxnSpPr>
        <p:spPr>
          <a:xfrm rot="5400000">
            <a:off x="5182394" y="3733006"/>
            <a:ext cx="5029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EF4D2-F150-6FBC-C47F-2FB44AC3C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Stack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CED16-FC88-190E-2401-C9B791647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Function Calls: When a function is called, the return address is pushed onto the stack, and local variables are stored there.</a:t>
            </a:r>
          </a:p>
          <a:p>
            <a:pPr algn="just"/>
            <a:r>
              <a:rPr lang="en-US" dirty="0"/>
              <a:t>Interrupts: The state of the CPU (registers) is saved onto the stack when an interrupt occurs, allowing the program to resume afterward.</a:t>
            </a:r>
          </a:p>
          <a:p>
            <a:pPr algn="just"/>
            <a:r>
              <a:rPr lang="en-US" dirty="0"/>
              <a:t>Context Switching: In multitasking systems, the stack saves the state of a process before switching to another process.</a:t>
            </a:r>
          </a:p>
          <a:p>
            <a:pPr algn="just"/>
            <a:r>
              <a:rPr lang="en-US" altLang="en-US" dirty="0"/>
              <a:t>To reverse an input</a:t>
            </a:r>
          </a:p>
        </p:txBody>
      </p:sp>
    </p:spTree>
    <p:extLst>
      <p:ext uri="{BB962C8B-B14F-4D97-AF65-F5344CB8AC3E}">
        <p14:creationId xmlns:p14="http://schemas.microsoft.com/office/powerpoint/2010/main" val="1500951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DFB4D-AE57-12E1-1F4C-1C28E31BF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9C9C0D-3304-1321-8DF8-0BB9315537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79329" y="3429000"/>
            <a:ext cx="8754771" cy="109603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AFB3B7-E412-C0FA-BE44-96593C48BB44}"/>
              </a:ext>
            </a:extLst>
          </p:cNvPr>
          <p:cNvSpPr txBox="1"/>
          <p:nvPr/>
        </p:nvSpPr>
        <p:spPr>
          <a:xfrm>
            <a:off x="2898605" y="4776014"/>
            <a:ext cx="6385353" cy="88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PUSH</a:t>
            </a:r>
            <a:r>
              <a:rPr lang="en-US" dirty="0"/>
              <a:t>: Decreases the stack pointer and stores data.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POP</a:t>
            </a:r>
            <a:r>
              <a:rPr lang="en-US" dirty="0"/>
              <a:t>: Increases the stack pointer and retrieves data.</a:t>
            </a:r>
          </a:p>
        </p:txBody>
      </p:sp>
    </p:spTree>
    <p:extLst>
      <p:ext uri="{BB962C8B-B14F-4D97-AF65-F5344CB8AC3E}">
        <p14:creationId xmlns:p14="http://schemas.microsoft.com/office/powerpoint/2010/main" val="3158350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6E55C-5D4C-A26C-F3E4-9D859FA14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and Restoring Variable in Stack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5B12A-A339-12E0-B8E8-3F501AB0A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Technique used to:</a:t>
            </a:r>
          </a:p>
          <a:p>
            <a:pPr lvl="1"/>
            <a:r>
              <a:rPr lang="en-US" dirty="0"/>
              <a:t>Manage function calls</a:t>
            </a:r>
          </a:p>
          <a:p>
            <a:pPr lvl="1"/>
            <a:r>
              <a:rPr lang="en-US" dirty="0"/>
              <a:t>Local variables </a:t>
            </a:r>
          </a:p>
          <a:p>
            <a:pPr lvl="1"/>
            <a:r>
              <a:rPr lang="en-US" dirty="0"/>
              <a:t>Preserve register values</a:t>
            </a:r>
          </a:p>
          <a:p>
            <a:r>
              <a:rPr lang="en-US" dirty="0"/>
              <a:t>Allows the program to save the current state before making changes and restore it afterward, ensuring that the program can continue execution as if nothing was altered.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84095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C07D0-4D97-FB10-63C0-C02B84814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270F0-9F31-3AF5-C22E-B7FB1968C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Saving a Variable:</a:t>
            </a:r>
          </a:p>
          <a:p>
            <a:pPr lvl="1" algn="just"/>
            <a:r>
              <a:rPr lang="en-US" dirty="0"/>
              <a:t>Before modifying a register or variable, you push its value onto the stack. This ensures you can restore it later.</a:t>
            </a:r>
          </a:p>
          <a:p>
            <a:pPr algn="just"/>
            <a:r>
              <a:rPr lang="en-US" dirty="0"/>
              <a:t>Restoring a Variable:</a:t>
            </a:r>
          </a:p>
          <a:p>
            <a:pPr lvl="1" algn="just"/>
            <a:r>
              <a:rPr lang="en-US" dirty="0"/>
              <a:t>After you're done using the register or modifying the variable, you pop the value back from the stack, restoring the original state.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11358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5F6A3-AD1F-6B22-4229-76C8F43FB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ECE4430-3065-DC7B-420E-1BD0687EE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51110" y="2811412"/>
            <a:ext cx="5889780" cy="3064456"/>
          </a:xfrm>
        </p:spPr>
      </p:pic>
    </p:spTree>
    <p:extLst>
      <p:ext uri="{BB962C8B-B14F-4D97-AF65-F5344CB8AC3E}">
        <p14:creationId xmlns:p14="http://schemas.microsoft.com/office/powerpoint/2010/main" val="1344063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52026-B424-8F51-45D6-6750F283B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ADD8C-299F-CAA1-25AC-1702E5061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F5564C3-E728-501B-A431-AC574C7235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50336" y="2541214"/>
            <a:ext cx="7091328" cy="3502816"/>
          </a:xfrm>
        </p:spPr>
      </p:pic>
    </p:spTree>
    <p:extLst>
      <p:ext uri="{BB962C8B-B14F-4D97-AF65-F5344CB8AC3E}">
        <p14:creationId xmlns:p14="http://schemas.microsoft.com/office/powerpoint/2010/main" val="1786679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8954B-000D-B782-4AC7-142354485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Stack with BP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27A78-0DFE-D9F4-26E5-B257B96E8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 Pointer Register – points towards the stack base</a:t>
            </a:r>
          </a:p>
          <a:p>
            <a:r>
              <a:rPr lang="en-US" dirty="0"/>
              <a:t>No pop instruction is required</a:t>
            </a:r>
          </a:p>
          <a:p>
            <a:r>
              <a:rPr lang="en-US" dirty="0"/>
              <a:t>Contents of the SP register are moved to the BP register to gain access to the top of the stack. </a:t>
            </a:r>
          </a:p>
          <a:p>
            <a:r>
              <a:rPr lang="en-US" dirty="0"/>
              <a:t>Then, using register indirect mode, the value anywhere in the stack can be read or written.</a:t>
            </a:r>
          </a:p>
        </p:txBody>
      </p:sp>
    </p:spTree>
    <p:extLst>
      <p:ext uri="{BB962C8B-B14F-4D97-AF65-F5344CB8AC3E}">
        <p14:creationId xmlns:p14="http://schemas.microsoft.com/office/powerpoint/2010/main" val="3318439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78BAF-6D8D-0C55-68D7-315FF396C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F8B3CB-E033-A54B-4F0C-F61A41CD2E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5944" y="2557463"/>
            <a:ext cx="6540111" cy="3597061"/>
          </a:xfrm>
        </p:spPr>
      </p:pic>
    </p:spTree>
    <p:extLst>
      <p:ext uri="{BB962C8B-B14F-4D97-AF65-F5344CB8AC3E}">
        <p14:creationId xmlns:p14="http://schemas.microsoft.com/office/powerpoint/2010/main" val="32391464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512</TotalTime>
  <Words>1377</Words>
  <Application>Microsoft Office PowerPoint</Application>
  <PresentationFormat>Widescreen</PresentationFormat>
  <Paragraphs>253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Calibri Light</vt:lpstr>
      <vt:lpstr>Garamond</vt:lpstr>
      <vt:lpstr>Gill Sans MT</vt:lpstr>
      <vt:lpstr>Wingdings 3</vt:lpstr>
      <vt:lpstr>Organic</vt:lpstr>
      <vt:lpstr>Office Theme</vt:lpstr>
      <vt:lpstr>COAL</vt:lpstr>
      <vt:lpstr>Bit Masking</vt:lpstr>
      <vt:lpstr>Bit masking</vt:lpstr>
      <vt:lpstr>Selective Set</vt:lpstr>
      <vt:lpstr>Selective Set</vt:lpstr>
      <vt:lpstr>Selective Clear</vt:lpstr>
      <vt:lpstr>Selective Clear</vt:lpstr>
      <vt:lpstr>Selective Compliment</vt:lpstr>
      <vt:lpstr>Selective Compliment</vt:lpstr>
      <vt:lpstr>Stack</vt:lpstr>
      <vt:lpstr>Operations on Stack</vt:lpstr>
      <vt:lpstr>Push and PushF</vt:lpstr>
      <vt:lpstr>PUSH - Example</vt:lpstr>
      <vt:lpstr>POP And POPF</vt:lpstr>
      <vt:lpstr>POP - Example</vt:lpstr>
      <vt:lpstr>Uses of Stack</vt:lpstr>
      <vt:lpstr>Example</vt:lpstr>
      <vt:lpstr>Saving and Restoring Variable in Stack</vt:lpstr>
      <vt:lpstr>How it works?</vt:lpstr>
      <vt:lpstr>Example</vt:lpstr>
      <vt:lpstr>Example</vt:lpstr>
      <vt:lpstr>Accessing Stack with BP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Ihtisham ul haq</dc:creator>
  <cp:lastModifiedBy>Sehar Ali</cp:lastModifiedBy>
  <cp:revision>49</cp:revision>
  <dcterms:created xsi:type="dcterms:W3CDTF">2023-10-17T17:30:28Z</dcterms:created>
  <dcterms:modified xsi:type="dcterms:W3CDTF">2025-10-26T19:26:49Z</dcterms:modified>
</cp:coreProperties>
</file>