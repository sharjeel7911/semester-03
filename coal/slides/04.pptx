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E59307-FD9A-4506-868F-38EAB1970A9E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DD0BA-05A3-4E41-BF9C-58D718839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89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D7C642CD-AAAD-4E54-BAD2-9AEC05630F5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1971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700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839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42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1367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2044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161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5391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85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250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8013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85453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9940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86494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4464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26891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713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7C642CD-AAAD-4E54-BAD2-9AEC05630F5D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624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537A-947D-2D04-E6BB-FD74EABA66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4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8B9AC-49D0-CF9F-FC1C-ECCB2D4CEB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ALU Instructions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542531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4F81F-68BD-CC20-2672-167345037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ALU Instructions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86A15-6E17-1A8E-5BDB-C94D035AE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ALU (Arithmetic Logic Unit)</a:t>
            </a:r>
            <a:r>
              <a:rPr lang="en-US" dirty="0"/>
              <a:t>: A critical component of the CPU, performing all arithmetic and logical operations.</a:t>
            </a:r>
          </a:p>
          <a:p>
            <a:pPr algn="just"/>
            <a:r>
              <a:rPr lang="en-US" b="1" dirty="0"/>
              <a:t>Role in Computer Architecture</a:t>
            </a:r>
            <a:r>
              <a:rPr lang="en-US" dirty="0"/>
              <a:t>: Executes instructions that manipulate data, directly impacting processing speed and efficiency.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290184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4BF57-B90E-B143-5C23-44DFDCE8B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ALU Instructions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BA86D-6BED-219E-7AF9-A3D010E4F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Arithmetic Instructions</a:t>
            </a:r>
          </a:p>
          <a:p>
            <a:pPr lvl="1" algn="just"/>
            <a:r>
              <a:rPr lang="en-US" dirty="0"/>
              <a:t>Addition (ADD): Adds two operands.</a:t>
            </a:r>
          </a:p>
          <a:p>
            <a:pPr lvl="1" algn="just"/>
            <a:r>
              <a:rPr lang="en-US" dirty="0"/>
              <a:t>Subtraction (SUB): Subtracts one operand from another.</a:t>
            </a:r>
          </a:p>
          <a:p>
            <a:pPr lvl="1" algn="just"/>
            <a:r>
              <a:rPr lang="en-US" dirty="0"/>
              <a:t>Multiplication (MUL)</a:t>
            </a:r>
          </a:p>
          <a:p>
            <a:pPr lvl="1" algn="just"/>
            <a:r>
              <a:rPr lang="en-US" dirty="0"/>
              <a:t>Division (DIV)</a:t>
            </a:r>
          </a:p>
          <a:p>
            <a:pPr lvl="1" algn="just"/>
            <a:r>
              <a:rPr lang="en-US" dirty="0"/>
              <a:t>NEG (Negate): Changes the sign of an operand by multiplying with -1</a:t>
            </a:r>
          </a:p>
          <a:p>
            <a:pPr lvl="1" algn="just"/>
            <a:r>
              <a:rPr lang="en-US" dirty="0"/>
              <a:t>ADC (Add with Carry)</a:t>
            </a:r>
          </a:p>
          <a:p>
            <a:pPr lvl="1" algn="just"/>
            <a:r>
              <a:rPr lang="en-US" dirty="0"/>
              <a:t>SBB (Subtract with Borrow)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941406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11911-2E9E-6F0F-569E-1BAC11E2D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E1316-F784-DB5B-8BF9-4F7C9527D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Performs addition of two operands</a:t>
            </a:r>
          </a:p>
          <a:p>
            <a:r>
              <a:rPr lang="en-US" dirty="0"/>
              <a:t>Operands can be registers, immediate values, or memory locations.</a:t>
            </a:r>
          </a:p>
          <a:p>
            <a:r>
              <a:rPr lang="en-US" dirty="0"/>
              <a:t>ADD destination, source</a:t>
            </a:r>
          </a:p>
          <a:p>
            <a:r>
              <a:rPr lang="en-US" dirty="0"/>
              <a:t>ADD AX, BX</a:t>
            </a:r>
          </a:p>
          <a:p>
            <a:r>
              <a:rPr lang="en-US" dirty="0"/>
              <a:t>AX and BX will be added and result will be stored in AX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91232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FF6C2-067F-DDB8-424A-F8ED95A11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FBBC5-CD6A-38C7-79BE-766CF8F74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Performs binary subtraction of one operand from another.</a:t>
            </a:r>
          </a:p>
          <a:p>
            <a:pPr algn="just"/>
            <a:r>
              <a:rPr lang="en-US" dirty="0"/>
              <a:t>Operands can be registers, immediate values, or memory locations.</a:t>
            </a:r>
          </a:p>
          <a:p>
            <a:pPr algn="just"/>
            <a:r>
              <a:rPr lang="en-US" dirty="0"/>
              <a:t>SUB destination, source</a:t>
            </a:r>
          </a:p>
          <a:p>
            <a:pPr algn="just"/>
            <a:r>
              <a:rPr lang="en-US" dirty="0"/>
              <a:t>SUB AX, BX</a:t>
            </a:r>
          </a:p>
          <a:p>
            <a:pPr algn="just"/>
            <a:r>
              <a:rPr lang="en-US" dirty="0"/>
              <a:t>Subtracts value in BX from that of AX and stores the result in AX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138480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DC269-05EA-4F0D-91BF-B20EA67DB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62D87-D2E8-3D76-67B9-AF3C4D307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Performs multiplication of two operands, yielding a product.</a:t>
            </a:r>
          </a:p>
          <a:p>
            <a:r>
              <a:rPr lang="en-US" dirty="0"/>
              <a:t>Single-operand instruction (can’t be immediate value)</a:t>
            </a:r>
          </a:p>
          <a:p>
            <a:r>
              <a:rPr lang="en-US" dirty="0"/>
              <a:t>Destination will always be AX along with DX (in case of overflow)</a:t>
            </a:r>
          </a:p>
          <a:p>
            <a:r>
              <a:rPr lang="en-US" dirty="0"/>
              <a:t>DX will be used if result exceeds 16 bits.</a:t>
            </a:r>
          </a:p>
          <a:p>
            <a:r>
              <a:rPr lang="en-US" dirty="0"/>
              <a:t>MUL source e.g. MUL CX</a:t>
            </a:r>
          </a:p>
          <a:p>
            <a:r>
              <a:rPr lang="en-US" dirty="0"/>
              <a:t>Same as MUL AX, CX</a:t>
            </a:r>
          </a:p>
          <a:p>
            <a:pPr lvl="1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636144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AA3B0-6F83-59F8-6133-7714621F4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3A62E-FE13-871E-218F-2D77DC6F7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Performs division of two operands.</a:t>
            </a:r>
          </a:p>
          <a:p>
            <a:r>
              <a:rPr lang="en-US" dirty="0"/>
              <a:t>The instruction divides an implicit dividend in AX by the specified operand (usually a register or memory location).</a:t>
            </a:r>
          </a:p>
          <a:p>
            <a:r>
              <a:rPr lang="en-US" dirty="0"/>
              <a:t>DIV divisor</a:t>
            </a:r>
          </a:p>
          <a:p>
            <a:r>
              <a:rPr lang="en-US" dirty="0"/>
              <a:t>DIV CX divides value of AX by CX</a:t>
            </a:r>
          </a:p>
          <a:p>
            <a:r>
              <a:rPr lang="en-US" dirty="0"/>
              <a:t>Quotient is stored in AX and remainder in DX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01464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33489-D340-0499-A9E8-522966FB7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ADC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D1FD5-8613-E5EC-DD0A-1DAB9D489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Performs addition of two operands, including the carry flag. </a:t>
            </a:r>
          </a:p>
          <a:p>
            <a:r>
              <a:rPr lang="en-US" dirty="0"/>
              <a:t>ADC destination, source</a:t>
            </a:r>
          </a:p>
          <a:p>
            <a:r>
              <a:rPr lang="en-US" dirty="0"/>
              <a:t>ADC AX, BX</a:t>
            </a:r>
          </a:p>
          <a:p>
            <a:pPr lvl="1"/>
            <a:r>
              <a:rPr lang="en-US" dirty="0"/>
              <a:t>If AX contains 10 and BX contains 5</a:t>
            </a:r>
          </a:p>
          <a:p>
            <a:pPr lvl="1"/>
            <a:r>
              <a:rPr lang="en-US" dirty="0"/>
              <a:t>Check for CF; is 1</a:t>
            </a:r>
          </a:p>
          <a:p>
            <a:pPr lvl="1"/>
            <a:r>
              <a:rPr lang="en-US" dirty="0"/>
              <a:t>After execution AX is 10+5+1 = 16</a:t>
            </a:r>
          </a:p>
        </p:txBody>
      </p:sp>
    </p:spTree>
    <p:extLst>
      <p:ext uri="{BB962C8B-B14F-4D97-AF65-F5344CB8AC3E}">
        <p14:creationId xmlns:p14="http://schemas.microsoft.com/office/powerpoint/2010/main" val="2526803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803AC-6381-D781-2886-F673C5A88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SBB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C3759-F848-5EE3-B1EC-037CA37F7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Performs subtraction of two operands, considering the borrow flag from a previous operation.</a:t>
            </a:r>
          </a:p>
          <a:p>
            <a:r>
              <a:rPr lang="en-US" dirty="0"/>
              <a:t>SBB destination, source</a:t>
            </a:r>
          </a:p>
          <a:p>
            <a:r>
              <a:rPr lang="en-US" dirty="0"/>
              <a:t>SBB AX, BX</a:t>
            </a:r>
          </a:p>
          <a:p>
            <a:pPr lvl="1"/>
            <a:r>
              <a:rPr lang="en-US" dirty="0"/>
              <a:t>If AX contains 10 and BX contains 3</a:t>
            </a:r>
          </a:p>
          <a:p>
            <a:pPr lvl="1"/>
            <a:r>
              <a:rPr lang="en-US" dirty="0"/>
              <a:t>Check for CF; is 1</a:t>
            </a:r>
          </a:p>
          <a:p>
            <a:pPr lvl="1"/>
            <a:r>
              <a:rPr lang="en-US" dirty="0"/>
              <a:t>After execution AX is 10-3-1 = 6</a:t>
            </a:r>
          </a:p>
          <a:p>
            <a:r>
              <a:rPr lang="en-US" dirty="0"/>
              <a:t>Carry flag acts as borrow flag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542438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04294-B83A-92E0-DADE-9C40472EE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81682-9B50-8DD3-FFA8-3FF71ABAB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Negates (inverts) the value of the specified operand, effectively performing multiplication by -1.</a:t>
            </a:r>
          </a:p>
          <a:p>
            <a:r>
              <a:rPr lang="en-US" dirty="0"/>
              <a:t>NEG operand (NEG AX)</a:t>
            </a:r>
          </a:p>
          <a:p>
            <a:r>
              <a:rPr lang="en-US" dirty="0"/>
              <a:t>Before execution AX is 5</a:t>
            </a:r>
          </a:p>
          <a:p>
            <a:r>
              <a:rPr lang="en-US" dirty="0"/>
              <a:t>After execution AX is -5 (FFFB)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514352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3B645-1641-5A0E-4406-06151ABD0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5D168-CA8D-C01C-CAB4-561E7B5F2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ALU Instructions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6AF68-BC48-48CA-B061-D348FC78C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Logic Instructions</a:t>
            </a:r>
          </a:p>
          <a:p>
            <a:pPr lvl="1" algn="just"/>
            <a:r>
              <a:rPr lang="en-US" dirty="0"/>
              <a:t>Perform bitwise logical operations on binary values.</a:t>
            </a:r>
          </a:p>
          <a:p>
            <a:pPr lvl="1" algn="just"/>
            <a:r>
              <a:rPr lang="en-US" dirty="0"/>
              <a:t>AND</a:t>
            </a:r>
          </a:p>
          <a:p>
            <a:pPr lvl="1" algn="just"/>
            <a:r>
              <a:rPr lang="en-US" dirty="0"/>
              <a:t>OR</a:t>
            </a:r>
          </a:p>
          <a:p>
            <a:pPr lvl="1" algn="just"/>
            <a:r>
              <a:rPr lang="en-US" dirty="0"/>
              <a:t>NOT</a:t>
            </a:r>
          </a:p>
          <a:p>
            <a:pPr lvl="1" algn="just"/>
            <a:r>
              <a:rPr lang="en-US" dirty="0"/>
              <a:t>XOR</a:t>
            </a:r>
          </a:p>
        </p:txBody>
      </p:sp>
    </p:spTree>
    <p:extLst>
      <p:ext uri="{BB962C8B-B14F-4D97-AF65-F5344CB8AC3E}">
        <p14:creationId xmlns:p14="http://schemas.microsoft.com/office/powerpoint/2010/main" val="1561392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AA64E-E4E3-5694-CE63-AB92AFDEF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53B0F-88B2-D85E-64FE-FD8C91300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Performs a bitwise AND operation.</a:t>
            </a:r>
          </a:p>
          <a:p>
            <a:r>
              <a:rPr lang="en-US" dirty="0"/>
              <a:t>AND destination, source</a:t>
            </a:r>
          </a:p>
          <a:p>
            <a:r>
              <a:rPr lang="en-US" dirty="0"/>
              <a:t>AND AX, BX</a:t>
            </a:r>
          </a:p>
          <a:p>
            <a:r>
              <a:rPr lang="en-US" dirty="0"/>
              <a:t>AX = 0b1100 0011 and BX = 0b1010 1111</a:t>
            </a:r>
          </a:p>
          <a:p>
            <a:r>
              <a:rPr lang="en-US" dirty="0"/>
              <a:t>After execution AX will be 0b1000 0011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78662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1BFB4-53C5-DD3E-1B5A-F699006FD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26FF7-D9E1-72A9-A600-88F1D10E3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Performs a bitwise OR operation.</a:t>
            </a:r>
          </a:p>
          <a:p>
            <a:r>
              <a:rPr lang="en-US" dirty="0"/>
              <a:t>OR destination, source</a:t>
            </a:r>
          </a:p>
          <a:p>
            <a:r>
              <a:rPr lang="en-US" dirty="0"/>
              <a:t>OR AX, BX</a:t>
            </a:r>
          </a:p>
          <a:p>
            <a:r>
              <a:rPr lang="en-US" dirty="0"/>
              <a:t>AX = 0b1100 1010, BX = 0b1010 1111</a:t>
            </a:r>
          </a:p>
          <a:p>
            <a:r>
              <a:rPr lang="en-US" dirty="0"/>
              <a:t>After execution AX will be AX = 0b1110 1111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357765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FEFC2-782E-142D-D20C-BF143A82D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XOR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44ABF-B91D-C6EB-3415-73FA483DE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Performs a bitwise exclusive OR operation.</a:t>
            </a:r>
          </a:p>
          <a:p>
            <a:r>
              <a:rPr lang="en-US" dirty="0"/>
              <a:t>XOR destination, source</a:t>
            </a:r>
          </a:p>
          <a:p>
            <a:r>
              <a:rPr lang="en-US" dirty="0"/>
              <a:t>XOR AX, BX</a:t>
            </a:r>
          </a:p>
          <a:p>
            <a:r>
              <a:rPr lang="en-US" dirty="0"/>
              <a:t>AX = 0b1100 1010, BX = 0b1010 1111</a:t>
            </a:r>
          </a:p>
          <a:p>
            <a:r>
              <a:rPr lang="en-US" dirty="0"/>
              <a:t>After execution, AX = 0b0110 0101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28077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19D40-E711-E262-D21A-23C6FF9C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507D4-AF53-DAE8-94FD-42EB6FFF0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Performs a bitwise NOT operation (bitwise complement).</a:t>
            </a:r>
          </a:p>
          <a:p>
            <a:r>
              <a:rPr lang="en-US" dirty="0"/>
              <a:t>Inverts all bits of the operand.</a:t>
            </a:r>
          </a:p>
          <a:p>
            <a:r>
              <a:rPr lang="en-US" dirty="0"/>
              <a:t>NOT operand</a:t>
            </a:r>
          </a:p>
          <a:p>
            <a:r>
              <a:rPr lang="en-US" dirty="0"/>
              <a:t>NOT AX</a:t>
            </a:r>
          </a:p>
          <a:p>
            <a:r>
              <a:rPr lang="en-US" dirty="0"/>
              <a:t>AX = 0b1100 1010</a:t>
            </a:r>
          </a:p>
          <a:p>
            <a:r>
              <a:rPr lang="en-US" dirty="0"/>
              <a:t>After execution, AX = 0b0011 0101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904743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EC5A3-D249-5481-B504-6A6323E12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 Register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21206-FF35-E655-C26D-0923CDE42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0" i="0" dirty="0">
                <a:solidFill>
                  <a:srgbClr val="273239"/>
                </a:solidFill>
                <a:effectLst/>
              </a:rPr>
              <a:t>16-bit register in the Intel 8086 microprocessor</a:t>
            </a:r>
          </a:p>
          <a:p>
            <a:pPr algn="just"/>
            <a:r>
              <a:rPr lang="en-US" dirty="0">
                <a:solidFill>
                  <a:srgbClr val="273239"/>
                </a:solidFill>
              </a:rPr>
              <a:t>C</a:t>
            </a:r>
            <a:r>
              <a:rPr lang="en-US" b="0" i="0" dirty="0">
                <a:solidFill>
                  <a:srgbClr val="273239"/>
                </a:solidFill>
                <a:effectLst/>
              </a:rPr>
              <a:t>ontains information about the state of the processor after executing an instruction</a:t>
            </a:r>
          </a:p>
          <a:p>
            <a:pPr algn="just"/>
            <a:r>
              <a:rPr lang="en-US" dirty="0">
                <a:solidFill>
                  <a:srgbClr val="273239"/>
                </a:solidFill>
              </a:rPr>
              <a:t>Also known as status register</a:t>
            </a:r>
          </a:p>
          <a:p>
            <a:pPr algn="just"/>
            <a:r>
              <a:rPr lang="en-US" b="0" i="0" dirty="0">
                <a:solidFill>
                  <a:srgbClr val="273239"/>
                </a:solidFill>
                <a:effectLst/>
              </a:rPr>
              <a:t>The various flags in the flag register are set or cleared based on the result of arithmetic, logic, and other instructions executed by the processor.</a:t>
            </a:r>
          </a:p>
        </p:txBody>
      </p:sp>
    </p:spTree>
    <p:extLst>
      <p:ext uri="{BB962C8B-B14F-4D97-AF65-F5344CB8AC3E}">
        <p14:creationId xmlns:p14="http://schemas.microsoft.com/office/powerpoint/2010/main" val="1091396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33F7E-DC49-6590-5494-1E7AC1932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 of Flag Register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3E9BF-38F3-C1D2-78AB-7F534D727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16 bits</a:t>
            </a:r>
          </a:p>
          <a:p>
            <a:pPr lvl="1"/>
            <a:r>
              <a:rPr lang="en-US" dirty="0"/>
              <a:t>9 used by flags</a:t>
            </a:r>
          </a:p>
          <a:p>
            <a:pPr lvl="1"/>
            <a:r>
              <a:rPr lang="en-US" dirty="0"/>
              <a:t>6 are unused to provide flexibility for future use (set to 0)</a:t>
            </a:r>
          </a:p>
          <a:p>
            <a:r>
              <a:rPr lang="en-US" dirty="0"/>
              <a:t>9 used bits</a:t>
            </a:r>
          </a:p>
          <a:p>
            <a:pPr lvl="1"/>
            <a:r>
              <a:rPr lang="en-US" dirty="0"/>
              <a:t>6 status/conditional flags</a:t>
            </a:r>
          </a:p>
          <a:p>
            <a:pPr lvl="1"/>
            <a:r>
              <a:rPr lang="en-US" dirty="0"/>
              <a:t>3 control flags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1068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0D871-BDB6-9043-9863-3952D248C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Status Flags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10BC1-F6F8-E0B5-203C-C47224E96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to 1 or cleared to 0 after execution of each instruction</a:t>
            </a:r>
          </a:p>
          <a:p>
            <a:pPr lvl="1"/>
            <a:r>
              <a:rPr lang="en-US" dirty="0"/>
              <a:t>Sign flag (SF)</a:t>
            </a:r>
          </a:p>
          <a:p>
            <a:pPr lvl="1"/>
            <a:r>
              <a:rPr lang="en-US" dirty="0"/>
              <a:t>Zero flag (ZF)</a:t>
            </a:r>
          </a:p>
          <a:p>
            <a:pPr lvl="1"/>
            <a:r>
              <a:rPr lang="en-US" dirty="0"/>
              <a:t>Auxiliary carry flag (ACF)</a:t>
            </a:r>
          </a:p>
          <a:p>
            <a:pPr lvl="1"/>
            <a:r>
              <a:rPr lang="en-US" dirty="0"/>
              <a:t>Parity flag (PF)</a:t>
            </a:r>
          </a:p>
          <a:p>
            <a:pPr lvl="1"/>
            <a:r>
              <a:rPr lang="en-US" dirty="0"/>
              <a:t>Overflow flag (OF)</a:t>
            </a:r>
          </a:p>
          <a:p>
            <a:pPr lvl="1"/>
            <a:r>
              <a:rPr lang="en-US" dirty="0"/>
              <a:t>Carry flag (CF)</a:t>
            </a:r>
          </a:p>
          <a:p>
            <a:endParaRPr lang="en-US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577659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A6891-FB97-E35B-8975-BB65D258D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Flag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1E865-94DA-D779-33AA-CB2A1F248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Indicates the sign of the result of the last arithmetic or logical operation</a:t>
            </a:r>
          </a:p>
          <a:p>
            <a:r>
              <a:rPr lang="en-US" dirty="0"/>
              <a:t>It helps determine whether the result of an operation is positive or negative</a:t>
            </a:r>
          </a:p>
          <a:p>
            <a:r>
              <a:rPr lang="en-US" dirty="0"/>
              <a:t>The Sign Flag is the most significant bit (MSB) of the result in binary representation.</a:t>
            </a:r>
          </a:p>
          <a:p>
            <a:r>
              <a:rPr lang="en-US" dirty="0"/>
              <a:t>SF = 1; MSB = 1</a:t>
            </a:r>
          </a:p>
          <a:p>
            <a:r>
              <a:rPr lang="en-US" dirty="0"/>
              <a:t>SF = 0; MSB = 0</a:t>
            </a:r>
          </a:p>
        </p:txBody>
      </p:sp>
    </p:spTree>
    <p:extLst>
      <p:ext uri="{BB962C8B-B14F-4D97-AF65-F5344CB8AC3E}">
        <p14:creationId xmlns:p14="http://schemas.microsoft.com/office/powerpoint/2010/main" val="22955596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78924-C5B1-789A-1360-49FCBE0EC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B38DE-4B65-C1BF-E48C-C5E28C02C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AX = 0b1000 0001 (129) + 0b1000 0001 (129)</a:t>
            </a:r>
          </a:p>
          <a:p>
            <a:r>
              <a:rPr lang="en-US" dirty="0"/>
              <a:t>AX = 0b0001 0000 (256)</a:t>
            </a:r>
          </a:p>
          <a:p>
            <a:r>
              <a:rPr lang="en-US" dirty="0"/>
              <a:t>SF = 0 (positive result)</a:t>
            </a:r>
          </a:p>
          <a:p>
            <a:r>
              <a:rPr lang="en-US" dirty="0"/>
              <a:t>AX = 0b0000 0001 (1) - 0b0000 0010 (2)</a:t>
            </a:r>
          </a:p>
          <a:p>
            <a:r>
              <a:rPr lang="en-US" dirty="0"/>
              <a:t>AX = 0b1111 1111 (255) (in two's complement, represents -1)</a:t>
            </a:r>
          </a:p>
          <a:p>
            <a:r>
              <a:rPr lang="en-US" dirty="0"/>
              <a:t>SF = 1 (negative result)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257573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A5EC6-1216-E39D-C4A0-23D06DFA6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 Flag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89BBB-D103-6B5E-08BC-15251BB8E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Indicates whether the result of the last arithmetic or logical operation was zero.</a:t>
            </a:r>
          </a:p>
          <a:p>
            <a:r>
              <a:rPr lang="en-US" dirty="0"/>
              <a:t>ZF = 1: Indicates the result of the last operation is zero.</a:t>
            </a:r>
          </a:p>
          <a:p>
            <a:r>
              <a:rPr lang="en-US" dirty="0"/>
              <a:t>ZF = 0: Indicates the result is non-zero.</a:t>
            </a:r>
          </a:p>
          <a:p>
            <a:r>
              <a:rPr lang="en-US" dirty="0"/>
              <a:t>AX = 0b0000 0000 (0) + 0b0000 0000 (0)</a:t>
            </a:r>
          </a:p>
          <a:p>
            <a:pPr lvl="1"/>
            <a:r>
              <a:rPr lang="en-US" dirty="0"/>
              <a:t>AX = 0b0000 0000 (0); ZF is set to 1</a:t>
            </a:r>
          </a:p>
          <a:p>
            <a:r>
              <a:rPr lang="en-US" dirty="0"/>
              <a:t>AX = 0b0000 0001 (1) + 0b0000 0001 (1)</a:t>
            </a:r>
          </a:p>
          <a:p>
            <a:pPr lvl="1"/>
            <a:r>
              <a:rPr lang="en-US" dirty="0"/>
              <a:t>AX = 0b0000 0010 (2); ZF is set to 0</a:t>
            </a:r>
          </a:p>
        </p:txBody>
      </p:sp>
    </p:spTree>
    <p:extLst>
      <p:ext uri="{BB962C8B-B14F-4D97-AF65-F5344CB8AC3E}">
        <p14:creationId xmlns:p14="http://schemas.microsoft.com/office/powerpoint/2010/main" val="3352012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AA1A-1D41-4EFB-9141-00A59766F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Auxiliary Carry Flag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1A817-6F60-793C-DA56-DA89F803A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0" dirty="0">
                <a:solidFill>
                  <a:srgbClr val="273239"/>
                </a:solidFill>
                <a:effectLst/>
              </a:rPr>
              <a:t>This flag is used in BCD (Binary-coded Decimal) operations.</a:t>
            </a:r>
          </a:p>
          <a:p>
            <a:r>
              <a:rPr lang="en-US" dirty="0"/>
              <a:t>Indicates whether a carry occurred from the lower nibble (the least significant 4 bits) to the upper nibble during an arithmetic operation.</a:t>
            </a:r>
          </a:p>
          <a:p>
            <a:pPr algn="l" fontAlgn="base">
              <a:spcAft>
                <a:spcPts val="750"/>
              </a:spcAft>
            </a:pPr>
            <a:r>
              <a:rPr lang="pt-BR" i="0" dirty="0">
                <a:solidFill>
                  <a:srgbClr val="273239"/>
                </a:solidFill>
                <a:effectLst/>
              </a:rPr>
              <a:t>  29H =  0010 1001</a:t>
            </a:r>
          </a:p>
          <a:p>
            <a:pPr algn="l" fontAlgn="base">
              <a:spcAft>
                <a:spcPts val="750"/>
              </a:spcAft>
            </a:pPr>
            <a:r>
              <a:rPr lang="pt-BR" i="0" u="sng" dirty="0">
                <a:solidFill>
                  <a:srgbClr val="273239"/>
                </a:solidFill>
                <a:effectLst/>
              </a:rPr>
              <a:t>+4CH </a:t>
            </a:r>
            <a:r>
              <a:rPr lang="pt-BR" i="0" u="sng">
                <a:solidFill>
                  <a:srgbClr val="273239"/>
                </a:solidFill>
                <a:effectLst/>
              </a:rPr>
              <a:t>= 0100 </a:t>
            </a:r>
            <a:r>
              <a:rPr lang="pt-BR" i="0" u="sng" dirty="0">
                <a:solidFill>
                  <a:srgbClr val="273239"/>
                </a:solidFill>
                <a:effectLst/>
              </a:rPr>
              <a:t>1100</a:t>
            </a:r>
            <a:endParaRPr lang="pt-BR" i="0" dirty="0">
              <a:solidFill>
                <a:srgbClr val="273239"/>
              </a:solidFill>
              <a:effectLst/>
            </a:endParaRPr>
          </a:p>
          <a:p>
            <a:pPr algn="l" fontAlgn="base">
              <a:spcAft>
                <a:spcPts val="750"/>
              </a:spcAft>
            </a:pPr>
            <a:r>
              <a:rPr lang="pt-BR" i="0" dirty="0">
                <a:solidFill>
                  <a:srgbClr val="273239"/>
                </a:solidFill>
                <a:effectLst/>
              </a:rPr>
              <a:t>  75H =  0111 0101</a:t>
            </a:r>
          </a:p>
          <a:p>
            <a:pPr algn="l" fontAlgn="base">
              <a:spcAft>
                <a:spcPts val="750"/>
              </a:spcAft>
            </a:pPr>
            <a:r>
              <a:rPr lang="pt-BR" dirty="0">
                <a:solidFill>
                  <a:srgbClr val="273239"/>
                </a:solidFill>
              </a:rPr>
              <a:t>AF is set to 1</a:t>
            </a:r>
            <a:endParaRPr lang="pt-BR" i="0" dirty="0">
              <a:solidFill>
                <a:srgbClr val="273239"/>
              </a:solidFill>
              <a:effectLst/>
            </a:endParaRPr>
          </a:p>
          <a:p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699CA4-1478-2073-6741-B69CA641B63F}"/>
              </a:ext>
            </a:extLst>
          </p:cNvPr>
          <p:cNvSpPr txBox="1"/>
          <p:nvPr/>
        </p:nvSpPr>
        <p:spPr>
          <a:xfrm>
            <a:off x="5906278" y="3928187"/>
            <a:ext cx="420810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  </a:t>
            </a:r>
            <a:r>
              <a:rPr lang="en-PK" sz="2400" dirty="0"/>
              <a:t>0000 1001 (9) </a:t>
            </a:r>
            <a:endParaRPr lang="en-US" sz="2400" dirty="0"/>
          </a:p>
          <a:p>
            <a:r>
              <a:rPr lang="en-PK" sz="2400" dirty="0"/>
              <a:t>+ 0000 0001 (1) </a:t>
            </a:r>
            <a:endParaRPr lang="en-US" sz="2400" dirty="0"/>
          </a:p>
          <a:p>
            <a:r>
              <a:rPr lang="en-US" sz="2400" dirty="0"/>
              <a:t>    </a:t>
            </a:r>
            <a:r>
              <a:rPr lang="en-PK" sz="2400" dirty="0"/>
              <a:t>------------ </a:t>
            </a:r>
            <a:endParaRPr lang="en-US" sz="2400" dirty="0"/>
          </a:p>
          <a:p>
            <a:r>
              <a:rPr lang="en-US" sz="2400" dirty="0"/>
              <a:t>    </a:t>
            </a:r>
            <a:r>
              <a:rPr lang="en-PK" sz="2400" dirty="0"/>
              <a:t>0000 1010 (10)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AF is set to 0</a:t>
            </a: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13512385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3BE77-F2A2-5345-72F6-B423A705B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Parity Flag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0DD32-F369-064C-A297-7607D165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4666860" cy="3318936"/>
          </a:xfrm>
        </p:spPr>
        <p:txBody>
          <a:bodyPr/>
          <a:lstStyle/>
          <a:p>
            <a:pPr algn="just"/>
            <a:r>
              <a:rPr lang="en-US" dirty="0"/>
              <a:t>Indicates whether the number of set bits (1s) in the result of the last arithmetic or logical operation is even or odd.</a:t>
            </a:r>
          </a:p>
          <a:p>
            <a:pPr algn="just"/>
            <a:r>
              <a:rPr lang="en-US" dirty="0"/>
              <a:t>PF = 1: Indicates an even number of 1s in the result (even parity).</a:t>
            </a:r>
          </a:p>
          <a:p>
            <a:pPr algn="just"/>
            <a:r>
              <a:rPr lang="en-US" dirty="0"/>
              <a:t>PF = 0: Indicates an odd number of 1s in the result (odd parity).</a:t>
            </a:r>
            <a:endParaRPr lang="en-PK" dirty="0"/>
          </a:p>
        </p:txBody>
      </p:sp>
      <p:pic>
        <p:nvPicPr>
          <p:cNvPr id="3074" name="Picture 2" descr="Flag register of 8086 | ROBOTIC ELECTRONICS">
            <a:extLst>
              <a:ext uri="{FF2B5EF4-FFF2-40B4-BE49-F238E27FC236}">
                <a16:creationId xmlns:a16="http://schemas.microsoft.com/office/drawing/2014/main" id="{63BE97A9-927B-1BC4-C295-63F351DBA4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2261" y="3741576"/>
            <a:ext cx="5292060" cy="2247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96543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43C83-4274-14F5-ED0C-7BC594816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Overflow Flag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51A27-0B1D-4354-4C2A-4F6216807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This flag is set </a:t>
            </a:r>
            <a:r>
              <a:rPr lang="en-US" sz="2000" b="0" i="0" dirty="0">
                <a:solidFill>
                  <a:srgbClr val="273239"/>
                </a:solidFill>
                <a:effectLst/>
              </a:rPr>
              <a:t>when the result of a signed operation goes beyond limits of the data type.</a:t>
            </a:r>
          </a:p>
          <a:p>
            <a:r>
              <a:rPr lang="en-US" sz="2000" dirty="0"/>
              <a:t>The OF is set (1) when:</a:t>
            </a:r>
            <a:endParaRPr lang="en-US" sz="2000" dirty="0">
              <a:solidFill>
                <a:srgbClr val="273239"/>
              </a:solidFill>
            </a:endParaRPr>
          </a:p>
          <a:p>
            <a:pPr lvl="1"/>
            <a:r>
              <a:rPr lang="en-US" dirty="0"/>
              <a:t>Two positive numbers are added and the result is negative (indicating overflow).</a:t>
            </a:r>
            <a:endParaRPr lang="en-US" dirty="0">
              <a:solidFill>
                <a:srgbClr val="273239"/>
              </a:solidFill>
            </a:endParaRPr>
          </a:p>
          <a:p>
            <a:pPr lvl="1"/>
            <a:r>
              <a:rPr lang="en-US" dirty="0"/>
              <a:t>Two negative numbers are added and the result is positive (indicating overflow).</a:t>
            </a:r>
          </a:p>
          <a:p>
            <a:endParaRPr lang="en-PK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E99802-5E8E-1153-5EA3-C8AF9EDC54BE}"/>
              </a:ext>
            </a:extLst>
          </p:cNvPr>
          <p:cNvSpPr txBox="1"/>
          <p:nvPr/>
        </p:nvSpPr>
        <p:spPr>
          <a:xfrm>
            <a:off x="1427584" y="5057192"/>
            <a:ext cx="2369975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PK" dirty="0"/>
              <a:t>0111 1111 (127) </a:t>
            </a:r>
            <a:endParaRPr lang="en-US" dirty="0"/>
          </a:p>
          <a:p>
            <a:r>
              <a:rPr lang="en-PK" dirty="0"/>
              <a:t>+ 0000 0001 (1) </a:t>
            </a:r>
            <a:endParaRPr lang="en-US" dirty="0"/>
          </a:p>
          <a:p>
            <a:r>
              <a:rPr lang="en-US" dirty="0"/>
              <a:t>   </a:t>
            </a:r>
            <a:r>
              <a:rPr lang="en-PK" dirty="0"/>
              <a:t>-------------------- </a:t>
            </a:r>
            <a:endParaRPr lang="en-US" dirty="0"/>
          </a:p>
          <a:p>
            <a:r>
              <a:rPr lang="en-US" dirty="0"/>
              <a:t>    </a:t>
            </a:r>
            <a:r>
              <a:rPr lang="en-PK" dirty="0"/>
              <a:t>1000 0000 (</a:t>
            </a:r>
            <a:r>
              <a:rPr lang="en-US" dirty="0"/>
              <a:t>-</a:t>
            </a:r>
            <a:r>
              <a:rPr lang="en-PK" dirty="0"/>
              <a:t>128</a:t>
            </a:r>
            <a:r>
              <a:rPr lang="en-US" dirty="0"/>
              <a:t>)</a:t>
            </a:r>
            <a:r>
              <a:rPr lang="en-PK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AF1CFB-4EA5-EBF4-3758-E7D992E88A76}"/>
              </a:ext>
            </a:extLst>
          </p:cNvPr>
          <p:cNvSpPr txBox="1"/>
          <p:nvPr/>
        </p:nvSpPr>
        <p:spPr>
          <a:xfrm>
            <a:off x="3929742" y="5057191"/>
            <a:ext cx="2030963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    1000 0001 (-127) </a:t>
            </a:r>
          </a:p>
          <a:p>
            <a:pPr marL="285750" indent="-285750">
              <a:buFontTx/>
              <a:buChar char="-"/>
            </a:pPr>
            <a:r>
              <a:rPr lang="en-US" dirty="0"/>
              <a:t>0000 0001 (1) </a:t>
            </a:r>
          </a:p>
          <a:p>
            <a:r>
              <a:rPr lang="en-US" dirty="0"/>
              <a:t>    -------------------- </a:t>
            </a:r>
          </a:p>
          <a:p>
            <a:r>
              <a:rPr lang="en-US" dirty="0"/>
              <a:t>    0111 1110 (126)</a:t>
            </a:r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E9F9BF-4E9E-958D-0D05-5B84A6A7D540}"/>
              </a:ext>
            </a:extLst>
          </p:cNvPr>
          <p:cNvSpPr txBox="1"/>
          <p:nvPr/>
        </p:nvSpPr>
        <p:spPr>
          <a:xfrm>
            <a:off x="8658805" y="5057191"/>
            <a:ext cx="2369975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    0000 0001 (1)</a:t>
            </a:r>
          </a:p>
          <a:p>
            <a:r>
              <a:rPr lang="en-US" dirty="0"/>
              <a:t>+ 0000 0010 (2) </a:t>
            </a:r>
          </a:p>
          <a:p>
            <a:r>
              <a:rPr lang="en-US" dirty="0"/>
              <a:t>    ------------------ </a:t>
            </a:r>
          </a:p>
          <a:p>
            <a:r>
              <a:rPr lang="en-US" dirty="0"/>
              <a:t>    0000 0011 (3)</a:t>
            </a:r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A213D5-E0F1-8BAA-E427-7AF7404DF296}"/>
              </a:ext>
            </a:extLst>
          </p:cNvPr>
          <p:cNvSpPr txBox="1"/>
          <p:nvPr/>
        </p:nvSpPr>
        <p:spPr>
          <a:xfrm>
            <a:off x="3411893" y="4687859"/>
            <a:ext cx="1035698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OF = 1</a:t>
            </a:r>
            <a:endParaRPr lang="en-P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5FCF36-B0A3-260B-0DF7-BE03FBAAED0D}"/>
              </a:ext>
            </a:extLst>
          </p:cNvPr>
          <p:cNvSpPr txBox="1"/>
          <p:nvPr/>
        </p:nvSpPr>
        <p:spPr>
          <a:xfrm>
            <a:off x="9325943" y="4687859"/>
            <a:ext cx="1035698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OF = 0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527034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CAB94-1EA8-E5BD-CC6A-BA6300E00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Carry Flag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C3AF3-EB18-0193-8F61-EF88CD4C6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CF is set (1) if there is a carry out from the MSB during addition.</a:t>
            </a:r>
          </a:p>
          <a:p>
            <a:r>
              <a:rPr lang="en-US" dirty="0"/>
              <a:t>The CF is set (1) if there is a borrow from MSB in a subtraction operation</a:t>
            </a:r>
          </a:p>
          <a:p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0D3117-4D79-035A-228F-61C432ABE4C4}"/>
              </a:ext>
            </a:extLst>
          </p:cNvPr>
          <p:cNvSpPr txBox="1"/>
          <p:nvPr/>
        </p:nvSpPr>
        <p:spPr>
          <a:xfrm>
            <a:off x="970384" y="4002833"/>
            <a:ext cx="1772816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   CF = 1</a:t>
            </a:r>
          </a:p>
          <a:p>
            <a:r>
              <a:rPr lang="en-US" dirty="0"/>
              <a:t>    1111 1111</a:t>
            </a:r>
          </a:p>
          <a:p>
            <a:r>
              <a:rPr lang="en-US" dirty="0"/>
              <a:t>+ 0000 0001</a:t>
            </a:r>
          </a:p>
          <a:p>
            <a:r>
              <a:rPr lang="en-US" dirty="0"/>
              <a:t> -------------------- </a:t>
            </a:r>
          </a:p>
          <a:p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 0000 0000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037F79-79A3-C16F-C8FB-0BBA4B82817F}"/>
              </a:ext>
            </a:extLst>
          </p:cNvPr>
          <p:cNvSpPr txBox="1"/>
          <p:nvPr/>
        </p:nvSpPr>
        <p:spPr>
          <a:xfrm>
            <a:off x="2951584" y="4002833"/>
            <a:ext cx="1772816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   CF = 1</a:t>
            </a:r>
          </a:p>
          <a:p>
            <a:r>
              <a:rPr lang="en-US" dirty="0"/>
              <a:t>   </a:t>
            </a:r>
            <a:r>
              <a:rPr lang="en-PK" dirty="0"/>
              <a:t>0000 0000</a:t>
            </a:r>
            <a:endParaRPr lang="en-US" dirty="0"/>
          </a:p>
          <a:p>
            <a:r>
              <a:rPr lang="en-PK" dirty="0"/>
              <a:t> - 0000 0001</a:t>
            </a:r>
            <a:endParaRPr lang="en-US" dirty="0"/>
          </a:p>
          <a:p>
            <a:r>
              <a:rPr lang="en-PK" dirty="0"/>
              <a:t>------------------- </a:t>
            </a:r>
            <a:r>
              <a:rPr lang="en-PK" dirty="0">
                <a:solidFill>
                  <a:srgbClr val="FF0000"/>
                </a:solidFill>
              </a:rPr>
              <a:t>(1)</a:t>
            </a:r>
            <a:r>
              <a:rPr lang="en-PK" dirty="0"/>
              <a:t>1111 1111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A27C1-2FBE-EBD6-D6B1-187B86641F41}"/>
              </a:ext>
            </a:extLst>
          </p:cNvPr>
          <p:cNvSpPr txBox="1"/>
          <p:nvPr/>
        </p:nvSpPr>
        <p:spPr>
          <a:xfrm>
            <a:off x="6924090" y="4002833"/>
            <a:ext cx="1772816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   CF = 0</a:t>
            </a:r>
          </a:p>
          <a:p>
            <a:r>
              <a:rPr lang="en-US" dirty="0"/>
              <a:t>    0000 1110</a:t>
            </a:r>
          </a:p>
          <a:p>
            <a:r>
              <a:rPr lang="en-US" dirty="0"/>
              <a:t>+ 0000 1111</a:t>
            </a:r>
          </a:p>
          <a:p>
            <a:r>
              <a:rPr lang="en-US" dirty="0"/>
              <a:t> --------------------                     </a:t>
            </a:r>
            <a:r>
              <a:rPr lang="en-US" dirty="0">
                <a:solidFill>
                  <a:schemeClr val="bg1"/>
                </a:solidFill>
              </a:rPr>
              <a:t>…</a:t>
            </a:r>
            <a:r>
              <a:rPr lang="en-US" dirty="0"/>
              <a:t>0001 1101</a:t>
            </a:r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99D078-020A-7AE9-796C-3CB7D79982C6}"/>
              </a:ext>
            </a:extLst>
          </p:cNvPr>
          <p:cNvSpPr txBox="1"/>
          <p:nvPr/>
        </p:nvSpPr>
        <p:spPr>
          <a:xfrm>
            <a:off x="9447242" y="3987609"/>
            <a:ext cx="1772816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   CF = 0</a:t>
            </a:r>
          </a:p>
          <a:p>
            <a:r>
              <a:rPr lang="en-US" dirty="0"/>
              <a:t>   </a:t>
            </a:r>
            <a:r>
              <a:rPr lang="en-PK" dirty="0"/>
              <a:t>0000 0010</a:t>
            </a:r>
            <a:endParaRPr lang="en-US" dirty="0"/>
          </a:p>
          <a:p>
            <a:r>
              <a:rPr lang="en-PK" dirty="0"/>
              <a:t> - 0000 0001</a:t>
            </a:r>
            <a:endParaRPr lang="en-US" dirty="0"/>
          </a:p>
          <a:p>
            <a:r>
              <a:rPr lang="en-PK" dirty="0"/>
              <a:t>-------------------- 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…</a:t>
            </a:r>
            <a:r>
              <a:rPr lang="en-PK" dirty="0"/>
              <a:t>0000 0001</a:t>
            </a:r>
          </a:p>
        </p:txBody>
      </p:sp>
    </p:spTree>
    <p:extLst>
      <p:ext uri="{BB962C8B-B14F-4D97-AF65-F5344CB8AC3E}">
        <p14:creationId xmlns:p14="http://schemas.microsoft.com/office/powerpoint/2010/main" val="21653345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1D2B1-71FF-4782-000D-FA5EF5F4F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Flags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4618A-0BBE-3A2F-7C66-6D731108E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Dictate how the operations will be performed by the processor</a:t>
            </a:r>
          </a:p>
          <a:p>
            <a:r>
              <a:rPr lang="en-US" dirty="0"/>
              <a:t>How certain instructions are executed</a:t>
            </a:r>
          </a:p>
          <a:p>
            <a:pPr lvl="1"/>
            <a:r>
              <a:rPr lang="en-US" dirty="0"/>
              <a:t>Interrupt flag (IF)</a:t>
            </a:r>
          </a:p>
          <a:p>
            <a:pPr lvl="1"/>
            <a:r>
              <a:rPr lang="en-US" dirty="0"/>
              <a:t>Trap Flag (TF)</a:t>
            </a:r>
          </a:p>
          <a:p>
            <a:pPr lvl="1"/>
            <a:r>
              <a:rPr lang="en-US" dirty="0"/>
              <a:t>Directional flag (DF)</a:t>
            </a:r>
          </a:p>
        </p:txBody>
      </p:sp>
    </p:spTree>
    <p:extLst>
      <p:ext uri="{BB962C8B-B14F-4D97-AF65-F5344CB8AC3E}">
        <p14:creationId xmlns:p14="http://schemas.microsoft.com/office/powerpoint/2010/main" val="31056568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EE0B-421B-D059-2246-F8ABAC9B1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Directional Flag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A653D-25C5-DC10-BCAB-40F355C6C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Determines the direction in which string operations will be processed in memory</a:t>
            </a:r>
          </a:p>
          <a:p>
            <a:pPr algn="just"/>
            <a:r>
              <a:rPr lang="en-US" dirty="0"/>
              <a:t>DF = 0 (Forward Direction):</a:t>
            </a:r>
          </a:p>
          <a:p>
            <a:pPr lvl="1" algn="just"/>
            <a:r>
              <a:rPr lang="en-US" dirty="0"/>
              <a:t>String operations will increment the index registers</a:t>
            </a:r>
          </a:p>
          <a:p>
            <a:pPr lvl="1" algn="just"/>
            <a:r>
              <a:rPr lang="en-US" dirty="0"/>
              <a:t>Data is processed from lower memory addresses to higher memory addresses</a:t>
            </a:r>
          </a:p>
          <a:p>
            <a:pPr algn="just"/>
            <a:r>
              <a:rPr lang="en-US" dirty="0"/>
              <a:t>DF = 1 (Backward Direction):</a:t>
            </a:r>
          </a:p>
          <a:p>
            <a:pPr lvl="1" algn="just"/>
            <a:r>
              <a:rPr lang="en-US" dirty="0"/>
              <a:t>String operations will decrement the index registers.</a:t>
            </a:r>
          </a:p>
          <a:p>
            <a:pPr lvl="1" algn="just"/>
            <a:r>
              <a:rPr lang="en-US" dirty="0"/>
              <a:t>This means data is processed from higher memory addresses to lower memory addresses.</a:t>
            </a:r>
          </a:p>
          <a:p>
            <a:pPr algn="just"/>
            <a:r>
              <a:rPr lang="en-US" dirty="0"/>
              <a:t>CLD and STD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581716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4AFCE-1DFC-C31D-5E6C-4E43E79A0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Trap Flag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51BB3-3FFB-1034-776A-F65D6F086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Enables single-step debugging by generating an interrupt after each instruction execution.</a:t>
            </a:r>
          </a:p>
          <a:p>
            <a:r>
              <a:rPr lang="en-US" b="1" dirty="0"/>
              <a:t>TF = 1 (Trap Mode)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When set, it allows a debugger to take control after each instruction, facilitating step-by-step execution.</a:t>
            </a:r>
          </a:p>
          <a:p>
            <a:r>
              <a:rPr lang="en-US" b="1" dirty="0"/>
              <a:t>TF = 0 (Normal Mode)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When cleared, the CPU executes instructions normally without generating interrupts after each instruction.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9639020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66F34-6170-74C8-E72A-CAE82DEFC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 Flag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95267-CE4F-DE60-9198-48D738833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Controls whether the computer can respond to important signals (interrupts) from peripheral devices, like the keyboard or mouse</a:t>
            </a:r>
          </a:p>
          <a:p>
            <a:r>
              <a:rPr lang="en-US" b="1" dirty="0"/>
              <a:t>IF = 1</a:t>
            </a:r>
            <a:r>
              <a:rPr lang="en-US" dirty="0"/>
              <a:t> (Interrupts Enabled):</a:t>
            </a:r>
          </a:p>
          <a:p>
            <a:pPr lvl="1"/>
            <a:r>
              <a:rPr lang="en-US" dirty="0"/>
              <a:t>If you’re typing in Word, the computer registers each keypress instantly because interrupts are enabled.</a:t>
            </a:r>
          </a:p>
          <a:p>
            <a:r>
              <a:rPr lang="en-US" b="1" dirty="0"/>
              <a:t>IF = 0</a:t>
            </a:r>
            <a:r>
              <a:rPr lang="en-US" dirty="0"/>
              <a:t> (Interrupts Disabled):</a:t>
            </a:r>
          </a:p>
          <a:p>
            <a:pPr lvl="1"/>
            <a:r>
              <a:rPr lang="en-US" dirty="0"/>
              <a:t>The CPU </a:t>
            </a:r>
            <a:r>
              <a:rPr lang="en-US" b="1" dirty="0"/>
              <a:t>ignores</a:t>
            </a:r>
            <a:r>
              <a:rPr lang="en-US" dirty="0"/>
              <a:t> outside signals temporarily.</a:t>
            </a:r>
          </a:p>
          <a:p>
            <a:pPr lvl="1"/>
            <a:r>
              <a:rPr lang="en-US" dirty="0"/>
              <a:t>During an update, interrupts might be disabled to ensure the update isn’t interrupted by other tasks.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7520693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C9BEA-7E69-B9D1-855D-5D22FC8A1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Questions</a:t>
            </a:r>
            <a:endParaRPr lang="en-PK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F5DA5AF-B8C5-393A-A79E-E54DE85082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3009" y="2615671"/>
            <a:ext cx="7425982" cy="3449227"/>
          </a:xfrm>
        </p:spPr>
      </p:pic>
    </p:spTree>
    <p:extLst>
      <p:ext uri="{BB962C8B-B14F-4D97-AF65-F5344CB8AC3E}">
        <p14:creationId xmlns:p14="http://schemas.microsoft.com/office/powerpoint/2010/main" val="28208661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408</TotalTime>
  <Words>1529</Words>
  <Application>Microsoft Office PowerPoint</Application>
  <PresentationFormat>Widescreen</PresentationFormat>
  <Paragraphs>216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Garamond</vt:lpstr>
      <vt:lpstr>Organic</vt:lpstr>
      <vt:lpstr>Lecture 4</vt:lpstr>
      <vt:lpstr>ALU Instructions</vt:lpstr>
      <vt:lpstr>Types of ALU Instructions</vt:lpstr>
      <vt:lpstr>ADD</vt:lpstr>
      <vt:lpstr>SUB</vt:lpstr>
      <vt:lpstr>MUL</vt:lpstr>
      <vt:lpstr>DIV</vt:lpstr>
      <vt:lpstr>ADC</vt:lpstr>
      <vt:lpstr>SBB</vt:lpstr>
      <vt:lpstr>NEG</vt:lpstr>
      <vt:lpstr>Types of ALU Instructions</vt:lpstr>
      <vt:lpstr>AND</vt:lpstr>
      <vt:lpstr>OR</vt:lpstr>
      <vt:lpstr>XOR</vt:lpstr>
      <vt:lpstr>NOT</vt:lpstr>
      <vt:lpstr>Flag Register</vt:lpstr>
      <vt:lpstr>Format of Flag Register</vt:lpstr>
      <vt:lpstr>Status Flags</vt:lpstr>
      <vt:lpstr>Sign Flag</vt:lpstr>
      <vt:lpstr>Example</vt:lpstr>
      <vt:lpstr>Zero Flag</vt:lpstr>
      <vt:lpstr>Auxiliary Carry Flag</vt:lpstr>
      <vt:lpstr>Parity Flag</vt:lpstr>
      <vt:lpstr>Overflow Flag</vt:lpstr>
      <vt:lpstr>Carry Flag</vt:lpstr>
      <vt:lpstr>Control Flags</vt:lpstr>
      <vt:lpstr>Directional Flag</vt:lpstr>
      <vt:lpstr>Trap Flag</vt:lpstr>
      <vt:lpstr>Interrupt Flag</vt:lpstr>
      <vt:lpstr>Practice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Organization &amp; Assembly Language</dc:title>
  <dc:creator>Ihtisham ul haq</dc:creator>
  <cp:lastModifiedBy>Sehar Ali</cp:lastModifiedBy>
  <cp:revision>41</cp:revision>
  <dcterms:created xsi:type="dcterms:W3CDTF">2023-10-17T17:30:28Z</dcterms:created>
  <dcterms:modified xsi:type="dcterms:W3CDTF">2025-10-12T07:25:50Z</dcterms:modified>
</cp:coreProperties>
</file>