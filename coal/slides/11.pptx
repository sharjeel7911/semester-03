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88758" autoAdjust="0"/>
  </p:normalViewPr>
  <p:slideViewPr>
    <p:cSldViewPr snapToGrid="0">
      <p:cViewPr varScale="1">
        <p:scale>
          <a:sx n="73" d="100"/>
          <a:sy n="73" d="100"/>
        </p:scale>
        <p:origin x="10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 </a:t>
            </a:r>
          </a:p>
          <a:p>
            <a:endParaRPr lang="en-US" dirty="0"/>
          </a:p>
          <a:p>
            <a:r>
              <a:rPr lang="en-US" dirty="0"/>
              <a:t>.data</a:t>
            </a:r>
          </a:p>
          <a:p>
            <a:endParaRPr lang="en-US" dirty="0"/>
          </a:p>
          <a:p>
            <a:r>
              <a:rPr lang="en-US" dirty="0"/>
              <a:t>array2d </a:t>
            </a:r>
            <a:r>
              <a:rPr lang="en-US" dirty="0" err="1"/>
              <a:t>db</a:t>
            </a:r>
            <a:r>
              <a:rPr lang="en-US" dirty="0"/>
              <a:t> 1,2,3 </a:t>
            </a:r>
          </a:p>
          <a:p>
            <a:r>
              <a:rPr lang="en-US" dirty="0"/>
              <a:t>        </a:t>
            </a:r>
            <a:r>
              <a:rPr lang="en-US" dirty="0" err="1"/>
              <a:t>db</a:t>
            </a:r>
            <a:r>
              <a:rPr lang="en-US" dirty="0"/>
              <a:t> 3,4,5</a:t>
            </a:r>
          </a:p>
          <a:p>
            <a:r>
              <a:rPr lang="en-US" dirty="0"/>
              <a:t>        </a:t>
            </a:r>
            <a:r>
              <a:rPr lang="en-US" dirty="0" err="1"/>
              <a:t>db</a:t>
            </a:r>
            <a:r>
              <a:rPr lang="en-US" dirty="0"/>
              <a:t> 6,9,8</a:t>
            </a:r>
          </a:p>
          <a:p>
            <a:endParaRPr lang="en-US" dirty="0"/>
          </a:p>
          <a:p>
            <a:r>
              <a:rPr lang="en-US" dirty="0"/>
              <a:t>.code </a:t>
            </a:r>
          </a:p>
          <a:p>
            <a:endParaRPr lang="en-US" dirty="0"/>
          </a:p>
          <a:p>
            <a:r>
              <a:rPr lang="en-US" dirty="0"/>
              <a:t>; Program to read index (2,1) of a 2D array</a:t>
            </a:r>
          </a:p>
          <a:p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ax,@data</a:t>
            </a:r>
            <a:r>
              <a:rPr lang="en-US" dirty="0"/>
              <a:t> </a:t>
            </a:r>
          </a:p>
          <a:p>
            <a:r>
              <a:rPr lang="en-US" dirty="0"/>
              <a:t>mov </a:t>
            </a:r>
            <a:r>
              <a:rPr lang="en-US" dirty="0" err="1"/>
              <a:t>ds,ax</a:t>
            </a:r>
            <a:endParaRPr lang="en-US" dirty="0"/>
          </a:p>
          <a:p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bx,offset</a:t>
            </a:r>
            <a:r>
              <a:rPr lang="en-US" dirty="0"/>
              <a:t> array2d</a:t>
            </a:r>
          </a:p>
          <a:p>
            <a:endParaRPr lang="en-US" dirty="0"/>
          </a:p>
          <a:p>
            <a:r>
              <a:rPr lang="en-US" dirty="0"/>
              <a:t>mov al,3                ; number of cols</a:t>
            </a:r>
          </a:p>
          <a:p>
            <a:r>
              <a:rPr lang="en-US" dirty="0"/>
              <a:t>mov dl,2                ; mov row index to dl (</a:t>
            </a:r>
            <a:r>
              <a:rPr lang="en-US" dirty="0" err="1"/>
              <a:t>i,j</a:t>
            </a:r>
            <a:r>
              <a:rPr lang="en-US" dirty="0"/>
              <a:t>) = (2,1)</a:t>
            </a:r>
          </a:p>
          <a:p>
            <a:r>
              <a:rPr lang="en-US" dirty="0"/>
              <a:t>mov dh,1                ; mov column index to dh (</a:t>
            </a:r>
            <a:r>
              <a:rPr lang="en-US" dirty="0" err="1"/>
              <a:t>i,j</a:t>
            </a:r>
            <a:r>
              <a:rPr lang="en-US" dirty="0"/>
              <a:t>) = (2,1)</a:t>
            </a:r>
          </a:p>
          <a:p>
            <a:endParaRPr lang="en-US" dirty="0"/>
          </a:p>
          <a:p>
            <a:r>
              <a:rPr lang="en-US" dirty="0" err="1"/>
              <a:t>mul</a:t>
            </a:r>
            <a:r>
              <a:rPr lang="en-US" dirty="0"/>
              <a:t> dl                  ; multiple row index with number of col</a:t>
            </a:r>
          </a:p>
          <a:p>
            <a:endParaRPr lang="en-US" dirty="0"/>
          </a:p>
          <a:p>
            <a:r>
              <a:rPr lang="en-US" dirty="0"/>
              <a:t>add </a:t>
            </a:r>
            <a:r>
              <a:rPr lang="en-US" dirty="0" err="1"/>
              <a:t>al,dh</a:t>
            </a:r>
            <a:r>
              <a:rPr lang="en-US" dirty="0"/>
              <a:t>               ; add col index to the product calculated in previous instruction</a:t>
            </a:r>
          </a:p>
          <a:p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si,ax</a:t>
            </a:r>
            <a:r>
              <a:rPr lang="en-US" dirty="0"/>
              <a:t>               ; moving linear address to </a:t>
            </a:r>
            <a:r>
              <a:rPr lang="en-US" dirty="0" err="1"/>
              <a:t>si</a:t>
            </a:r>
            <a:endParaRPr lang="en-US" dirty="0"/>
          </a:p>
          <a:p>
            <a:endParaRPr lang="en-US" dirty="0"/>
          </a:p>
          <a:p>
            <a:r>
              <a:rPr lang="en-US" dirty="0"/>
              <a:t>mov al,[</a:t>
            </a:r>
            <a:r>
              <a:rPr lang="en-US" dirty="0" err="1"/>
              <a:t>bx+si</a:t>
            </a:r>
            <a:r>
              <a:rPr lang="en-US" dirty="0"/>
              <a:t>]          ; reading desired element that is 7 at index (2,1)</a:t>
            </a:r>
          </a:p>
          <a:p>
            <a:endParaRPr lang="en-US" dirty="0"/>
          </a:p>
          <a:p>
            <a:r>
              <a:rPr lang="en-US" dirty="0"/>
              <a:t>.exit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171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main(void)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int a = 10, b = 20, c = 0;</a:t>
            </a:r>
          </a:p>
          <a:p>
            <a:r>
              <a:rPr lang="en-US" dirty="0"/>
              <a:t>__</a:t>
            </a:r>
            <a:r>
              <a:rPr lang="en-US" dirty="0" err="1"/>
              <a:t>asm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mov </a:t>
            </a:r>
            <a:r>
              <a:rPr lang="en-US" dirty="0" err="1"/>
              <a:t>ebx,a</a:t>
            </a:r>
            <a:endParaRPr lang="en-US" dirty="0"/>
          </a:p>
          <a:p>
            <a:r>
              <a:rPr lang="en-US" dirty="0"/>
              <a:t>add </a:t>
            </a:r>
            <a:r>
              <a:rPr lang="en-US" dirty="0" err="1"/>
              <a:t>ebx,b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c,ebx</a:t>
            </a:r>
            <a:endParaRPr lang="en-US" dirty="0"/>
          </a:p>
          <a:p>
            <a:r>
              <a:rPr lang="en-US" dirty="0"/>
              <a:t>}</a:t>
            </a:r>
          </a:p>
          <a:p>
            <a:r>
              <a:rPr lang="en-US" dirty="0" err="1"/>
              <a:t>cout</a:t>
            </a:r>
            <a:r>
              <a:rPr lang="en-US" dirty="0"/>
              <a:t> &lt;&lt; "Sum of " &lt;&lt; a &lt;&lt; " and " &lt;&lt; b &lt;&lt; " is " &lt;&lt; c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19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#include &lt;iostream&gt;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using namespace std;</a:t>
            </a:r>
          </a:p>
          <a:p>
            <a:endParaRPr lang="en-PK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int array1[] = { 1,2,3,4,5 };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int sum = 0;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int main(void)</a:t>
            </a: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__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asm</a:t>
            </a:r>
            <a:endParaRPr lang="en-US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push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ebp</a:t>
            </a:r>
            <a:endParaRPr lang="en-US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push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esi</a:t>
            </a:r>
            <a:endParaRPr lang="en-US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mov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ebp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, offset array1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mov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esi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, 0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mov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ecx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, 5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mov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eax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, 0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l1: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add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eax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dword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ptr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ebp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esi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    add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esi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, 4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    loop l1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    mov sum,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eax</a:t>
            </a:r>
            <a:endParaRPr lang="en-US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    pop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esi</a:t>
            </a:r>
            <a:endParaRPr lang="en-US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    pop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ebp</a:t>
            </a:r>
            <a:endParaRPr lang="en-US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}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&lt;&lt; sum;</a:t>
            </a: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75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#include &lt;iostream&gt;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using namespace std;</a:t>
            </a:r>
          </a:p>
          <a:p>
            <a:endParaRPr lang="en-PK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int array1[] = { 1,2,3,4,5 };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int sum = 0;</a:t>
            </a:r>
          </a:p>
          <a:p>
            <a:endParaRPr lang="en-PK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int main(void)</a:t>
            </a: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{</a:t>
            </a:r>
          </a:p>
          <a:p>
            <a:r>
              <a:rPr lang="nn-NO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for (int i = 0; i &lt; 20; i = i + 4)</a:t>
            </a: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__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asm</a:t>
            </a:r>
            <a:endParaRPr lang="en-US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    push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esi</a:t>
            </a:r>
            <a:endParaRPr lang="en-US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endParaRPr lang="en-PK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    mov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esi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i</a:t>
            </a:r>
            <a:endParaRPr lang="en-US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    mov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eax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dword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ptr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[array1 +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esi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    add sum,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eax</a:t>
            </a:r>
            <a:endParaRPr lang="en-US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endParaRPr lang="en-PK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    pop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esi</a:t>
            </a:r>
            <a:endParaRPr lang="en-US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}</a:t>
            </a:r>
          </a:p>
          <a:p>
            <a:endParaRPr lang="en-PK" sz="1200" kern="12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 &lt;&lt; sum;</a:t>
            </a:r>
          </a:p>
          <a:p>
            <a:r>
              <a:rPr lang="en-PK" sz="1200" kern="12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54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array1[] = { 1,2,3,4,5 };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20; i = i + 4)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__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asm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eax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nl-NL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rol dword ptr[array1 + eax], 1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5; i++)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97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array1[3][4] = { {1,2,3,1},{4,5,6,1},{7,8,9,1} };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 = 0;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3; i++)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j = 0; j &lt; 4;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 = 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 4 + j) *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sizeof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__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asm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eax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index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dword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[array1 +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eax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], 1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"("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","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j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")"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"-&gt;"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array1[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][j]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P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30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297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11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41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30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55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131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04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40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58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05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932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91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63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07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276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884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509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C642CD-AAAD-4E54-BAD2-9AEC05630F5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8DCF-28BD-4481-80CA-43880169EE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COAL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5B6BB-8C5C-5F4C-A55D-F74D5C8ADC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38852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4B1F5-442D-5A9B-65EF-46D20EC86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Array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595B4-CB69-5BD5-7F75-2EB30D1B5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2D array is a matrix of rows and columns.</a:t>
            </a:r>
          </a:p>
          <a:p>
            <a:r>
              <a:rPr lang="en-US" dirty="0"/>
              <a:t>Stored in a memory as a linear array</a:t>
            </a:r>
          </a:p>
          <a:p>
            <a:r>
              <a:rPr lang="en-US" dirty="0"/>
              <a:t>Can be accessed using base plus index addressing mode</a:t>
            </a:r>
          </a:p>
          <a:p>
            <a:r>
              <a:rPr lang="en-US" dirty="0"/>
              <a:t>Base register (BX) will hold the base address of the array </a:t>
            </a:r>
          </a:p>
          <a:p>
            <a:r>
              <a:rPr lang="en-US" dirty="0"/>
              <a:t>While the index address will be incremented as the linear array is accessed</a:t>
            </a:r>
          </a:p>
          <a:p>
            <a:pPr lvl="1"/>
            <a:r>
              <a:rPr lang="en-US" dirty="0"/>
              <a:t>[BX + SI]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49660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1F0F7-31D4-35EC-5139-A53B6F89C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988FF-C206-B1B6-321C-350F50F4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Array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ED3796-DEF7-CB03-1BB3-146E163C7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4439" y="2912042"/>
            <a:ext cx="7723122" cy="2879808"/>
          </a:xfrm>
        </p:spPr>
      </p:pic>
    </p:spTree>
    <p:extLst>
      <p:ext uri="{BB962C8B-B14F-4D97-AF65-F5344CB8AC3E}">
        <p14:creationId xmlns:p14="http://schemas.microsoft.com/office/powerpoint/2010/main" val="2219255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D704B-C5A4-21BB-DD1B-AB0F500C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Address Calculation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AE3E8-8C45-FC2F-377F-66F995102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linear_address</a:t>
            </a:r>
            <a:r>
              <a:rPr lang="en-US" dirty="0"/>
              <a:t> = </a:t>
            </a:r>
            <a:r>
              <a:rPr lang="en-US" dirty="0" err="1"/>
              <a:t>base_address</a:t>
            </a:r>
            <a:r>
              <a:rPr lang="en-US" dirty="0"/>
              <a:t> + (</a:t>
            </a:r>
            <a:r>
              <a:rPr lang="en-US" dirty="0" err="1"/>
              <a:t>row_index</a:t>
            </a:r>
            <a:r>
              <a:rPr lang="en-US" dirty="0"/>
              <a:t> * </a:t>
            </a:r>
            <a:r>
              <a:rPr lang="en-US" dirty="0" err="1"/>
              <a:t>num_columns</a:t>
            </a:r>
            <a:r>
              <a:rPr lang="en-US" dirty="0"/>
              <a:t> + </a:t>
            </a:r>
            <a:r>
              <a:rPr lang="en-US" dirty="0" err="1"/>
              <a:t>column_index</a:t>
            </a:r>
            <a:r>
              <a:rPr lang="en-US" dirty="0"/>
              <a:t>) * </a:t>
            </a:r>
            <a:r>
              <a:rPr lang="en-US" dirty="0" err="1"/>
              <a:t>element_size</a:t>
            </a:r>
            <a:endParaRPr lang="en-US" dirty="0"/>
          </a:p>
          <a:p>
            <a:r>
              <a:rPr lang="en-US" dirty="0"/>
              <a:t>For (1,2), the linear address will be calculated by this equation. </a:t>
            </a:r>
          </a:p>
          <a:p>
            <a:r>
              <a:rPr lang="en-US" dirty="0"/>
              <a:t>Please note that this address will be the offset part of logical address </a:t>
            </a:r>
          </a:p>
          <a:p>
            <a:r>
              <a:rPr lang="en-US" dirty="0"/>
              <a:t>Whereas, the segment part will be from DS register. </a:t>
            </a:r>
          </a:p>
          <a:p>
            <a:pPr lvl="1"/>
            <a:r>
              <a:rPr lang="en-US" dirty="0"/>
              <a:t>If </a:t>
            </a:r>
            <a:r>
              <a:rPr lang="en-US" dirty="0" err="1"/>
              <a:t>row_index</a:t>
            </a:r>
            <a:r>
              <a:rPr lang="en-US" dirty="0"/>
              <a:t> = 1 </a:t>
            </a:r>
          </a:p>
          <a:p>
            <a:pPr lvl="1"/>
            <a:r>
              <a:rPr lang="en-US" dirty="0" err="1"/>
              <a:t>num_columns</a:t>
            </a:r>
            <a:r>
              <a:rPr lang="en-US" dirty="0"/>
              <a:t> = 3 </a:t>
            </a:r>
          </a:p>
          <a:p>
            <a:pPr lvl="1"/>
            <a:r>
              <a:rPr lang="en-US" dirty="0" err="1"/>
              <a:t>column_index</a:t>
            </a:r>
            <a:r>
              <a:rPr lang="en-US" dirty="0"/>
              <a:t> = 2 </a:t>
            </a:r>
          </a:p>
          <a:p>
            <a:pPr lvl="1"/>
            <a:r>
              <a:rPr lang="en-US" dirty="0" err="1"/>
              <a:t>element_size</a:t>
            </a:r>
            <a:r>
              <a:rPr lang="en-US" dirty="0"/>
              <a:t> = 1 </a:t>
            </a:r>
          </a:p>
          <a:p>
            <a:r>
              <a:rPr lang="en-US" dirty="0"/>
              <a:t>then, </a:t>
            </a:r>
            <a:r>
              <a:rPr lang="en-US" dirty="0" err="1"/>
              <a:t>Linear_address</a:t>
            </a:r>
            <a:r>
              <a:rPr lang="en-US" dirty="0"/>
              <a:t> = </a:t>
            </a:r>
            <a:r>
              <a:rPr lang="en-US" dirty="0" err="1"/>
              <a:t>base_address</a:t>
            </a:r>
            <a:r>
              <a:rPr lang="en-US" dirty="0"/>
              <a:t> + (1 * 3 + 2) * 1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61981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19B3F-3D81-3175-AF8E-00CC4C20C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C49E4A7-57CD-94E0-225E-0F7C1F811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92222" y="2501479"/>
            <a:ext cx="8007555" cy="3636205"/>
          </a:xfrm>
        </p:spPr>
      </p:pic>
    </p:spTree>
    <p:extLst>
      <p:ext uri="{BB962C8B-B14F-4D97-AF65-F5344CB8AC3E}">
        <p14:creationId xmlns:p14="http://schemas.microsoft.com/office/powerpoint/2010/main" val="3997282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8A470-F03F-1E0D-57A4-C1F9022B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32-bit Registers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A1532-2BF5-73FD-A9AB-CB03E2D01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Intel 80386 was the first 32-bit processor of the Intel family of microprocessors.</a:t>
            </a:r>
          </a:p>
          <a:p>
            <a:pPr algn="just"/>
            <a:r>
              <a:rPr lang="en-US" dirty="0"/>
              <a:t>It has 32-bit addresses and data buses.</a:t>
            </a:r>
          </a:p>
          <a:p>
            <a:pPr algn="just"/>
            <a:r>
              <a:rPr lang="en-US" dirty="0"/>
              <a:t>The protected mode was also introduced in this processor that limits the operation of user programs.</a:t>
            </a:r>
          </a:p>
          <a:p>
            <a:pPr algn="just"/>
            <a:r>
              <a:rPr lang="en-US" dirty="0"/>
              <a:t>It doesn’t allow user programs to go beyond their memory limits assign to them and directly access IO devices.</a:t>
            </a:r>
          </a:p>
          <a:p>
            <a:pPr algn="just"/>
            <a:r>
              <a:rPr lang="en-US" dirty="0"/>
              <a:t>The size of existing registers, except the segment registers, were extended to 32-bit.</a:t>
            </a:r>
          </a:p>
          <a:p>
            <a:pPr algn="just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96513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9B21-5B43-03D6-764D-429CC1C5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32-bit Registers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D8CE37-AEAF-8D88-26AB-5B33BDFC2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6734" y="2570970"/>
            <a:ext cx="6038531" cy="3541660"/>
          </a:xfrm>
        </p:spPr>
      </p:pic>
    </p:spTree>
    <p:extLst>
      <p:ext uri="{BB962C8B-B14F-4D97-AF65-F5344CB8AC3E}">
        <p14:creationId xmlns:p14="http://schemas.microsoft.com/office/powerpoint/2010/main" val="2960220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65C6-4062-14A3-1FF1-D7BA4997B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Aliasing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0BA915-FB7F-C0B5-AA5F-7AF91D9752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0313" y="3353408"/>
            <a:ext cx="5231374" cy="2105054"/>
          </a:xfrm>
        </p:spPr>
      </p:pic>
    </p:spTree>
    <p:extLst>
      <p:ext uri="{BB962C8B-B14F-4D97-AF65-F5344CB8AC3E}">
        <p14:creationId xmlns:p14="http://schemas.microsoft.com/office/powerpoint/2010/main" val="470913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2FEF4-7487-E00C-FC7C-726FC462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32-bit Addressing Modes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45EF2-30A5-842C-3D6F-8690C202B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The addressing modes are the same.</a:t>
            </a:r>
          </a:p>
          <a:p>
            <a:pPr algn="just"/>
            <a:r>
              <a:rPr lang="en-US" dirty="0"/>
              <a:t>In 80386 and above, any 32-bit register may be used in register indirect addressing mode.</a:t>
            </a:r>
          </a:p>
          <a:p>
            <a:pPr lvl="1" algn="just"/>
            <a:r>
              <a:rPr lang="en-US" dirty="0"/>
              <a:t>The MOV [EDX], CL instruction copies the byte sized contents of register CL into the data segment memory location addressed by EDX</a:t>
            </a:r>
          </a:p>
          <a:p>
            <a:pPr algn="just"/>
            <a:r>
              <a:rPr lang="en-US" dirty="0"/>
              <a:t>Any two registers from the above may be combined to generate the memory address.</a:t>
            </a:r>
          </a:p>
          <a:p>
            <a:pPr lvl="1" algn="just"/>
            <a:r>
              <a:rPr lang="en-US" dirty="0"/>
              <a:t>The MOV [EAX+EBX], CL instruction copies the byte sized contents of register CL into the data segment memory location addressed by EAX plus EBX.</a:t>
            </a:r>
          </a:p>
          <a:p>
            <a:pPr algn="just"/>
            <a:r>
              <a:rPr lang="en-US" dirty="0"/>
              <a:t>Use any 32-bit register except ESP to address memory</a:t>
            </a:r>
          </a:p>
        </p:txBody>
      </p:sp>
    </p:spTree>
    <p:extLst>
      <p:ext uri="{BB962C8B-B14F-4D97-AF65-F5344CB8AC3E}">
        <p14:creationId xmlns:p14="http://schemas.microsoft.com/office/powerpoint/2010/main" val="2743435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D835E-4683-173F-E908-99A7CA2A5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2DEF-A268-3E64-4162-9986D33EE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32-bit Addressing Modes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46C42-029F-5484-3403-7BF1681C7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Register Direct Addressing (EAX, EBX)</a:t>
            </a:r>
          </a:p>
          <a:p>
            <a:pPr algn="just"/>
            <a:r>
              <a:rPr lang="en-US" dirty="0"/>
              <a:t>Register Indirect Addressing ([EBX], [EAX +4])</a:t>
            </a:r>
          </a:p>
          <a:p>
            <a:pPr algn="just"/>
            <a:r>
              <a:rPr lang="en-US" dirty="0"/>
              <a:t>Register Offset Addressing ([EBX + EAX], [EDX + ECX * 4])</a:t>
            </a:r>
          </a:p>
          <a:p>
            <a:pPr algn="just"/>
            <a:r>
              <a:rPr lang="en-US" dirty="0"/>
              <a:t>Base + Offset Addressing ([EBX + 10], [EAX + 0x20])</a:t>
            </a:r>
          </a:p>
          <a:p>
            <a:pPr algn="just"/>
            <a:r>
              <a:rPr lang="en-US" dirty="0"/>
              <a:t>Immediate Addressing (32-bit immediate value)</a:t>
            </a:r>
          </a:p>
          <a:p>
            <a:pPr algn="just"/>
            <a:r>
              <a:rPr lang="en-US" dirty="0"/>
              <a:t>Segment : Offset Addressing ([CS:1234], [DS:2000])</a:t>
            </a:r>
          </a:p>
        </p:txBody>
      </p:sp>
    </p:spTree>
    <p:extLst>
      <p:ext uri="{BB962C8B-B14F-4D97-AF65-F5344CB8AC3E}">
        <p14:creationId xmlns:p14="http://schemas.microsoft.com/office/powerpoint/2010/main" val="968552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71D12-B340-C13C-8904-97306F02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Assembly Language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01F4B-8192-2B75-35A2-F1BD58973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Assembly language serves many purposes:</a:t>
            </a:r>
          </a:p>
          <a:p>
            <a:pPr lvl="1"/>
            <a:r>
              <a:rPr lang="en-US" dirty="0"/>
              <a:t>Improving program speed</a:t>
            </a:r>
          </a:p>
          <a:p>
            <a:pPr lvl="1"/>
            <a:r>
              <a:rPr lang="en-US" dirty="0"/>
              <a:t>Reducing memory needs</a:t>
            </a:r>
          </a:p>
          <a:p>
            <a:pPr lvl="1"/>
            <a:r>
              <a:rPr lang="en-US" dirty="0"/>
              <a:t>Controlling hardware when writing kernel modules</a:t>
            </a:r>
          </a:p>
          <a:p>
            <a:r>
              <a:rPr lang="en-US" dirty="0"/>
              <a:t>You can use the inline assembler to embed assembly-language instructions directly in your C and C++ source programs without extra assembly and link steps.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41234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55CA5-B40F-490B-E5D7-74C09FCD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19DEE-8B87-C8F9-BF9E-28CCE6F43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Assembly Language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4BF74-4383-CC55-DEF1-71C1A0912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inline assembler is built into the compiler, so you don't need a separate assembler</a:t>
            </a:r>
          </a:p>
          <a:p>
            <a:pPr algn="just"/>
            <a:r>
              <a:rPr lang="en-US" dirty="0"/>
              <a:t>Because the inline assembler doesn't require separate assembly and link steps, it is more convenient than a separate assembler</a:t>
            </a:r>
          </a:p>
          <a:p>
            <a:pPr algn="just"/>
            <a:r>
              <a:rPr lang="en-US" dirty="0"/>
              <a:t>Inline assembly code can use any C or C++ variable or function name that is in scope, so it is easy to integrate it with your program's C and C++ code.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50974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A786C-C503-A22B-8E3A-250D60F93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__</a:t>
            </a:r>
            <a:r>
              <a:rPr lang="en-US" dirty="0" err="1"/>
              <a:t>asm</a:t>
            </a:r>
            <a:r>
              <a:rPr lang="en-US" dirty="0"/>
              <a:t> Keyword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E3D0B-68BF-9A81-81BA-E747F21A6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The__</a:t>
            </a:r>
            <a:r>
              <a:rPr lang="en-US" dirty="0" err="1"/>
              <a:t>asm</a:t>
            </a:r>
            <a:r>
              <a:rPr lang="en-US" dirty="0"/>
              <a:t> keyword invokes the inline assembler and can appear wherever a C or C++ statement is legal. </a:t>
            </a:r>
          </a:p>
          <a:p>
            <a:r>
              <a:rPr lang="en-US" dirty="0"/>
              <a:t>It cannot appear by itself. </a:t>
            </a:r>
          </a:p>
          <a:p>
            <a:r>
              <a:rPr lang="en-US" dirty="0"/>
              <a:t>It must be followed by an assembly instruction, a group of instructions enclosed in braces, or, at the very least, an empty pair of braces.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02952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0049-8DBC-6FB0-2970-8EA8DE755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3700A7-CD08-D483-F9C9-7D19ED5A9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3222" y="2659279"/>
            <a:ext cx="2885555" cy="3417107"/>
          </a:xfrm>
        </p:spPr>
      </p:pic>
    </p:spTree>
    <p:extLst>
      <p:ext uri="{BB962C8B-B14F-4D97-AF65-F5344CB8AC3E}">
        <p14:creationId xmlns:p14="http://schemas.microsoft.com/office/powerpoint/2010/main" val="3624553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06B59-1A7D-444A-B6A5-AF2310E06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and Preserving Registers in Inline Assembly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24A56-ABB6-3BD5-491C-95FAAB313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register will not have a given value when an __</a:t>
            </a:r>
            <a:r>
              <a:rPr lang="en-US" dirty="0" err="1"/>
              <a:t>asm</a:t>
            </a:r>
            <a:r>
              <a:rPr lang="en-US" dirty="0"/>
              <a:t> block begins.</a:t>
            </a:r>
          </a:p>
          <a:p>
            <a:pPr algn="just"/>
            <a:r>
              <a:rPr lang="en-US" dirty="0"/>
              <a:t>Register values are not guaranteed to be preserved across separate __</a:t>
            </a:r>
            <a:r>
              <a:rPr lang="en-US" dirty="0" err="1"/>
              <a:t>asm</a:t>
            </a:r>
            <a:r>
              <a:rPr lang="en-US" dirty="0"/>
              <a:t> blocks.</a:t>
            </a:r>
          </a:p>
          <a:p>
            <a:pPr algn="just"/>
            <a:r>
              <a:rPr lang="en-US" dirty="0"/>
              <a:t>If you end a block of inline code and begin another, you cannot rely on the registers in the second block to retain their values from the first block.</a:t>
            </a:r>
          </a:p>
          <a:p>
            <a:pPr algn="just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25845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84BCE-9AAF-D897-CA9F-6F960AE9C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92527E-AE52-0A94-7839-296AEE2BB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61497" y="2609222"/>
            <a:ext cx="6469005" cy="3572694"/>
          </a:xfrm>
        </p:spPr>
      </p:pic>
    </p:spTree>
    <p:extLst>
      <p:ext uri="{BB962C8B-B14F-4D97-AF65-F5344CB8AC3E}">
        <p14:creationId xmlns:p14="http://schemas.microsoft.com/office/powerpoint/2010/main" val="2763591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D6DC-5F23-A701-AE0B-0BC7AC17C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Sum of Array V1</a:t>
            </a:r>
            <a:endParaRPr lang="en-PK" dirty="0"/>
          </a:p>
        </p:txBody>
      </p:sp>
      <p:pic>
        <p:nvPicPr>
          <p:cNvPr id="7" name="Content Placeholder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86C5CC6-6CED-562E-C900-AB30D5086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65822" y="2462870"/>
            <a:ext cx="2660355" cy="374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90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243A-5697-F9E0-1206-E1F58AECE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Sum of Array V2</a:t>
            </a:r>
            <a:endParaRPr lang="en-PK" dirty="0"/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334D019-800E-20E6-98A0-5F76EB583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12248" y="2494401"/>
            <a:ext cx="3167504" cy="366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09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DD844-F38A-C7E8-8EB3-7576AF21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Rotate Left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B0D48D-7C2D-9B45-063C-F402DC27E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80349" y="2493593"/>
            <a:ext cx="3631302" cy="3760991"/>
          </a:xfrm>
        </p:spPr>
      </p:pic>
    </p:spTree>
    <p:extLst>
      <p:ext uri="{BB962C8B-B14F-4D97-AF65-F5344CB8AC3E}">
        <p14:creationId xmlns:p14="http://schemas.microsoft.com/office/powerpoint/2010/main" val="1706005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18B41-12C8-F851-07E9-E09DBB4AD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2D Array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D3DC3B-F6FF-118D-E21D-437A32454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99877" y="2576099"/>
            <a:ext cx="6792246" cy="3535451"/>
          </a:xfrm>
        </p:spPr>
      </p:pic>
    </p:spTree>
    <p:extLst>
      <p:ext uri="{BB962C8B-B14F-4D97-AF65-F5344CB8AC3E}">
        <p14:creationId xmlns:p14="http://schemas.microsoft.com/office/powerpoint/2010/main" val="22387503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5693</TotalTime>
  <Words>1307</Words>
  <Application>Microsoft Office PowerPoint</Application>
  <PresentationFormat>Widescreen</PresentationFormat>
  <Paragraphs>204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Cascadia Mono</vt:lpstr>
      <vt:lpstr>Garamond</vt:lpstr>
      <vt:lpstr>Organic</vt:lpstr>
      <vt:lpstr>COAL</vt:lpstr>
      <vt:lpstr>2D Array</vt:lpstr>
      <vt:lpstr>2D Array</vt:lpstr>
      <vt:lpstr>Linear Address Calculation</vt:lpstr>
      <vt:lpstr>Example</vt:lpstr>
      <vt:lpstr>32-bit Registers</vt:lpstr>
      <vt:lpstr>32-bit Registers</vt:lpstr>
      <vt:lpstr>Register Aliasing</vt:lpstr>
      <vt:lpstr>32-bit Addressing Modes</vt:lpstr>
      <vt:lpstr>32-bit Addressing Modes</vt:lpstr>
      <vt:lpstr>Inline Assembly Language</vt:lpstr>
      <vt:lpstr>Inline Assembly Language</vt:lpstr>
      <vt:lpstr>__asm Keyword</vt:lpstr>
      <vt:lpstr>Example</vt:lpstr>
      <vt:lpstr>Using and Preserving Registers in Inline Assembly</vt:lpstr>
      <vt:lpstr>Example</vt:lpstr>
      <vt:lpstr>Example – Sum of Array V1</vt:lpstr>
      <vt:lpstr>Example – Sum of Array V2</vt:lpstr>
      <vt:lpstr>Example – Rotate Left</vt:lpstr>
      <vt:lpstr>Example – 2D Array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Sehar Ali</cp:lastModifiedBy>
  <cp:revision>37</cp:revision>
  <dcterms:created xsi:type="dcterms:W3CDTF">2023-10-17T17:30:28Z</dcterms:created>
  <dcterms:modified xsi:type="dcterms:W3CDTF">2025-12-21T17:56:38Z</dcterms:modified>
</cp:coreProperties>
</file>