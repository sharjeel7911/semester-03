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4" r:id="rId1"/>
  </p:sldMasterIdLst>
  <p:notesMasterIdLst>
    <p:notesMasterId r:id="rId23"/>
  </p:notesMasterIdLst>
  <p:sldIdLst>
    <p:sldId id="256" r:id="rId2"/>
    <p:sldId id="317" r:id="rId3"/>
    <p:sldId id="374" r:id="rId4"/>
    <p:sldId id="379" r:id="rId5"/>
    <p:sldId id="373" r:id="rId6"/>
    <p:sldId id="283" r:id="rId7"/>
    <p:sldId id="375" r:id="rId8"/>
    <p:sldId id="387" r:id="rId9"/>
    <p:sldId id="388" r:id="rId10"/>
    <p:sldId id="315" r:id="rId11"/>
    <p:sldId id="378" r:id="rId12"/>
    <p:sldId id="377" r:id="rId13"/>
    <p:sldId id="376" r:id="rId14"/>
    <p:sldId id="380" r:id="rId15"/>
    <p:sldId id="381" r:id="rId16"/>
    <p:sldId id="382" r:id="rId17"/>
    <p:sldId id="383" r:id="rId18"/>
    <p:sldId id="384" r:id="rId19"/>
    <p:sldId id="385" r:id="rId20"/>
    <p:sldId id="386" r:id="rId21"/>
    <p:sldId id="399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327" autoAdjust="0"/>
  </p:normalViewPr>
  <p:slideViewPr>
    <p:cSldViewPr>
      <p:cViewPr varScale="1">
        <p:scale>
          <a:sx n="74" d="100"/>
          <a:sy n="74" d="100"/>
        </p:scale>
        <p:origin x="171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358071C-DA45-4E9B-9588-B049DB80A05C}" type="datetimeFigureOut">
              <a:rPr lang="en-US"/>
              <a:pPr>
                <a:defRPr/>
              </a:pPr>
              <a:t>9/28/2025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0B86C4D-06DD-4315-A32A-C7E9918853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9054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pPr>
              <a:defRPr/>
            </a:pPr>
            <a:fld id="{A9449F75-3F68-4A92-98C9-60C1167E8CE0}" type="datetime1">
              <a:rPr lang="en-US" smtClean="0"/>
              <a:pPr>
                <a:defRPr/>
              </a:pPr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pPr>
              <a:defRPr/>
            </a:pPr>
            <a:fld id="{BD48522F-A8B0-4431-9CDC-6D82D8F6E61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477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39D1B4-6A53-4DC0-951C-D5897AB941D1}" type="datetime1">
              <a:rPr lang="en-US" smtClean="0"/>
              <a:pPr>
                <a:defRPr/>
              </a:pPr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2CC1B-CD49-4A19-ADF7-0FF15023F91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87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F21362-D211-4543-85F1-87BC65A48942}" type="datetime1">
              <a:rPr lang="en-US" smtClean="0"/>
              <a:pPr>
                <a:defRPr/>
              </a:pPr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48AC1-485A-41B3-B857-3DFC5FED5FF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4075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5FF43F5-E45F-4BCD-9008-3828F13EC51A}" type="datetime1">
              <a:rPr lang="en-US" smtClean="0"/>
              <a:pPr>
                <a:defRPr/>
              </a:pPr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66F090-0606-4E77-86DC-1FE00F0FBE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2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87270B-A3AC-4FB0-BDA2-D2D90E68167C}" type="datetime1">
              <a:rPr lang="en-US" smtClean="0"/>
              <a:pPr>
                <a:defRPr/>
              </a:pPr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612D3F-A666-4B8E-8E1E-3E650B67C4C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747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9AA3AA-25B2-4ACB-A4EB-52D9681B09D3}" type="datetime1">
              <a:rPr lang="en-US" smtClean="0"/>
              <a:pPr>
                <a:defRPr/>
              </a:pPr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C60718-EE8B-451B-8499-F251C751979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3476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7579C8-AF9F-4460-A10C-F421755C9A8D}" type="datetime1">
              <a:rPr lang="en-US" smtClean="0"/>
              <a:pPr>
                <a:defRPr/>
              </a:pPr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4FD95B-63CB-49BB-8D78-355B4CA6FD0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745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0276D2-7253-4DDC-8C0F-85E52FEC832C}" type="datetime1">
              <a:rPr lang="en-US" smtClean="0"/>
              <a:pPr>
                <a:defRPr/>
              </a:pPr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A6B65D-6559-4D28-AD95-4188D8A6D77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835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79E68A-FF56-48CD-ABE4-8539EC6CC508}" type="datetime1">
              <a:rPr lang="en-US" smtClean="0"/>
              <a:pPr>
                <a:defRPr/>
              </a:pPr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DDAFB3-3D24-4714-AC02-44D26A2A977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776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2AD78A-F482-4B92-A580-7009E28E9B1E}" type="datetime1">
              <a:rPr lang="en-US" smtClean="0"/>
              <a:pPr>
                <a:defRPr/>
              </a:pPr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AAC32-FB45-4B42-AD13-2D6154294A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7513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2AD78A-F482-4B92-A580-7009E28E9B1E}" type="datetime1">
              <a:rPr lang="en-US" smtClean="0"/>
              <a:pPr>
                <a:defRPr/>
              </a:pPr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AAC32-FB45-4B42-AD13-2D6154294A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74824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2AD78A-F482-4B92-A580-7009E28E9B1E}" type="datetime1">
              <a:rPr lang="en-US" smtClean="0"/>
              <a:pPr>
                <a:defRPr/>
              </a:pPr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AAC32-FB45-4B42-AD13-2D6154294A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976525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2AD78A-F482-4B92-A580-7009E28E9B1E}" type="datetime1">
              <a:rPr lang="en-US" smtClean="0"/>
              <a:pPr>
                <a:defRPr/>
              </a:pPr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AAC32-FB45-4B42-AD13-2D6154294A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16605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2AD78A-F482-4B92-A580-7009E28E9B1E}" type="datetime1">
              <a:rPr lang="en-US" smtClean="0"/>
              <a:pPr>
                <a:defRPr/>
              </a:pPr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AAC32-FB45-4B42-AD13-2D6154294A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353297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2AD78A-F482-4B92-A580-7009E28E9B1E}" type="datetime1">
              <a:rPr lang="en-US" smtClean="0"/>
              <a:pPr>
                <a:defRPr/>
              </a:pPr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AAC32-FB45-4B42-AD13-2D6154294A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88815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CE46910-5EE8-42B0-BB6E-3500FD959B4E}" type="datetime1">
              <a:rPr lang="en-US" smtClean="0"/>
              <a:pPr>
                <a:defRPr/>
              </a:pPr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1C54E8-3420-424B-9DA3-1EA10561A9A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32701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B2B2B9-7DCF-4214-B580-482F090D600F}" type="datetime1">
              <a:rPr lang="en-US" smtClean="0"/>
              <a:pPr>
                <a:defRPr/>
              </a:pPr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A5C760-F7A5-4F65-9B65-921CA7F06EC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149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B42AD78A-F482-4B92-A580-7009E28E9B1E}" type="datetime1">
              <a:rPr lang="en-US" smtClean="0"/>
              <a:pPr>
                <a:defRPr/>
              </a:pPr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435AAC32-FB45-4B42-AD13-2D6154294A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79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  <p:sldLayoutId id="2147483851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1066800" y="2133600"/>
            <a:ext cx="7010400" cy="1066800"/>
          </a:xfrm>
        </p:spPr>
        <p:txBody>
          <a:bodyPr/>
          <a:lstStyle/>
          <a:p>
            <a:pPr algn="ctr" eaLnBrk="1" hangingPunct="1"/>
            <a:r>
              <a:rPr lang="en-US" sz="4400" dirty="0"/>
              <a:t>Computer Organization &amp; Assembly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886200"/>
            <a:ext cx="655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Revision: Data Representation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Number System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spcAft>
                <a:spcPts val="500"/>
              </a:spcAft>
            </a:pPr>
            <a:r>
              <a:rPr lang="en-US" sz="1800" dirty="0"/>
              <a:t>Any number system using a range of digits that represents A specific number. The most common numbering systems are decimal, binary, octal, and hexadecimal. </a:t>
            </a:r>
          </a:p>
          <a:p>
            <a:pPr algn="just">
              <a:spcAft>
                <a:spcPts val="500"/>
              </a:spcAft>
            </a:pPr>
            <a:r>
              <a:rPr lang="en-GB" sz="1800" dirty="0"/>
              <a:t>Numbers are important to computers</a:t>
            </a:r>
          </a:p>
          <a:p>
            <a:pPr lvl="1" algn="just">
              <a:spcAft>
                <a:spcPts val="500"/>
              </a:spcAft>
            </a:pPr>
            <a:r>
              <a:rPr lang="en-GB" sz="1800" dirty="0"/>
              <a:t>Represent information precisely</a:t>
            </a:r>
          </a:p>
          <a:p>
            <a:pPr lvl="1" algn="just">
              <a:spcAft>
                <a:spcPts val="500"/>
              </a:spcAft>
            </a:pPr>
            <a:r>
              <a:rPr lang="en-GB" sz="1800" dirty="0"/>
              <a:t>Can be processed</a:t>
            </a:r>
          </a:p>
          <a:p>
            <a:pPr algn="just">
              <a:spcAft>
                <a:spcPts val="500"/>
              </a:spcAft>
            </a:pPr>
            <a:r>
              <a:rPr lang="en-GB" sz="1800" dirty="0"/>
              <a:t>For example:</a:t>
            </a:r>
          </a:p>
          <a:p>
            <a:pPr lvl="1" algn="just">
              <a:spcAft>
                <a:spcPts val="500"/>
              </a:spcAft>
            </a:pPr>
            <a:r>
              <a:rPr lang="en-GB" sz="1800" dirty="0"/>
              <a:t>To represent yes or no: use 0 for no and 1 for yes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43D18D-67F2-4503-8D50-7783717FE73D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Number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BA753D-50E6-4719-A0FE-7615E9460B8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6089" y="3407229"/>
            <a:ext cx="7371822" cy="16244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Number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C5BFB1-D6EF-4F42-83D4-FC3A8F31C045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18905" y="3276600"/>
            <a:ext cx="6506190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245636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Hexadecimal Number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C4214D-7AC2-489A-9900-B3A9E6564FD2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4353" y="3276600"/>
            <a:ext cx="7275294" cy="1568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Conversion Between Number Systems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 eaLnBrk="1" hangingPunct="1"/>
            <a:r>
              <a:rPr lang="en-US" sz="2800" u="sng" dirty="0"/>
              <a:t>Converting Hexadecimal to Decimal</a:t>
            </a:r>
          </a:p>
          <a:p>
            <a:pPr algn="just" eaLnBrk="1" hangingPunct="1"/>
            <a:r>
              <a:rPr lang="en-US" sz="2800" dirty="0"/>
              <a:t>Multiply each digit of the hexadecimal number from right to left with its corresponding power of 16.</a:t>
            </a:r>
          </a:p>
          <a:p>
            <a:pPr algn="just" eaLnBrk="1" hangingPunct="1"/>
            <a:r>
              <a:rPr lang="en-US" sz="2800" dirty="0"/>
              <a:t>Convert the Hexadecimal number </a:t>
            </a:r>
            <a:r>
              <a:rPr lang="en-US" sz="2800" b="1" dirty="0"/>
              <a:t>82ADh</a:t>
            </a:r>
            <a:r>
              <a:rPr lang="en-US" sz="2800" dirty="0"/>
              <a:t> to decimal number.</a:t>
            </a:r>
          </a:p>
          <a:p>
            <a:pPr algn="just" eaLnBrk="1" hangingPunct="1"/>
            <a:r>
              <a:rPr lang="en-US" sz="2800" dirty="0"/>
              <a:t>0x82AD (memory addressing)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8D2403-016F-4422-B507-5EE7E9E83A2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Conversion Between Number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n-US" sz="2800" u="sng" dirty="0"/>
              <a:t>Converting Binary to Decimal</a:t>
            </a:r>
          </a:p>
          <a:p>
            <a:pPr algn="just" eaLnBrk="1" hangingPunct="1">
              <a:defRPr/>
            </a:pPr>
            <a:r>
              <a:rPr lang="en-US" sz="2800" dirty="0"/>
              <a:t>Multiply each digit of the binary number from right to left with its corresponding power of 2.</a:t>
            </a:r>
          </a:p>
          <a:p>
            <a:pPr algn="just" eaLnBrk="1" hangingPunct="1">
              <a:defRPr/>
            </a:pPr>
            <a:r>
              <a:rPr lang="en-US" sz="2800" dirty="0"/>
              <a:t>Convert the Binary number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11101</a:t>
            </a:r>
            <a:r>
              <a:rPr lang="en-US" sz="2800" dirty="0"/>
              <a:t> to decimal number.</a:t>
            </a:r>
          </a:p>
          <a:p>
            <a:pPr marL="0" indent="0" algn="just">
              <a:buFont typeface="Wingdings 3" pitchFamily="18" charset="2"/>
              <a:buNone/>
              <a:defRPr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FF2498-67DF-4A1E-957A-57823E2259C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Between Number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defRPr/>
            </a:pPr>
            <a:r>
              <a:rPr lang="en-US" sz="2800" u="sng" dirty="0"/>
              <a:t>Converting Decimal to Binary</a:t>
            </a:r>
          </a:p>
          <a:p>
            <a:pPr algn="just" eaLnBrk="1" hangingPunct="1">
              <a:defRPr/>
            </a:pPr>
            <a:r>
              <a:rPr lang="en-US" sz="2800" dirty="0"/>
              <a:t>Divide the decimal number by 2.</a:t>
            </a:r>
          </a:p>
          <a:p>
            <a:pPr algn="just" eaLnBrk="1" hangingPunct="1">
              <a:defRPr/>
            </a:pPr>
            <a:r>
              <a:rPr lang="en-US" sz="2800" dirty="0"/>
              <a:t>Take the remainder and record it on the side. </a:t>
            </a:r>
          </a:p>
          <a:p>
            <a:pPr algn="just" eaLnBrk="1" hangingPunct="1">
              <a:defRPr/>
            </a:pPr>
            <a:r>
              <a:rPr lang="en-US" sz="2800" dirty="0"/>
              <a:t>REPEAT UNTIL the decimal number cannot be divided into anymore. </a:t>
            </a:r>
          </a:p>
          <a:p>
            <a:pPr marL="0" indent="0" algn="just">
              <a:buFont typeface="Wingdings 3" pitchFamily="18" charset="2"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FF2498-67DF-4A1E-957A-57823E2259C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829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Between Number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u="sng" dirty="0"/>
              <a:t>Converting Decimal to Hexadecimal</a:t>
            </a:r>
          </a:p>
          <a:p>
            <a:pPr algn="just" eaLnBrk="1" hangingPunct="1">
              <a:defRPr/>
            </a:pPr>
            <a:r>
              <a:rPr lang="en-US" sz="2800" dirty="0"/>
              <a:t>Divide the decimal number by 16.</a:t>
            </a:r>
          </a:p>
          <a:p>
            <a:pPr algn="just" eaLnBrk="1" hangingPunct="1">
              <a:defRPr/>
            </a:pPr>
            <a:r>
              <a:rPr lang="en-US" sz="2800" dirty="0"/>
              <a:t>Take the remainder and record it on the side. </a:t>
            </a:r>
          </a:p>
          <a:p>
            <a:pPr algn="just" eaLnBrk="1" hangingPunct="1">
              <a:defRPr/>
            </a:pPr>
            <a:r>
              <a:rPr lang="en-US" sz="2800" dirty="0"/>
              <a:t>REPEAT UNTIL the decimal number cannot be divided into anymore.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2CC1B-CD49-4A19-ADF7-0FF15023F91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976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Binary Arithmetic Operations </a:t>
            </a:r>
            <a:endParaRPr lang="en-US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ct val="50000"/>
              </a:spcBef>
            </a:pPr>
            <a:r>
              <a:rPr lang="en-US" sz="2400" dirty="0"/>
              <a:t>Addition</a:t>
            </a:r>
          </a:p>
          <a:p>
            <a:pPr algn="just">
              <a:spcBef>
                <a:spcPct val="50000"/>
              </a:spcBef>
            </a:pPr>
            <a:r>
              <a:rPr lang="en-GB" sz="2400" dirty="0"/>
              <a:t>Like decimal numbers, two numbers can be added by adding each pair of digits together with carry propagation.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33048-56C7-4342-A316-9FCC00793A3D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417081"/>
              </p:ext>
            </p:extLst>
          </p:nvPr>
        </p:nvGraphicFramePr>
        <p:xfrm>
          <a:off x="1104900" y="4484919"/>
          <a:ext cx="1600200" cy="11080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97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urier New" pitchFamily="49" charset="0"/>
                          <a:cs typeface="Courier New" pitchFamily="49" charset="0"/>
                        </a:rPr>
                        <a:t>     11001 </a:t>
                      </a:r>
                    </a:p>
                  </a:txBody>
                  <a:tcPr marT="45746" marB="4574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53">
                <a:tc>
                  <a:txBody>
                    <a:bodyPr/>
                    <a:lstStyle/>
                    <a:p>
                      <a:r>
                        <a:rPr lang="en-US" sz="1800" u="none" dirty="0"/>
                        <a:t>       +</a:t>
                      </a:r>
                      <a:r>
                        <a:rPr lang="en-US" sz="1800" u="sng" dirty="0"/>
                        <a:t>  </a:t>
                      </a:r>
                      <a:r>
                        <a:rPr kumimoji="0" lang="en-US" sz="1800" u="sng" kern="120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10011</a:t>
                      </a:r>
                    </a:p>
                  </a:txBody>
                  <a:tcPr marT="45746" marB="4574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05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800" u="none" kern="120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</a:t>
                      </a:r>
                      <a:r>
                        <a:rPr kumimoji="0" lang="en-US" sz="1800" u="sng" kern="120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101100</a:t>
                      </a:r>
                    </a:p>
                  </a:txBody>
                  <a:tcPr marT="45746" marB="4574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802251"/>
              </p:ext>
            </p:extLst>
          </p:nvPr>
        </p:nvGraphicFramePr>
        <p:xfrm>
          <a:off x="5201816" y="4483605"/>
          <a:ext cx="1600200" cy="11080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97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urier New" pitchFamily="49" charset="0"/>
                          <a:cs typeface="Courier New" pitchFamily="49" charset="0"/>
                        </a:rPr>
                        <a:t>       647 </a:t>
                      </a:r>
                    </a:p>
                  </a:txBody>
                  <a:tcPr marT="45746" marB="4574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53">
                <a:tc>
                  <a:txBody>
                    <a:bodyPr/>
                    <a:lstStyle/>
                    <a:p>
                      <a:r>
                        <a:rPr lang="en-US" sz="1800" u="none" dirty="0"/>
                        <a:t>           +</a:t>
                      </a:r>
                      <a:r>
                        <a:rPr lang="en-US" sz="1800" u="sng" dirty="0"/>
                        <a:t>  </a:t>
                      </a:r>
                      <a:r>
                        <a:rPr kumimoji="0" lang="en-US" sz="1800" u="sng" kern="120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537</a:t>
                      </a:r>
                    </a:p>
                  </a:txBody>
                  <a:tcPr marT="45746" marB="4574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05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800" u="none" kern="120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  </a:t>
                      </a:r>
                      <a:r>
                        <a:rPr kumimoji="0" lang="en-US" sz="1800" u="sng" kern="120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1184</a:t>
                      </a:r>
                    </a:p>
                  </a:txBody>
                  <a:tcPr marT="45746" marB="4574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433" name="TextBox 4"/>
          <p:cNvSpPr txBox="1">
            <a:spLocks noChangeArrowheads="1"/>
          </p:cNvSpPr>
          <p:nvPr/>
        </p:nvSpPr>
        <p:spPr bwMode="auto">
          <a:xfrm>
            <a:off x="1176865" y="5764444"/>
            <a:ext cx="198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dirty="0"/>
              <a:t>Binary Addition</a:t>
            </a:r>
          </a:p>
        </p:txBody>
      </p:sp>
      <p:sp>
        <p:nvSpPr>
          <p:cNvPr id="17434" name="TextBox 8"/>
          <p:cNvSpPr txBox="1">
            <a:spLocks noChangeArrowheads="1"/>
          </p:cNvSpPr>
          <p:nvPr/>
        </p:nvSpPr>
        <p:spPr bwMode="auto">
          <a:xfrm>
            <a:off x="5181600" y="5698001"/>
            <a:ext cx="198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dirty="0"/>
              <a:t>Decimal Addition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Binary Arithmetic Operations </a:t>
            </a:r>
            <a:endParaRPr lang="en-US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914400" y="2667000"/>
            <a:ext cx="7315200" cy="3413125"/>
          </a:xfrm>
        </p:spPr>
        <p:txBody>
          <a:bodyPr/>
          <a:lstStyle/>
          <a:p>
            <a:pPr algn="just">
              <a:spcBef>
                <a:spcPct val="50000"/>
              </a:spcBef>
            </a:pPr>
            <a:r>
              <a:rPr lang="en-US" sz="2400" dirty="0"/>
              <a:t>Subtraction</a:t>
            </a:r>
          </a:p>
          <a:p>
            <a:pPr algn="just">
              <a:spcBef>
                <a:spcPct val="50000"/>
              </a:spcBef>
            </a:pPr>
            <a:r>
              <a:rPr lang="en-GB" sz="2400" dirty="0"/>
              <a:t>Two numbers can be subtracted by subtracting each pair of digits together with borrowing, where needed.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3AC175-FC73-420F-B48E-E63DD9A12D7A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538026"/>
              </p:ext>
            </p:extLst>
          </p:nvPr>
        </p:nvGraphicFramePr>
        <p:xfrm>
          <a:off x="1176866" y="4428946"/>
          <a:ext cx="1600200" cy="11080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97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urier New" pitchFamily="49" charset="0"/>
                          <a:cs typeface="Courier New" pitchFamily="49" charset="0"/>
                        </a:rPr>
                        <a:t>     11001 </a:t>
                      </a:r>
                    </a:p>
                  </a:txBody>
                  <a:tcPr marT="45746" marB="4574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53">
                <a:tc>
                  <a:txBody>
                    <a:bodyPr/>
                    <a:lstStyle/>
                    <a:p>
                      <a:r>
                        <a:rPr lang="en-US" sz="1800" u="none" dirty="0"/>
                        <a:t>       -</a:t>
                      </a:r>
                      <a:r>
                        <a:rPr lang="en-US" sz="1800" u="sng" dirty="0"/>
                        <a:t>  </a:t>
                      </a:r>
                      <a:r>
                        <a:rPr kumimoji="0" lang="en-US" sz="1800" u="sng" kern="120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10011</a:t>
                      </a:r>
                    </a:p>
                  </a:txBody>
                  <a:tcPr marT="45746" marB="4574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05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800" u="none" kern="120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</a:t>
                      </a:r>
                      <a:r>
                        <a:rPr kumimoji="0" lang="en-US" sz="1800" u="sng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</a:t>
                      </a:r>
                      <a:r>
                        <a:rPr kumimoji="0" lang="en-US" sz="1800" u="sng" kern="120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00110</a:t>
                      </a:r>
                    </a:p>
                  </a:txBody>
                  <a:tcPr marT="45746" marB="4574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240463"/>
              </p:ext>
            </p:extLst>
          </p:nvPr>
        </p:nvGraphicFramePr>
        <p:xfrm>
          <a:off x="5566836" y="4537867"/>
          <a:ext cx="1600200" cy="11080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97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urier New" pitchFamily="49" charset="0"/>
                          <a:cs typeface="Courier New" pitchFamily="49" charset="0"/>
                        </a:rPr>
                        <a:t>       627 </a:t>
                      </a:r>
                    </a:p>
                  </a:txBody>
                  <a:tcPr marT="45746" marB="4574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53">
                <a:tc>
                  <a:txBody>
                    <a:bodyPr/>
                    <a:lstStyle/>
                    <a:p>
                      <a:r>
                        <a:rPr lang="en-US" sz="1800" u="none" dirty="0"/>
                        <a:t>            -</a:t>
                      </a:r>
                      <a:r>
                        <a:rPr lang="en-US" sz="1800" u="sng" dirty="0"/>
                        <a:t> </a:t>
                      </a:r>
                      <a:r>
                        <a:rPr lang="en-US" sz="1800" u="sng" baseline="0" dirty="0"/>
                        <a:t> </a:t>
                      </a:r>
                      <a:r>
                        <a:rPr kumimoji="0" lang="en-US" sz="1800" u="sng" kern="120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537</a:t>
                      </a:r>
                    </a:p>
                  </a:txBody>
                  <a:tcPr marT="45746" marB="4574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05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800" u="none" kern="120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  </a:t>
                      </a:r>
                      <a:r>
                        <a:rPr kumimoji="0" lang="en-US" sz="1800" u="sng" kern="120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090</a:t>
                      </a:r>
                    </a:p>
                  </a:txBody>
                  <a:tcPr marT="45746" marB="4574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457" name="TextBox 4"/>
          <p:cNvSpPr txBox="1">
            <a:spLocks noChangeArrowheads="1"/>
          </p:cNvSpPr>
          <p:nvPr/>
        </p:nvSpPr>
        <p:spPr bwMode="auto">
          <a:xfrm>
            <a:off x="1176866" y="5744547"/>
            <a:ext cx="2209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dirty="0"/>
              <a:t>Binary Subtraction</a:t>
            </a:r>
          </a:p>
        </p:txBody>
      </p:sp>
      <p:sp>
        <p:nvSpPr>
          <p:cNvPr id="18458" name="TextBox 8"/>
          <p:cNvSpPr txBox="1">
            <a:spLocks noChangeArrowheads="1"/>
          </p:cNvSpPr>
          <p:nvPr/>
        </p:nvSpPr>
        <p:spPr bwMode="auto">
          <a:xfrm>
            <a:off x="5306789" y="5790141"/>
            <a:ext cx="2438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dirty="0"/>
              <a:t>Decimal Subtraction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Hexadecimal Arithmetic Operations </a:t>
            </a:r>
            <a:endParaRPr lang="en-US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ct val="50000"/>
              </a:spcBef>
            </a:pPr>
            <a:r>
              <a:rPr lang="en-US" sz="2400" dirty="0"/>
              <a:t>Hex Addition</a:t>
            </a:r>
          </a:p>
          <a:p>
            <a:pPr algn="just">
              <a:spcBef>
                <a:spcPct val="50000"/>
              </a:spcBef>
            </a:pPr>
            <a:r>
              <a:rPr lang="en-GB" sz="2400" dirty="0"/>
              <a:t>Like decimal numbers, two numbers can be added by adding each pair of digits together with carry propagation.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597162-724E-4588-8475-A44B16762A97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987349"/>
              </p:ext>
            </p:extLst>
          </p:nvPr>
        </p:nvGraphicFramePr>
        <p:xfrm>
          <a:off x="1295400" y="4624242"/>
          <a:ext cx="1600200" cy="11080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97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urier New" pitchFamily="49" charset="0"/>
                          <a:cs typeface="Courier New" pitchFamily="49" charset="0"/>
                        </a:rPr>
                        <a:t>      5B39 </a:t>
                      </a:r>
                    </a:p>
                  </a:txBody>
                  <a:tcPr marT="45746" marB="4574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53">
                <a:tc>
                  <a:txBody>
                    <a:bodyPr/>
                    <a:lstStyle/>
                    <a:p>
                      <a:r>
                        <a:rPr lang="en-US" sz="1800" u="none" dirty="0"/>
                        <a:t>         +</a:t>
                      </a:r>
                      <a:r>
                        <a:rPr lang="en-US" sz="1800" u="sng" dirty="0"/>
                        <a:t>  </a:t>
                      </a:r>
                      <a:r>
                        <a:rPr kumimoji="0" lang="en-US" sz="1800" u="sng" kern="120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7AF4</a:t>
                      </a:r>
                    </a:p>
                  </a:txBody>
                  <a:tcPr marT="45746" marB="4574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05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800" u="none" kern="120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</a:t>
                      </a:r>
                      <a:r>
                        <a:rPr kumimoji="0" lang="en-US" sz="1800" u="none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</a:t>
                      </a:r>
                      <a:r>
                        <a:rPr kumimoji="0" lang="en-US" sz="1800" u="sng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D</a:t>
                      </a:r>
                      <a:r>
                        <a:rPr kumimoji="0" lang="en-US" sz="1800" u="sng" kern="120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62D</a:t>
                      </a:r>
                    </a:p>
                  </a:txBody>
                  <a:tcPr marT="45746" marB="4574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471" name="TextBox 5"/>
          <p:cNvSpPr txBox="1">
            <a:spLocks noChangeArrowheads="1"/>
          </p:cNvSpPr>
          <p:nvPr/>
        </p:nvSpPr>
        <p:spPr bwMode="auto">
          <a:xfrm>
            <a:off x="1176865" y="5757719"/>
            <a:ext cx="266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dirty="0"/>
              <a:t>Hexadecimal Addition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HexaDecimal Arithmetic Operations </a:t>
            </a:r>
            <a:endParaRPr lang="en-US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762000" y="2667000"/>
            <a:ext cx="7924800" cy="3413125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sz="2400" dirty="0"/>
              <a:t>Hex Subtraction</a:t>
            </a:r>
          </a:p>
          <a:p>
            <a:pPr>
              <a:spcBef>
                <a:spcPct val="50000"/>
              </a:spcBef>
            </a:pPr>
            <a:r>
              <a:rPr lang="en-GB" sz="2400" dirty="0"/>
              <a:t>Two numbers can be subtracted by subtracting each pair of digits together with borrowing, where needed.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65FDF1-6752-4E98-87F1-831E2F339AF4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843494"/>
              </p:ext>
            </p:extLst>
          </p:nvPr>
        </p:nvGraphicFramePr>
        <p:xfrm>
          <a:off x="1371600" y="4342460"/>
          <a:ext cx="1600200" cy="11080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97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urier New" pitchFamily="49" charset="0"/>
                          <a:cs typeface="Courier New" pitchFamily="49" charset="0"/>
                        </a:rPr>
                        <a:t>      D26F</a:t>
                      </a:r>
                    </a:p>
                  </a:txBody>
                  <a:tcPr marT="45746" marB="4574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53">
                <a:tc>
                  <a:txBody>
                    <a:bodyPr/>
                    <a:lstStyle/>
                    <a:p>
                      <a:r>
                        <a:rPr lang="en-US" sz="1800" u="none" dirty="0"/>
                        <a:t>         -</a:t>
                      </a:r>
                      <a:r>
                        <a:rPr lang="en-US" sz="1800" u="sng" dirty="0"/>
                        <a:t>   </a:t>
                      </a:r>
                      <a:r>
                        <a:rPr kumimoji="0" lang="en-US" sz="1800" u="sng" kern="120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BA94</a:t>
                      </a:r>
                    </a:p>
                  </a:txBody>
                  <a:tcPr marT="45746" marB="4574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05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800" u="none" kern="120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 </a:t>
                      </a:r>
                      <a:r>
                        <a:rPr kumimoji="0" lang="en-US" sz="1800" u="sng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</a:t>
                      </a:r>
                      <a:r>
                        <a:rPr kumimoji="0" lang="en-US" sz="1800" u="sng" kern="120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17DB</a:t>
                      </a:r>
                    </a:p>
                  </a:txBody>
                  <a:tcPr marT="45746" marB="4574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495" name="TextBox 4"/>
          <p:cNvSpPr txBox="1">
            <a:spLocks noChangeArrowheads="1"/>
          </p:cNvSpPr>
          <p:nvPr/>
        </p:nvSpPr>
        <p:spPr bwMode="auto">
          <a:xfrm>
            <a:off x="1143000" y="5713239"/>
            <a:ext cx="3429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dirty="0"/>
              <a:t>Hexadecimal Subtraction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MSB and LSB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In computing, the most significant bit (MSB) is the bit position in a binary number having the greatest value. The MSB is sometimes referred to as the left-most bit.</a:t>
            </a:r>
          </a:p>
          <a:p>
            <a:pPr algn="just"/>
            <a:r>
              <a:rPr lang="en-US" dirty="0"/>
              <a:t>In computing, the least significant bit (LSB) is the bit position in a binary integer giving the units value, that is, determining whether the number is even or odd. The LSB is sometimes referred to as the right-most 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2CC1B-CD49-4A19-ADF7-0FF15023F91E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923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Unsigned Integers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/>
          </a:p>
          <a:p>
            <a:pPr algn="just"/>
            <a:r>
              <a:rPr lang="en-US" dirty="0"/>
              <a:t>An unsigned integer is an integer that represents a magnitude, so it is never negative.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Unsigned integers are appropriate for representing quantities that can never be negative.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2CC1B-CD49-4A19-ADF7-0FF15023F91E}" type="slidenum">
              <a:rPr lang="en-US" smtClean="0"/>
              <a:pPr>
                <a:defRPr/>
              </a:pPr>
              <a:t>15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37706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Signed Integers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endParaRPr lang="en-US" sz="2000" dirty="0"/>
          </a:p>
          <a:p>
            <a:pPr algn="just"/>
            <a:r>
              <a:rPr lang="en-US" sz="2000" dirty="0"/>
              <a:t>A signed integer can be positive or negative.</a:t>
            </a:r>
          </a:p>
          <a:p>
            <a:pPr algn="just"/>
            <a:r>
              <a:rPr lang="en-US" sz="2000" dirty="0"/>
              <a:t>The most significant bit (MSB) is reserved for the sign:</a:t>
            </a:r>
          </a:p>
          <a:p>
            <a:pPr lvl="2" algn="just"/>
            <a:r>
              <a:rPr lang="en-US" sz="2000" dirty="0">
                <a:solidFill>
                  <a:schemeClr val="bg2">
                    <a:lumMod val="50000"/>
                  </a:schemeClr>
                </a:solidFill>
                <a:cs typeface="Arial" pitchFamily="34" charset="0"/>
              </a:rPr>
              <a:t>1</a:t>
            </a:r>
            <a:r>
              <a:rPr lang="en-US" sz="2000" dirty="0"/>
              <a:t> means negative and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cs typeface="Arial" pitchFamily="34" charset="0"/>
              </a:rPr>
              <a:t>0</a:t>
            </a:r>
            <a:r>
              <a:rPr lang="en-US" sz="2000" dirty="0"/>
              <a:t> means positive.</a:t>
            </a:r>
          </a:p>
          <a:p>
            <a:pPr marL="914400" lvl="2" indent="0" algn="just">
              <a:buNone/>
            </a:pPr>
            <a:endParaRPr lang="en-US" sz="2000" dirty="0"/>
          </a:p>
          <a:p>
            <a:pPr algn="just"/>
            <a:r>
              <a:rPr lang="en-US" sz="2000" dirty="0"/>
              <a:t>Example:</a:t>
            </a:r>
          </a:p>
          <a:p>
            <a:pPr marL="457200" lvl="1" indent="0" algn="just">
              <a:buNone/>
            </a:pPr>
            <a:r>
              <a:rPr lang="en-US" dirty="0"/>
              <a:t>	</a:t>
            </a:r>
            <a:r>
              <a:rPr lang="en-US" dirty="0">
                <a:cs typeface="Arial" pitchFamily="34" charset="0"/>
              </a:rPr>
              <a:t>00001010</a:t>
            </a:r>
            <a:r>
              <a:rPr lang="en-US" dirty="0"/>
              <a:t> = decimal </a:t>
            </a:r>
            <a:r>
              <a:rPr lang="en-US" dirty="0">
                <a:cs typeface="Arial" pitchFamily="34" charset="0"/>
              </a:rPr>
              <a:t>1</a:t>
            </a:r>
            <a:r>
              <a:rPr lang="en-US" dirty="0"/>
              <a:t>0 </a:t>
            </a:r>
          </a:p>
          <a:p>
            <a:pPr marL="457200" lvl="1" indent="0" algn="just">
              <a:buNone/>
            </a:pPr>
            <a:r>
              <a:rPr lang="en-US" dirty="0"/>
              <a:t>	</a:t>
            </a:r>
            <a:r>
              <a:rPr lang="en-US" dirty="0">
                <a:cs typeface="Arial" pitchFamily="34" charset="0"/>
              </a:rPr>
              <a:t>10001010</a:t>
            </a:r>
            <a:r>
              <a:rPr lang="en-US" dirty="0"/>
              <a:t> = decimal -</a:t>
            </a:r>
            <a:r>
              <a:rPr lang="en-US" dirty="0">
                <a:cs typeface="Arial" pitchFamily="34" charset="0"/>
              </a:rPr>
              <a:t>1</a:t>
            </a:r>
            <a:r>
              <a:rPr lang="en-US" dirty="0"/>
              <a:t>0</a:t>
            </a:r>
          </a:p>
          <a:p>
            <a:pPr marL="0" indent="0" algn="just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2CC1B-CD49-4A19-ADF7-0FF15023F91E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274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One’s Complement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one’s complement of an integer is obtained by complementing each bit, that is, replace each </a:t>
            </a:r>
            <a:r>
              <a:rPr lang="en-US" dirty="0">
                <a:cs typeface="Arial" pitchFamily="34" charset="0"/>
              </a:rPr>
              <a:t>0</a:t>
            </a:r>
            <a:r>
              <a:rPr lang="en-US" dirty="0"/>
              <a:t> by a </a:t>
            </a:r>
            <a:r>
              <a:rPr lang="en-US" dirty="0">
                <a:cs typeface="Arial" pitchFamily="34" charset="0"/>
              </a:rPr>
              <a:t>1 </a:t>
            </a:r>
            <a:r>
              <a:rPr lang="en-US" dirty="0"/>
              <a:t>and each </a:t>
            </a:r>
            <a:r>
              <a:rPr lang="en-US" dirty="0">
                <a:cs typeface="Arial" pitchFamily="34" charset="0"/>
              </a:rPr>
              <a:t>1</a:t>
            </a:r>
            <a:r>
              <a:rPr lang="en-US" dirty="0"/>
              <a:t> by a </a:t>
            </a:r>
            <a:r>
              <a:rPr lang="en-US" dirty="0">
                <a:cs typeface="Arial" pitchFamily="34" charset="0"/>
              </a:rPr>
              <a:t>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2CC1B-CD49-4A19-ADF7-0FF15023F91E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401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2’s Complement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/>
              <a:t>Negative integers are stored in computer using 2’s complement.</a:t>
            </a:r>
          </a:p>
          <a:p>
            <a:pPr algn="just"/>
            <a:r>
              <a:rPr lang="en-US" sz="2000" dirty="0"/>
              <a:t>To get a two’s complement by first finding the one’s complement, and then by adding </a:t>
            </a:r>
            <a:r>
              <a:rPr lang="en-US" sz="2000" dirty="0">
                <a:cs typeface="Arial" pitchFamily="34" charset="0"/>
              </a:rPr>
              <a:t>1</a:t>
            </a:r>
            <a:r>
              <a:rPr lang="en-US" sz="2000" dirty="0"/>
              <a:t> to it.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Example</a:t>
            </a:r>
          </a:p>
          <a:p>
            <a:pPr marL="457200" lvl="1" indent="0" algn="just">
              <a:buNone/>
            </a:pPr>
            <a:r>
              <a:rPr lang="en-US" dirty="0"/>
              <a:t>	</a:t>
            </a:r>
            <a:r>
              <a:rPr lang="en-US" dirty="0">
                <a:cs typeface="Arial" pitchFamily="34" charset="0"/>
              </a:rPr>
              <a:t>11110011</a:t>
            </a:r>
            <a:r>
              <a:rPr lang="en-US" dirty="0"/>
              <a:t>     (one's complement of </a:t>
            </a:r>
            <a:r>
              <a:rPr lang="en-US" dirty="0">
                <a:cs typeface="Arial" pitchFamily="34" charset="0"/>
              </a:rPr>
              <a:t>1</a:t>
            </a:r>
            <a:r>
              <a:rPr lang="en-US" dirty="0"/>
              <a:t>2)     </a:t>
            </a:r>
          </a:p>
          <a:p>
            <a:pPr marL="457200" lvl="1" indent="0" algn="just">
              <a:buNone/>
            </a:pPr>
            <a:r>
              <a:rPr lang="en-US" dirty="0"/>
              <a:t>   + 			</a:t>
            </a:r>
            <a:r>
              <a:rPr lang="en-US" dirty="0">
                <a:cs typeface="Arial" pitchFamily="34" charset="0"/>
              </a:rPr>
              <a:t>1</a:t>
            </a:r>
            <a:r>
              <a:rPr lang="en-US" dirty="0"/>
              <a:t>   (decimal </a:t>
            </a:r>
            <a:r>
              <a:rPr lang="en-US" dirty="0">
                <a:cs typeface="Arial" pitchFamily="34" charset="0"/>
              </a:rPr>
              <a:t>1</a:t>
            </a:r>
            <a:r>
              <a:rPr lang="en-US" dirty="0"/>
              <a:t>)     </a:t>
            </a:r>
          </a:p>
          <a:p>
            <a:pPr marL="457200" lvl="1" indent="0" algn="just">
              <a:buNone/>
            </a:pPr>
            <a:r>
              <a:rPr lang="en-US" dirty="0"/>
              <a:t>      </a:t>
            </a:r>
            <a:r>
              <a:rPr lang="en-US" dirty="0">
                <a:cs typeface="Arial" pitchFamily="34" charset="0"/>
              </a:rPr>
              <a:t>11110100</a:t>
            </a:r>
            <a:r>
              <a:rPr lang="en-US" dirty="0"/>
              <a:t>    (two's complement of </a:t>
            </a:r>
            <a:r>
              <a:rPr lang="en-US" dirty="0">
                <a:cs typeface="Arial" pitchFamily="34" charset="0"/>
              </a:rPr>
              <a:t>1</a:t>
            </a:r>
            <a:r>
              <a:rPr lang="en-US" dirty="0"/>
              <a:t>2)</a:t>
            </a:r>
          </a:p>
          <a:p>
            <a:pPr marL="0" indent="0" algn="just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2CC1B-CD49-4A19-ADF7-0FF15023F91E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1905000" y="5334000"/>
            <a:ext cx="137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905000" y="5791200"/>
            <a:ext cx="137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076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Subtract as 2’s Complement Addition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514600"/>
            <a:ext cx="7772400" cy="3566160"/>
          </a:xfrm>
        </p:spPr>
        <p:txBody>
          <a:bodyPr>
            <a:normAutofit/>
          </a:bodyPr>
          <a:lstStyle/>
          <a:p>
            <a:r>
              <a:rPr lang="en-US" sz="2000" dirty="0"/>
              <a:t>Find the difference of </a:t>
            </a:r>
            <a:r>
              <a:rPr lang="en-US" sz="2000" dirty="0">
                <a:cs typeface="Arial" pitchFamily="34" charset="0"/>
              </a:rPr>
              <a:t>1</a:t>
            </a:r>
            <a:r>
              <a:rPr lang="en-US" sz="2000" dirty="0"/>
              <a:t>2 – 5 using complementation and addition.</a:t>
            </a:r>
          </a:p>
          <a:p>
            <a:r>
              <a:rPr lang="en-US" sz="2000" dirty="0">
                <a:cs typeface="Arial" pitchFamily="34" charset="0"/>
              </a:rPr>
              <a:t>00000101 (decimal 5)</a:t>
            </a:r>
          </a:p>
          <a:p>
            <a:r>
              <a:rPr lang="en-US" sz="2000" dirty="0">
                <a:cs typeface="Arial" pitchFamily="34" charset="0"/>
              </a:rPr>
              <a:t>11111011   (2’s Complement of 5)</a:t>
            </a:r>
          </a:p>
          <a:p>
            <a:endParaRPr lang="en-US" sz="2000" dirty="0"/>
          </a:p>
          <a:p>
            <a:pPr marL="457200" lvl="1" indent="0">
              <a:buNone/>
            </a:pPr>
            <a:r>
              <a:rPr lang="en-US" dirty="0">
                <a:cs typeface="Arial" pitchFamily="34" charset="0"/>
              </a:rPr>
              <a:t>    00001100   </a:t>
            </a:r>
            <a:r>
              <a:rPr lang="en-US" dirty="0"/>
              <a:t>(decimal </a:t>
            </a:r>
            <a:r>
              <a:rPr lang="en-US" dirty="0">
                <a:cs typeface="Arial" pitchFamily="34" charset="0"/>
              </a:rPr>
              <a:t>1</a:t>
            </a:r>
            <a:r>
              <a:rPr lang="en-US" dirty="0"/>
              <a:t>2)</a:t>
            </a:r>
          </a:p>
          <a:p>
            <a:pPr marL="457200" lvl="1" indent="0">
              <a:buNone/>
            </a:pPr>
            <a:r>
              <a:rPr lang="en-US" dirty="0"/>
              <a:t>+  </a:t>
            </a:r>
            <a:r>
              <a:rPr lang="en-US" dirty="0">
                <a:cs typeface="Arial" pitchFamily="34" charset="0"/>
              </a:rPr>
              <a:t>11111011    </a:t>
            </a:r>
            <a:r>
              <a:rPr lang="en-US" dirty="0"/>
              <a:t>(decimal -5)</a:t>
            </a:r>
          </a:p>
          <a:p>
            <a:pPr marL="457200" lvl="1" indent="0">
              <a:buNone/>
            </a:pPr>
            <a:r>
              <a:rPr lang="en-US" dirty="0">
                <a:cs typeface="Arial" pitchFamily="34" charset="0"/>
              </a:rPr>
              <a:t>    00000111    </a:t>
            </a:r>
            <a:r>
              <a:rPr lang="en-US" dirty="0"/>
              <a:t>(decimal 7)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2CC1B-CD49-4A19-ADF7-0FF15023F91E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1704392" y="5562600"/>
            <a:ext cx="137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600200" y="5150809"/>
            <a:ext cx="137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52400" y="5181600"/>
            <a:ext cx="1676400" cy="533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 Carry </a:t>
            </a:r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>
          <a:xfrm>
            <a:off x="914400" y="5334000"/>
            <a:ext cx="6858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2931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Find the difference of </a:t>
            </a:r>
            <a:r>
              <a:rPr lang="en-US" dirty="0">
                <a:cs typeface="Arial" pitchFamily="34" charset="0"/>
              </a:rPr>
              <a:t>5ABCh</a:t>
            </a:r>
            <a:r>
              <a:rPr lang="en-US" dirty="0"/>
              <a:t> – 2</a:t>
            </a:r>
            <a:r>
              <a:rPr lang="en-US" dirty="0">
                <a:cs typeface="Arial" pitchFamily="34" charset="0"/>
              </a:rPr>
              <a:t>1</a:t>
            </a:r>
            <a:r>
              <a:rPr lang="en-US" dirty="0"/>
              <a:t>FCh using complementation and addition.</a:t>
            </a:r>
          </a:p>
          <a:p>
            <a:r>
              <a:rPr lang="en-US" dirty="0">
                <a:cs typeface="Arial" pitchFamily="34" charset="0"/>
              </a:rPr>
              <a:t>5ABCh = 0101 1010 1011 1100</a:t>
            </a:r>
          </a:p>
          <a:p>
            <a:r>
              <a:rPr lang="en-US" dirty="0">
                <a:cs typeface="Arial" pitchFamily="34" charset="0"/>
              </a:rPr>
              <a:t> 21FCh = 0010 0001 1111 1100</a:t>
            </a:r>
          </a:p>
          <a:p>
            <a:r>
              <a:rPr lang="en-US" dirty="0">
                <a:cs typeface="Arial" pitchFamily="34" charset="0"/>
              </a:rPr>
              <a:t>1101 1110 0000 0100  (2’s Complement of 21FCh)</a:t>
            </a:r>
          </a:p>
          <a:p>
            <a:pPr marL="0" indent="0">
              <a:buNone/>
            </a:pPr>
            <a:r>
              <a:rPr lang="en-US" dirty="0">
                <a:cs typeface="Arial" pitchFamily="34" charset="0"/>
              </a:rPr>
              <a:t>      </a:t>
            </a:r>
          </a:p>
          <a:p>
            <a:pPr marL="0" indent="0">
              <a:buNone/>
            </a:pPr>
            <a:r>
              <a:rPr lang="en-US" dirty="0">
                <a:cs typeface="Arial" pitchFamily="34" charset="0"/>
              </a:rPr>
              <a:t>       0101 1010 1011 1100 (Binary 5ABCh)</a:t>
            </a:r>
          </a:p>
          <a:p>
            <a:pPr marL="0" indent="0">
              <a:buNone/>
            </a:pPr>
            <a:r>
              <a:rPr lang="en-US" dirty="0">
                <a:cs typeface="Arial" pitchFamily="34" charset="0"/>
              </a:rPr>
              <a:t>    + 1101 1110 0000 0100  (1’s Complement of 21FCh)</a:t>
            </a:r>
          </a:p>
          <a:p>
            <a:pPr marL="0" indent="0">
              <a:buNone/>
            </a:pPr>
            <a:r>
              <a:rPr lang="en-US" dirty="0">
                <a:cs typeface="Arial" pitchFamily="34" charset="0"/>
              </a:rPr>
              <a:t>    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cs typeface="Arial" pitchFamily="34" charset="0"/>
              </a:rPr>
              <a:t>1</a:t>
            </a:r>
            <a:r>
              <a:rPr lang="en-US" dirty="0">
                <a:cs typeface="Arial" pitchFamily="34" charset="0"/>
              </a:rPr>
              <a:t>0011 1000 1100 0000</a:t>
            </a:r>
          </a:p>
          <a:p>
            <a:pPr marL="0" indent="0">
              <a:buNone/>
            </a:pPr>
            <a:endParaRPr lang="en-US" dirty="0"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2CC1B-CD49-4A19-ADF7-0FF15023F91E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1322696" y="5321559"/>
            <a:ext cx="3274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322696" y="5819192"/>
            <a:ext cx="32493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-48904" y="5791200"/>
            <a:ext cx="1676400" cy="533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Discard  Carry </a:t>
            </a:r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>
          <a:xfrm flipV="1">
            <a:off x="713096" y="5562600"/>
            <a:ext cx="6096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1487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88" name="Object 0"/>
          <p:cNvGraphicFramePr>
            <a:graphicFrameLocks noChangeAspect="1"/>
          </p:cNvGraphicFramePr>
          <p:nvPr/>
        </p:nvGraphicFramePr>
        <p:xfrm>
          <a:off x="685800" y="1981200"/>
          <a:ext cx="7848600" cy="391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dobe® Table" r:id="rId2" imgW="4817880" imgH="2405880" progId="">
                  <p:embed/>
                </p:oleObj>
              </mc:Choice>
              <mc:Fallback>
                <p:oleObj name="Adobe® Table" r:id="rId2" imgW="4817880" imgH="24058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981200"/>
                        <a:ext cx="7848600" cy="3917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228600" y="762000"/>
            <a:ext cx="75148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>
              <a:spcBef>
                <a:spcPts val="713"/>
              </a:spcBef>
              <a:spcAft>
                <a:spcPts val="713"/>
              </a:spcAft>
            </a:pPr>
            <a:r>
              <a:rPr lang="en-US" sz="2400" b="1" dirty="0"/>
              <a:t>Binary, Decimal, and Hexadecimal Equivalents.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1223</TotalTime>
  <Words>765</Words>
  <Application>Microsoft Office PowerPoint</Application>
  <PresentationFormat>On-screen Show (4:3)</PresentationFormat>
  <Paragraphs>133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Courier New</vt:lpstr>
      <vt:lpstr>Garamond</vt:lpstr>
      <vt:lpstr>Times New Roman</vt:lpstr>
      <vt:lpstr>Wingdings 3</vt:lpstr>
      <vt:lpstr>Organic</vt:lpstr>
      <vt:lpstr>Adobe® Table</vt:lpstr>
      <vt:lpstr>Computer Organization &amp; Assembly Language</vt:lpstr>
      <vt:lpstr>Number System</vt:lpstr>
      <vt:lpstr>Decimal Number System</vt:lpstr>
      <vt:lpstr>Binary Number System</vt:lpstr>
      <vt:lpstr>Hexadecimal Number System</vt:lpstr>
      <vt:lpstr>Conversion Between Number Systems</vt:lpstr>
      <vt:lpstr>Conversion Between Number Systems</vt:lpstr>
      <vt:lpstr>Conversion Between Number Systems</vt:lpstr>
      <vt:lpstr>Conversion Between Number Systems</vt:lpstr>
      <vt:lpstr>Binary Arithmetic Operations </vt:lpstr>
      <vt:lpstr>Binary Arithmetic Operations </vt:lpstr>
      <vt:lpstr>Hexadecimal Arithmetic Operations </vt:lpstr>
      <vt:lpstr>HexaDecimal Arithmetic Operations </vt:lpstr>
      <vt:lpstr> MSB and LSB</vt:lpstr>
      <vt:lpstr>Unsigned Integers</vt:lpstr>
      <vt:lpstr>Signed Integers</vt:lpstr>
      <vt:lpstr>One’s Complement</vt:lpstr>
      <vt:lpstr>2’s Complement</vt:lpstr>
      <vt:lpstr>Subtract as 2’s Complement Addition</vt:lpstr>
      <vt:lpstr>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Nausheen</dc:creator>
  <cp:lastModifiedBy>Sehar Ali</cp:lastModifiedBy>
  <cp:revision>209</cp:revision>
  <dcterms:created xsi:type="dcterms:W3CDTF">2012-09-02T17:49:14Z</dcterms:created>
  <dcterms:modified xsi:type="dcterms:W3CDTF">2025-09-28T10:02:08Z</dcterms:modified>
</cp:coreProperties>
</file>