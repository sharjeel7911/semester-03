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1"/>
  </p:notesMasterIdLst>
  <p:sldIdLst>
    <p:sldId id="256" r:id="rId2"/>
    <p:sldId id="258" r:id="rId3"/>
    <p:sldId id="259" r:id="rId4"/>
    <p:sldId id="269" r:id="rId5"/>
    <p:sldId id="270" r:id="rId6"/>
    <p:sldId id="257" r:id="rId7"/>
    <p:sldId id="260" r:id="rId8"/>
    <p:sldId id="261" r:id="rId9"/>
    <p:sldId id="262" r:id="rId10"/>
    <p:sldId id="264" r:id="rId11"/>
    <p:sldId id="263" r:id="rId12"/>
    <p:sldId id="265" r:id="rId13"/>
    <p:sldId id="266" r:id="rId14"/>
    <p:sldId id="267" r:id="rId15"/>
    <p:sldId id="268" r:id="rId16"/>
    <p:sldId id="272" r:id="rId17"/>
    <p:sldId id="271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4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59307-FD9A-4506-868F-38EAB1970A9E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DD0BA-05A3-4E41-BF9C-58D71883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89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.model small</a:t>
            </a:r>
          </a:p>
          <a:p>
            <a:r>
              <a:rPr lang="en-US" dirty="0"/>
              <a:t>.data</a:t>
            </a:r>
          </a:p>
          <a:p>
            <a:r>
              <a:rPr lang="en-US" dirty="0"/>
              <a:t>.code</a:t>
            </a:r>
          </a:p>
          <a:p>
            <a:r>
              <a:rPr lang="en-US" dirty="0"/>
              <a:t>mov </a:t>
            </a:r>
            <a:r>
              <a:rPr lang="en-US" dirty="0" err="1"/>
              <a:t>ax,@data</a:t>
            </a:r>
            <a:endParaRPr lang="en-US" dirty="0"/>
          </a:p>
          <a:p>
            <a:r>
              <a:rPr lang="en-US" dirty="0"/>
              <a:t>mov </a:t>
            </a:r>
            <a:r>
              <a:rPr lang="en-US" dirty="0" err="1"/>
              <a:t>ds,ax</a:t>
            </a:r>
            <a:endParaRPr lang="en-US" dirty="0"/>
          </a:p>
          <a:p>
            <a:r>
              <a:rPr lang="en-US" dirty="0"/>
              <a:t>mov ax,0</a:t>
            </a:r>
          </a:p>
          <a:p>
            <a:r>
              <a:rPr lang="en-US" dirty="0"/>
              <a:t>mov </a:t>
            </a:r>
            <a:r>
              <a:rPr lang="en-US" dirty="0" err="1"/>
              <a:t>es,ax</a:t>
            </a:r>
            <a:endParaRPr lang="en-US" dirty="0"/>
          </a:p>
          <a:p>
            <a:r>
              <a:rPr lang="en-US" dirty="0"/>
              <a:t>mov word </a:t>
            </a:r>
            <a:r>
              <a:rPr lang="en-US" dirty="0" err="1"/>
              <a:t>ptr</a:t>
            </a:r>
            <a:r>
              <a:rPr lang="en-US" dirty="0"/>
              <a:t> es:[0 * 4 + 0],isr0 ; offset address of ISR0</a:t>
            </a:r>
          </a:p>
          <a:p>
            <a:r>
              <a:rPr lang="en-US" dirty="0"/>
              <a:t>mov word </a:t>
            </a:r>
            <a:r>
              <a:rPr lang="en-US" dirty="0" err="1"/>
              <a:t>ptr</a:t>
            </a:r>
            <a:r>
              <a:rPr lang="en-US" dirty="0"/>
              <a:t> es:[ 0 * 4 + 2],cs ; Segment address of ISR0</a:t>
            </a:r>
          </a:p>
          <a:p>
            <a:r>
              <a:rPr lang="en-US" dirty="0"/>
              <a:t>mov ax,100</a:t>
            </a:r>
          </a:p>
          <a:p>
            <a:r>
              <a:rPr lang="en-US" dirty="0"/>
              <a:t>mov bl,0</a:t>
            </a:r>
          </a:p>
          <a:p>
            <a:r>
              <a:rPr lang="en-US" dirty="0"/>
              <a:t>div bl ;Dividing a number by zero to check if the hooking</a:t>
            </a:r>
          </a:p>
          <a:p>
            <a:r>
              <a:rPr lang="en-US" dirty="0"/>
              <a:t>.exit</a:t>
            </a:r>
          </a:p>
          <a:p>
            <a:r>
              <a:rPr lang="en-US" dirty="0"/>
              <a:t>ISR0 proc</a:t>
            </a:r>
          </a:p>
          <a:p>
            <a:r>
              <a:rPr lang="en-US" dirty="0" err="1"/>
              <a:t>jmp</a:t>
            </a:r>
            <a:r>
              <a:rPr lang="en-US" dirty="0"/>
              <a:t> l@1</a:t>
            </a:r>
          </a:p>
          <a:p>
            <a:r>
              <a:rPr lang="en-US" dirty="0"/>
              <a:t>msg: </a:t>
            </a:r>
            <a:r>
              <a:rPr lang="en-US" dirty="0" err="1"/>
              <a:t>db</a:t>
            </a:r>
            <a:r>
              <a:rPr lang="en-US" dirty="0"/>
              <a:t> "Divide by Zero Exception!$"</a:t>
            </a:r>
          </a:p>
          <a:p>
            <a:r>
              <a:rPr lang="en-US" dirty="0"/>
              <a:t>l@1:</a:t>
            </a:r>
          </a:p>
          <a:p>
            <a:r>
              <a:rPr lang="en-US" dirty="0"/>
              <a:t>mov </a:t>
            </a:r>
            <a:r>
              <a:rPr lang="en-US" dirty="0" err="1"/>
              <a:t>dx,offset</a:t>
            </a:r>
            <a:r>
              <a:rPr lang="en-US" dirty="0"/>
              <a:t> msg</a:t>
            </a:r>
          </a:p>
          <a:p>
            <a:r>
              <a:rPr lang="en-US" dirty="0"/>
              <a:t>mov ah,9</a:t>
            </a:r>
          </a:p>
          <a:p>
            <a:r>
              <a:rPr lang="en-US" dirty="0"/>
              <a:t>int 0x21 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IRET</a:t>
            </a:r>
          </a:p>
          <a:p>
            <a:r>
              <a:rPr lang="en-US" dirty="0"/>
              <a:t>ISR0 </a:t>
            </a:r>
            <a:r>
              <a:rPr lang="en-US" dirty="0" err="1"/>
              <a:t>endp</a:t>
            </a:r>
            <a:endParaRPr lang="en-US" dirty="0"/>
          </a:p>
          <a:p>
            <a:r>
              <a:rPr lang="en-US" dirty="0"/>
              <a:t> 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11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.model small</a:t>
            </a:r>
          </a:p>
          <a:p>
            <a:r>
              <a:rPr lang="en-US" dirty="0"/>
              <a:t>.data</a:t>
            </a:r>
          </a:p>
          <a:p>
            <a:r>
              <a:rPr lang="en-US" dirty="0"/>
              <a:t>.code</a:t>
            </a:r>
          </a:p>
          <a:p>
            <a:r>
              <a:rPr lang="en-US" dirty="0"/>
              <a:t>mov </a:t>
            </a:r>
            <a:r>
              <a:rPr lang="en-US" dirty="0" err="1"/>
              <a:t>ax,@data</a:t>
            </a:r>
            <a:endParaRPr lang="en-US" dirty="0"/>
          </a:p>
          <a:p>
            <a:r>
              <a:rPr lang="en-US" dirty="0"/>
              <a:t>mov </a:t>
            </a:r>
            <a:r>
              <a:rPr lang="en-US" dirty="0" err="1"/>
              <a:t>ds,ax</a:t>
            </a:r>
            <a:endParaRPr lang="en-US" dirty="0"/>
          </a:p>
          <a:p>
            <a:r>
              <a:rPr lang="en-US" dirty="0"/>
              <a:t>mov ax,0</a:t>
            </a:r>
          </a:p>
          <a:p>
            <a:r>
              <a:rPr lang="en-US" dirty="0"/>
              <a:t>mov </a:t>
            </a:r>
            <a:r>
              <a:rPr lang="en-US" dirty="0" err="1"/>
              <a:t>es,ax</a:t>
            </a:r>
            <a:endParaRPr lang="en-US" dirty="0"/>
          </a:p>
          <a:p>
            <a:r>
              <a:rPr lang="en-US" dirty="0"/>
              <a:t>mov word </a:t>
            </a:r>
            <a:r>
              <a:rPr lang="en-US" dirty="0" err="1"/>
              <a:t>ptr</a:t>
            </a:r>
            <a:r>
              <a:rPr lang="en-US" dirty="0"/>
              <a:t> es:[ 4 * 4 + 0],isr4</a:t>
            </a:r>
          </a:p>
          <a:p>
            <a:r>
              <a:rPr lang="en-US" dirty="0"/>
              <a:t>mov word </a:t>
            </a:r>
            <a:r>
              <a:rPr lang="en-US" dirty="0" err="1"/>
              <a:t>ptr</a:t>
            </a:r>
            <a:r>
              <a:rPr lang="en-US" dirty="0"/>
              <a:t> es:[ 4 * 4 + 2],cs</a:t>
            </a:r>
          </a:p>
          <a:p>
            <a:r>
              <a:rPr lang="en-US" dirty="0"/>
              <a:t>mov al,127</a:t>
            </a:r>
          </a:p>
          <a:p>
            <a:r>
              <a:rPr lang="en-US" dirty="0"/>
              <a:t>mov bl,1</a:t>
            </a:r>
          </a:p>
          <a:p>
            <a:r>
              <a:rPr lang="en-US" dirty="0"/>
              <a:t>add </a:t>
            </a:r>
            <a:r>
              <a:rPr lang="en-US" dirty="0" err="1"/>
              <a:t>al,bl</a:t>
            </a:r>
            <a:r>
              <a:rPr lang="en-US" dirty="0"/>
              <a:t> </a:t>
            </a:r>
          </a:p>
          <a:p>
            <a:r>
              <a:rPr lang="en-US" dirty="0"/>
              <a:t>into ;if OF is set, generate int#4</a:t>
            </a:r>
          </a:p>
          <a:p>
            <a:r>
              <a:rPr lang="en-US" dirty="0"/>
              <a:t>.exit</a:t>
            </a:r>
          </a:p>
          <a:p>
            <a:r>
              <a:rPr lang="en-US" dirty="0"/>
              <a:t>isr4 proc</a:t>
            </a:r>
          </a:p>
          <a:p>
            <a:r>
              <a:rPr lang="en-US" dirty="0" err="1"/>
              <a:t>jmp</a:t>
            </a:r>
            <a:r>
              <a:rPr lang="en-US" dirty="0"/>
              <a:t> l@1</a:t>
            </a:r>
          </a:p>
          <a:p>
            <a:r>
              <a:rPr lang="en-US" dirty="0"/>
              <a:t>msg: </a:t>
            </a:r>
            <a:r>
              <a:rPr lang="en-US" dirty="0" err="1"/>
              <a:t>db</a:t>
            </a:r>
            <a:r>
              <a:rPr lang="en-US" dirty="0"/>
              <a:t> "Overflow flag is set$"</a:t>
            </a:r>
          </a:p>
          <a:p>
            <a:r>
              <a:rPr lang="en-US" dirty="0"/>
              <a:t>l@1:</a:t>
            </a:r>
          </a:p>
          <a:p>
            <a:r>
              <a:rPr lang="en-US" dirty="0"/>
              <a:t>mov </a:t>
            </a:r>
            <a:r>
              <a:rPr lang="en-US" dirty="0" err="1"/>
              <a:t>dx,offset</a:t>
            </a:r>
            <a:r>
              <a:rPr lang="en-US" dirty="0"/>
              <a:t> msg</a:t>
            </a:r>
          </a:p>
          <a:p>
            <a:r>
              <a:rPr lang="en-US" dirty="0"/>
              <a:t>mov ah,9</a:t>
            </a:r>
          </a:p>
          <a:p>
            <a:r>
              <a:rPr lang="en-US" dirty="0"/>
              <a:t>int 0x21 </a:t>
            </a:r>
          </a:p>
          <a:p>
            <a:r>
              <a:rPr lang="en-US" dirty="0"/>
              <a:t> </a:t>
            </a:r>
          </a:p>
          <a:p>
            <a:r>
              <a:rPr lang="en-US" dirty="0" err="1"/>
              <a:t>iret</a:t>
            </a:r>
            <a:endParaRPr lang="en-US" dirty="0"/>
          </a:p>
          <a:p>
            <a:r>
              <a:rPr lang="en-US" dirty="0"/>
              <a:t>isr4 </a:t>
            </a:r>
            <a:r>
              <a:rPr lang="en-US" dirty="0" err="1"/>
              <a:t>endp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921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.model small</a:t>
            </a:r>
          </a:p>
          <a:p>
            <a:r>
              <a:rPr lang="en-US" dirty="0"/>
              <a:t>.data</a:t>
            </a:r>
          </a:p>
          <a:p>
            <a:r>
              <a:rPr lang="en-US" dirty="0"/>
              <a:t>.code</a:t>
            </a:r>
          </a:p>
          <a:p>
            <a:r>
              <a:rPr lang="en-US" dirty="0"/>
              <a:t>mov </a:t>
            </a:r>
            <a:r>
              <a:rPr lang="en-US" dirty="0" err="1"/>
              <a:t>ax,@data</a:t>
            </a:r>
            <a:endParaRPr lang="en-US" dirty="0"/>
          </a:p>
          <a:p>
            <a:r>
              <a:rPr lang="en-US" dirty="0"/>
              <a:t>mov </a:t>
            </a:r>
            <a:r>
              <a:rPr lang="en-US" dirty="0" err="1"/>
              <a:t>ds,ax</a:t>
            </a:r>
            <a:r>
              <a:rPr lang="en-US" dirty="0"/>
              <a:t>  </a:t>
            </a:r>
          </a:p>
          <a:p>
            <a:endParaRPr lang="en-US" dirty="0"/>
          </a:p>
          <a:p>
            <a:r>
              <a:rPr lang="en-US" dirty="0"/>
              <a:t>mov ax,0</a:t>
            </a:r>
          </a:p>
          <a:p>
            <a:r>
              <a:rPr lang="en-US" dirty="0"/>
              <a:t>mov </a:t>
            </a:r>
            <a:r>
              <a:rPr lang="en-US" dirty="0" err="1"/>
              <a:t>es,ax</a:t>
            </a:r>
            <a:endParaRPr lang="en-US" dirty="0"/>
          </a:p>
          <a:p>
            <a:endParaRPr lang="en-US" dirty="0"/>
          </a:p>
          <a:p>
            <a:r>
              <a:rPr lang="en-US" dirty="0"/>
              <a:t>    ; Hook INT 0x10 to custom ISR</a:t>
            </a:r>
          </a:p>
          <a:p>
            <a:r>
              <a:rPr lang="en-US" dirty="0"/>
              <a:t>    mov word </a:t>
            </a:r>
            <a:r>
              <a:rPr lang="en-US" dirty="0" err="1"/>
              <a:t>ptr</a:t>
            </a:r>
            <a:r>
              <a:rPr lang="en-US" dirty="0"/>
              <a:t> es:[0x10 * 4 + 0], isr10    ; Offset of ISR</a:t>
            </a:r>
          </a:p>
          <a:p>
            <a:r>
              <a:rPr lang="en-US" dirty="0"/>
              <a:t>    mov word </a:t>
            </a:r>
            <a:r>
              <a:rPr lang="en-US" dirty="0" err="1"/>
              <a:t>ptr</a:t>
            </a:r>
            <a:r>
              <a:rPr lang="en-US" dirty="0"/>
              <a:t> es:[0x10 * 4 + 2], cs       ; Code segment of ISR</a:t>
            </a:r>
          </a:p>
          <a:p>
            <a:endParaRPr lang="en-US" dirty="0"/>
          </a:p>
          <a:p>
            <a:r>
              <a:rPr lang="en-US" dirty="0"/>
              <a:t>    ; Trigger INT 0x10 (BIOS for video mode setting)</a:t>
            </a:r>
          </a:p>
          <a:p>
            <a:r>
              <a:rPr lang="en-US" dirty="0"/>
              <a:t>    int 0x10</a:t>
            </a:r>
          </a:p>
          <a:p>
            <a:endParaRPr lang="en-US" dirty="0"/>
          </a:p>
          <a:p>
            <a:r>
              <a:rPr lang="en-US" dirty="0"/>
              <a:t>    ; End program</a:t>
            </a:r>
          </a:p>
          <a:p>
            <a:r>
              <a:rPr lang="en-US" dirty="0"/>
              <a:t>   .exit</a:t>
            </a:r>
          </a:p>
          <a:p>
            <a:endParaRPr lang="en-US" dirty="0"/>
          </a:p>
          <a:p>
            <a:r>
              <a:rPr lang="en-US" dirty="0"/>
              <a:t>isr10 proc  </a:t>
            </a:r>
          </a:p>
          <a:p>
            <a:r>
              <a:rPr lang="en-US" dirty="0"/>
              <a:t>    </a:t>
            </a:r>
            <a:r>
              <a:rPr lang="en-US" dirty="0" err="1"/>
              <a:t>jmp</a:t>
            </a:r>
            <a:r>
              <a:rPr lang="en-US" dirty="0"/>
              <a:t> l@1</a:t>
            </a:r>
          </a:p>
          <a:p>
            <a:r>
              <a:rPr lang="en-US" dirty="0"/>
              <a:t>    msg: </a:t>
            </a:r>
            <a:r>
              <a:rPr lang="en-US" dirty="0" err="1"/>
              <a:t>db</a:t>
            </a:r>
            <a:r>
              <a:rPr lang="en-US" dirty="0"/>
              <a:t> "Custom int 0x10 is invoked!$" </a:t>
            </a:r>
          </a:p>
          <a:p>
            <a:r>
              <a:rPr lang="en-US" dirty="0"/>
              <a:t>    l@1:</a:t>
            </a:r>
          </a:p>
          <a:p>
            <a:r>
              <a:rPr lang="en-US" dirty="0"/>
              <a:t>    mov dx, offset msg</a:t>
            </a:r>
          </a:p>
          <a:p>
            <a:r>
              <a:rPr lang="en-US" dirty="0"/>
              <a:t>    mov ah, 9    ; BIOS interrupt 0x09 for output</a:t>
            </a:r>
          </a:p>
          <a:p>
            <a:r>
              <a:rPr lang="en-US" dirty="0"/>
              <a:t>    int 0x21     ; Print custom message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iret</a:t>
            </a:r>
            <a:r>
              <a:rPr lang="en-US" dirty="0"/>
              <a:t>         ; Return from interrupt</a:t>
            </a:r>
          </a:p>
          <a:p>
            <a:r>
              <a:rPr lang="en-US" dirty="0"/>
              <a:t>isr10 </a:t>
            </a:r>
            <a:r>
              <a:rPr lang="en-US" dirty="0" err="1"/>
              <a:t>endp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671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.model small</a:t>
            </a:r>
          </a:p>
          <a:p>
            <a:r>
              <a:rPr lang="en-US" dirty="0"/>
              <a:t>.data</a:t>
            </a:r>
          </a:p>
          <a:p>
            <a:r>
              <a:rPr lang="en-US" dirty="0"/>
              <a:t>.code</a:t>
            </a:r>
          </a:p>
          <a:p>
            <a:r>
              <a:rPr lang="en-US" dirty="0"/>
              <a:t>mov </a:t>
            </a:r>
            <a:r>
              <a:rPr lang="en-US" dirty="0" err="1"/>
              <a:t>ax,@data</a:t>
            </a:r>
            <a:endParaRPr lang="en-US" dirty="0"/>
          </a:p>
          <a:p>
            <a:r>
              <a:rPr lang="en-US" dirty="0"/>
              <a:t>mov </a:t>
            </a:r>
            <a:r>
              <a:rPr lang="en-US" dirty="0" err="1"/>
              <a:t>ds,ax</a:t>
            </a:r>
            <a:r>
              <a:rPr lang="en-US" dirty="0"/>
              <a:t>  </a:t>
            </a:r>
          </a:p>
          <a:p>
            <a:endParaRPr lang="en-US" dirty="0"/>
          </a:p>
          <a:p>
            <a:r>
              <a:rPr lang="en-US" dirty="0"/>
              <a:t>mov ax,0</a:t>
            </a:r>
          </a:p>
          <a:p>
            <a:r>
              <a:rPr lang="en-US" dirty="0"/>
              <a:t>mov </a:t>
            </a:r>
            <a:r>
              <a:rPr lang="en-US" dirty="0" err="1"/>
              <a:t>es,ax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    ; Hook INT 0x21 to custom ISR</a:t>
            </a:r>
          </a:p>
          <a:p>
            <a:r>
              <a:rPr lang="en-US" dirty="0"/>
              <a:t>    mov word </a:t>
            </a:r>
            <a:r>
              <a:rPr lang="en-US" dirty="0" err="1"/>
              <a:t>ptr</a:t>
            </a:r>
            <a:r>
              <a:rPr lang="en-US" dirty="0"/>
              <a:t> es:[0x21*4+0], isr21    ; Offset of ISR</a:t>
            </a:r>
          </a:p>
          <a:p>
            <a:r>
              <a:rPr lang="en-US" dirty="0"/>
              <a:t>    mov word </a:t>
            </a:r>
            <a:r>
              <a:rPr lang="en-US" dirty="0" err="1"/>
              <a:t>ptr</a:t>
            </a:r>
            <a:r>
              <a:rPr lang="en-US" dirty="0"/>
              <a:t> es:[0x21*4+2], cs       ; Code segment of ISR</a:t>
            </a:r>
          </a:p>
          <a:p>
            <a:endParaRPr lang="en-US" dirty="0"/>
          </a:p>
          <a:p>
            <a:r>
              <a:rPr lang="en-US" dirty="0"/>
              <a:t>    ; Trigger INT 0x21 (normally handled by BIOS)</a:t>
            </a:r>
          </a:p>
          <a:p>
            <a:r>
              <a:rPr lang="en-US" dirty="0"/>
              <a:t>    int 0x21</a:t>
            </a:r>
          </a:p>
          <a:p>
            <a:endParaRPr lang="en-US" dirty="0"/>
          </a:p>
          <a:p>
            <a:r>
              <a:rPr lang="en-US" dirty="0"/>
              <a:t>    ; End program</a:t>
            </a:r>
          </a:p>
          <a:p>
            <a:r>
              <a:rPr lang="en-US" dirty="0"/>
              <a:t>   .exit</a:t>
            </a:r>
          </a:p>
          <a:p>
            <a:endParaRPr lang="en-US" dirty="0"/>
          </a:p>
          <a:p>
            <a:r>
              <a:rPr lang="en-US" dirty="0"/>
              <a:t>isr21 proc       </a:t>
            </a:r>
          </a:p>
          <a:p>
            <a:r>
              <a:rPr lang="en-US" dirty="0"/>
              <a:t>    </a:t>
            </a:r>
            <a:r>
              <a:rPr lang="en-US" dirty="0" err="1"/>
              <a:t>jmp</a:t>
            </a:r>
            <a:r>
              <a:rPr lang="en-US" dirty="0"/>
              <a:t> l@1</a:t>
            </a:r>
          </a:p>
          <a:p>
            <a:r>
              <a:rPr lang="en-US" dirty="0"/>
              <a:t>    </a:t>
            </a:r>
            <a:r>
              <a:rPr lang="en-US" dirty="0" err="1"/>
              <a:t>print_msg</a:t>
            </a:r>
            <a:r>
              <a:rPr lang="en-US" dirty="0"/>
              <a:t>: </a:t>
            </a:r>
            <a:r>
              <a:rPr lang="en-US" dirty="0" err="1"/>
              <a:t>db</a:t>
            </a:r>
            <a:r>
              <a:rPr lang="en-US" dirty="0"/>
              <a:t> "Hello, Custom INT 0x21!$" </a:t>
            </a:r>
          </a:p>
          <a:p>
            <a:r>
              <a:rPr lang="en-US" dirty="0"/>
              <a:t>    l@1:                                     </a:t>
            </a:r>
          </a:p>
          <a:p>
            <a:r>
              <a:rPr lang="en-US" dirty="0"/>
              <a:t>    mov ah, 0x09    ; BIOS interrupt 0x09 for output</a:t>
            </a:r>
          </a:p>
          <a:p>
            <a:r>
              <a:rPr lang="en-US" dirty="0"/>
              <a:t>    mov dx, offset </a:t>
            </a:r>
            <a:r>
              <a:rPr lang="en-US" dirty="0" err="1"/>
              <a:t>print_msg</a:t>
            </a:r>
            <a:endParaRPr lang="en-US" dirty="0"/>
          </a:p>
          <a:p>
            <a:r>
              <a:rPr lang="en-US" dirty="0"/>
              <a:t>    int 0x21     ; Print custom message</a:t>
            </a:r>
          </a:p>
          <a:p>
            <a:r>
              <a:rPr lang="en-US" dirty="0"/>
              <a:t>    </a:t>
            </a:r>
            <a:r>
              <a:rPr lang="en-US" dirty="0" err="1"/>
              <a:t>iret</a:t>
            </a:r>
            <a:r>
              <a:rPr lang="en-US" dirty="0"/>
              <a:t>         ; Return from interrupt</a:t>
            </a:r>
          </a:p>
          <a:p>
            <a:r>
              <a:rPr lang="en-US" dirty="0"/>
              <a:t>isr21 </a:t>
            </a:r>
            <a:r>
              <a:rPr lang="en-US" dirty="0" err="1"/>
              <a:t>endp</a:t>
            </a:r>
            <a:endParaRPr lang="en-US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752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D7C642CD-AAAD-4E54-BAD2-9AEC05630F5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395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48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376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296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277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7051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24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4551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096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708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9139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4813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862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713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040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73053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26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7C642CD-AAAD-4E54-BAD2-9AEC05630F5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081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BE055-6430-A329-EA3E-2C2C819E40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9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F1D3DB-FF8C-F275-58A8-308697EAA2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COAL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52536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64ADE-C7CD-E6AB-0725-20340E3E9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 Vector Table (IVT)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A7151-C78A-C44E-BB4B-A624A3D8C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dirty="0"/>
              <a:t>The IVT is a table of addresses the CPU uses to locate the handler for different types of interrupts and exceptions.</a:t>
            </a:r>
          </a:p>
          <a:p>
            <a:pPr algn="just"/>
            <a:r>
              <a:rPr lang="en-US" dirty="0"/>
              <a:t>The processor uses the interrupt number to index the Interrupt Vector Table (IVT) to get the address of a special type of procedure called an Interrupt Service Routine (ISR).</a:t>
            </a:r>
          </a:p>
          <a:p>
            <a:pPr algn="just"/>
            <a:r>
              <a:rPr lang="en-US" dirty="0"/>
              <a:t>There are 256 entries in IVT.</a:t>
            </a:r>
          </a:p>
          <a:p>
            <a:pPr algn="just"/>
            <a:r>
              <a:rPr lang="en-US" dirty="0"/>
              <a:t>IVT resides in memory at physical address 0x00000.</a:t>
            </a:r>
          </a:p>
          <a:p>
            <a:pPr algn="just"/>
            <a:r>
              <a:rPr lang="en-US" dirty="0"/>
              <a:t>Each entry stores the logical address, which is 4 bytes; the total size of the IVT is 256 x 4B = 1 KB</a:t>
            </a:r>
          </a:p>
          <a:p>
            <a:pPr algn="just"/>
            <a:r>
              <a:rPr lang="en-US" dirty="0"/>
              <a:t>Total Size is 1024B</a:t>
            </a:r>
          </a:p>
        </p:txBody>
      </p:sp>
    </p:spTree>
    <p:extLst>
      <p:ext uri="{BB962C8B-B14F-4D97-AF65-F5344CB8AC3E}">
        <p14:creationId xmlns:p14="http://schemas.microsoft.com/office/powerpoint/2010/main" val="28054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EC5885-C5EE-291F-F8C9-35F48B6A320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826"/>
          <a:stretch/>
        </p:blipFill>
        <p:spPr>
          <a:xfrm>
            <a:off x="1495037" y="704977"/>
            <a:ext cx="3646130" cy="5487860"/>
          </a:xfrm>
        </p:spPr>
      </p:pic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180ED340-C2CF-9E59-92BE-3B6BE879F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40"/>
          <a:stretch/>
        </p:blipFill>
        <p:spPr>
          <a:xfrm>
            <a:off x="6470196" y="848095"/>
            <a:ext cx="4226767" cy="534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018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20B32-04CA-A7D4-BC93-5396EFD2F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Handling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90AEE-EFC9-C3FA-D9C1-A85F9C4DA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Unexpected events disrupting program execution (e.g., divide-by-zero, invalid memory access).</a:t>
            </a:r>
          </a:p>
          <a:p>
            <a:r>
              <a:rPr lang="en-US" dirty="0"/>
              <a:t>Common Exceptions: Divide Error, Page Fault, General Protection Fault</a:t>
            </a:r>
          </a:p>
          <a:p>
            <a:r>
              <a:rPr lang="en-US" dirty="0"/>
              <a:t>Handling Steps:</a:t>
            </a:r>
          </a:p>
          <a:p>
            <a:pPr lvl="1"/>
            <a:r>
              <a:rPr lang="en-US" dirty="0"/>
              <a:t>Detection: CPU or program identifies the exception.</a:t>
            </a:r>
          </a:p>
          <a:p>
            <a:pPr lvl="1"/>
            <a:r>
              <a:rPr lang="en-US" dirty="0"/>
              <a:t>IVT Lookup: Determines the handler.</a:t>
            </a:r>
          </a:p>
          <a:p>
            <a:pPr lvl="1"/>
            <a:r>
              <a:rPr lang="en-US" dirty="0"/>
              <a:t>Execution: Handler resolves or logs the issue.</a:t>
            </a:r>
          </a:p>
          <a:p>
            <a:pPr lvl="1"/>
            <a:r>
              <a:rPr lang="en-US" dirty="0"/>
              <a:t>Resolution: Program continues or terminates.</a:t>
            </a:r>
          </a:p>
        </p:txBody>
      </p:sp>
    </p:spTree>
    <p:extLst>
      <p:ext uri="{BB962C8B-B14F-4D97-AF65-F5344CB8AC3E}">
        <p14:creationId xmlns:p14="http://schemas.microsoft.com/office/powerpoint/2010/main" val="3596877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9E9E-2970-10CB-CD4D-BD10211CC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 vs Exception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6CD727-5921-5DBF-7D2D-75ED8FAD3F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8706" y="2538802"/>
            <a:ext cx="6414588" cy="3511218"/>
          </a:xfrm>
        </p:spPr>
      </p:pic>
    </p:spTree>
    <p:extLst>
      <p:ext uri="{BB962C8B-B14F-4D97-AF65-F5344CB8AC3E}">
        <p14:creationId xmlns:p14="http://schemas.microsoft.com/office/powerpoint/2010/main" val="3099819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E164B-B986-A4F2-0620-DE2C14BC0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Hooking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88AC9-E58D-5E06-9230-5E0612ADE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process of modifying or replacing an existing entry in the Interrupt Vector Table to redirect the handling of a specific interrupt to a custom Interrupt Service Routine (ISR).</a:t>
            </a:r>
          </a:p>
          <a:p>
            <a:pPr algn="just"/>
            <a:r>
              <a:rPr lang="en-US" dirty="0"/>
              <a:t>This technique is commonly used in low-level programming to intercept or extend the functionality of system interrupts.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54857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C6422-300A-09C9-C04B-1AD0D3348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of Hooking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1E699-EA95-177A-4833-A19E08C92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Customizing system behavior.</a:t>
            </a:r>
          </a:p>
          <a:p>
            <a:r>
              <a:rPr lang="en-US" dirty="0"/>
              <a:t>Adding new functionality or debugging.</a:t>
            </a:r>
          </a:p>
          <a:p>
            <a:r>
              <a:rPr lang="en-US" dirty="0"/>
              <a:t>Creating hooks for software or hardware interrupts.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509838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82EEE-592E-85C5-D30D-F2C86C2FD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of Hooking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8CA2E-A0DF-951E-06F3-149C7A6A0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Locate the IVT entry for the desired interrupt (e.g., using its interrupt number).</a:t>
            </a:r>
          </a:p>
          <a:p>
            <a:pPr algn="just"/>
            <a:r>
              <a:rPr lang="en-US" dirty="0"/>
              <a:t>Save the original ISR address (optional, for restoration).</a:t>
            </a:r>
          </a:p>
          <a:p>
            <a:pPr algn="just"/>
            <a:r>
              <a:rPr lang="en-US" dirty="0"/>
              <a:t>Replace the IVT entry with the address of the custom ISR.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00199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899C8-4E2C-1998-EC56-A021AFE30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 and Applications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86736-E182-0673-8094-FDF69709A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Risks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Incorrect modifications can crash the system.</a:t>
            </a:r>
          </a:p>
          <a:p>
            <a:pPr lvl="1"/>
            <a:r>
              <a:rPr lang="en-US" dirty="0"/>
              <a:t>Can cause conflicts if multiple programs attempt to hook the same interrupt.</a:t>
            </a:r>
          </a:p>
          <a:p>
            <a:r>
              <a:rPr lang="en-US" b="1" dirty="0"/>
              <a:t>Applications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Debugging tools.</a:t>
            </a:r>
          </a:p>
          <a:p>
            <a:pPr lvl="1"/>
            <a:r>
              <a:rPr lang="en-US" dirty="0"/>
              <a:t>Enhancing keyboard or mouse input.</a:t>
            </a:r>
          </a:p>
          <a:p>
            <a:pPr lvl="1"/>
            <a:r>
              <a:rPr lang="en-US" dirty="0"/>
              <a:t>Implementing custom OS-level features.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68679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2C07C-FEAB-C110-2B73-659FDDF8B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IRET Instruction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F905A-9AB3-8574-80DF-8F21D7906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to return from an interrupt service routine (ISR) to the interrupted program.</a:t>
            </a:r>
          </a:p>
          <a:p>
            <a:r>
              <a:rPr lang="en-US" dirty="0"/>
              <a:t>Pops the flags, CS and IP registers from the stack.</a:t>
            </a:r>
          </a:p>
          <a:p>
            <a:r>
              <a:rPr lang="en-US" dirty="0"/>
              <a:t>Restores the processor state to what it was before the interrupt occurred.</a:t>
            </a:r>
          </a:p>
          <a:p>
            <a:pPr marL="0" indent="0" algn="ctr">
              <a:buNone/>
            </a:pPr>
            <a:endParaRPr lang="en-US" i="1" dirty="0"/>
          </a:p>
          <a:p>
            <a:pPr marL="0" indent="0" algn="ctr">
              <a:buNone/>
            </a:pPr>
            <a:r>
              <a:rPr lang="en-US" i="1" dirty="0"/>
              <a:t>The IRET instruction also pops the flag register from the stack, whereas the RET instruction does not</a:t>
            </a:r>
          </a:p>
        </p:txBody>
      </p:sp>
    </p:spTree>
    <p:extLst>
      <p:ext uri="{BB962C8B-B14F-4D97-AF65-F5344CB8AC3E}">
        <p14:creationId xmlns:p14="http://schemas.microsoft.com/office/powerpoint/2010/main" val="4117495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C73625-399C-6E6F-8BF9-D111962B0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659" y="1166327"/>
            <a:ext cx="6926681" cy="395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58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5EF578-2BE5-9D65-B509-CAC61FA72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208" y="1437165"/>
            <a:ext cx="6863584" cy="4309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520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C666F7-60C5-6960-B64B-6B87685A6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584" y="2605632"/>
            <a:ext cx="8710831" cy="346063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E7A2173-ED2A-391A-D4E4-0765E388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by Step Execution of ISR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351614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CA10F-30AF-690D-7222-18F18BE95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Hook INT#0h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FC9814-1D08-1A51-89EC-18740CE317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16548" y="2708664"/>
            <a:ext cx="5958904" cy="3337344"/>
          </a:xfrm>
        </p:spPr>
      </p:pic>
    </p:spTree>
    <p:extLst>
      <p:ext uri="{BB962C8B-B14F-4D97-AF65-F5344CB8AC3E}">
        <p14:creationId xmlns:p14="http://schemas.microsoft.com/office/powerpoint/2010/main" val="1400954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ED05C-D9F9-9B16-01C9-7D492D325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Hook INT#4h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0D46FC-4F62-493F-B2DD-D2EFE2EC09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71706" y="2702046"/>
            <a:ext cx="4448588" cy="3457036"/>
          </a:xfrm>
        </p:spPr>
      </p:pic>
    </p:spTree>
    <p:extLst>
      <p:ext uri="{BB962C8B-B14F-4D97-AF65-F5344CB8AC3E}">
        <p14:creationId xmlns:p14="http://schemas.microsoft.com/office/powerpoint/2010/main" val="4178811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21662-9738-9968-7E40-AB9CF5A9F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Hook INT#10h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1A0545-3F65-8AA2-079E-E5DD59B8D4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77609" y="2577783"/>
            <a:ext cx="5836781" cy="3536495"/>
          </a:xfrm>
        </p:spPr>
      </p:pic>
    </p:spTree>
    <p:extLst>
      <p:ext uri="{BB962C8B-B14F-4D97-AF65-F5344CB8AC3E}">
        <p14:creationId xmlns:p14="http://schemas.microsoft.com/office/powerpoint/2010/main" val="1769510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63D07-B1B7-C16B-E557-D4A058542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Hook INT#21h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A2F696-23B9-CA5C-C69F-4DF4271EFD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14873" y="2557463"/>
            <a:ext cx="5762253" cy="3589337"/>
          </a:xfrm>
        </p:spPr>
      </p:pic>
    </p:spTree>
    <p:extLst>
      <p:ext uri="{BB962C8B-B14F-4D97-AF65-F5344CB8AC3E}">
        <p14:creationId xmlns:p14="http://schemas.microsoft.com/office/powerpoint/2010/main" val="2593715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EC1F4-0D2A-FECB-CF64-6BA3D6013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Questions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D97496-684F-6FF7-6151-B825C631EB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1189" y="2734191"/>
            <a:ext cx="6549622" cy="3326053"/>
          </a:xfrm>
        </p:spPr>
      </p:pic>
    </p:spTree>
    <p:extLst>
      <p:ext uri="{BB962C8B-B14F-4D97-AF65-F5344CB8AC3E}">
        <p14:creationId xmlns:p14="http://schemas.microsoft.com/office/powerpoint/2010/main" val="1011646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957D0-A576-CF53-4B02-184B3FC25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E95AC-0266-6549-EE78-72EF153CE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Questions</a:t>
            </a:r>
            <a:endParaRPr lang="en-PK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1060F73-E1CE-BB87-AD05-F4FC3A107F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3200" y="3017520"/>
            <a:ext cx="7545599" cy="2165425"/>
          </a:xfrm>
        </p:spPr>
      </p:pic>
    </p:spTree>
    <p:extLst>
      <p:ext uri="{BB962C8B-B14F-4D97-AF65-F5344CB8AC3E}">
        <p14:creationId xmlns:p14="http://schemas.microsoft.com/office/powerpoint/2010/main" val="26770503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7323</TotalTime>
  <Words>926</Words>
  <Application>Microsoft Office PowerPoint</Application>
  <PresentationFormat>Widescreen</PresentationFormat>
  <Paragraphs>159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Garamond</vt:lpstr>
      <vt:lpstr>Organic</vt:lpstr>
      <vt:lpstr>Lecture 9</vt:lpstr>
      <vt:lpstr>Interrupt Vector Table (IVT)</vt:lpstr>
      <vt:lpstr>PowerPoint Presentation</vt:lpstr>
      <vt:lpstr>Exception Handling</vt:lpstr>
      <vt:lpstr>Interrupt vs Exception</vt:lpstr>
      <vt:lpstr>Hooking</vt:lpstr>
      <vt:lpstr>Purpose of Hooking</vt:lpstr>
      <vt:lpstr>Process of Hooking</vt:lpstr>
      <vt:lpstr>Risks and Applications</vt:lpstr>
      <vt:lpstr>IRET Instruction</vt:lpstr>
      <vt:lpstr>PowerPoint Presentation</vt:lpstr>
      <vt:lpstr>PowerPoint Presentation</vt:lpstr>
      <vt:lpstr>Step by Step Execution of ISR</vt:lpstr>
      <vt:lpstr>Hook INT#0h</vt:lpstr>
      <vt:lpstr>Hook INT#4h</vt:lpstr>
      <vt:lpstr>Hook INT#10h</vt:lpstr>
      <vt:lpstr>Hook INT#21h</vt:lpstr>
      <vt:lpstr>Practice Questions</vt:lpstr>
      <vt:lpstr>Practice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&amp; Assembly Language</dc:title>
  <dc:creator>Ihtisham ul haq</dc:creator>
  <cp:lastModifiedBy>Sehar Ali</cp:lastModifiedBy>
  <cp:revision>33</cp:revision>
  <dcterms:created xsi:type="dcterms:W3CDTF">2023-10-17T17:30:28Z</dcterms:created>
  <dcterms:modified xsi:type="dcterms:W3CDTF">2025-12-07T11:26:07Z</dcterms:modified>
</cp:coreProperties>
</file>