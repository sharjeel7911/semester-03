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5"/>
  </p:notesMasterIdLst>
  <p:sldIdLst>
    <p:sldId id="256" r:id="rId2"/>
    <p:sldId id="278" r:id="rId3"/>
    <p:sldId id="279" r:id="rId4"/>
    <p:sldId id="286" r:id="rId5"/>
    <p:sldId id="287" r:id="rId6"/>
    <p:sldId id="296" r:id="rId7"/>
    <p:sldId id="285" r:id="rId8"/>
    <p:sldId id="288" r:id="rId9"/>
    <p:sldId id="289" r:id="rId10"/>
    <p:sldId id="290" r:id="rId11"/>
    <p:sldId id="297" r:id="rId12"/>
    <p:sldId id="280" r:id="rId13"/>
    <p:sldId id="282" r:id="rId14"/>
    <p:sldId id="283" r:id="rId15"/>
    <p:sldId id="284" r:id="rId16"/>
    <p:sldId id="298" r:id="rId17"/>
    <p:sldId id="299" r:id="rId18"/>
    <p:sldId id="300" r:id="rId19"/>
    <p:sldId id="291" r:id="rId20"/>
    <p:sldId id="292" r:id="rId21"/>
    <p:sldId id="293" r:id="rId22"/>
    <p:sldId id="294" r:id="rId23"/>
    <p:sldId id="29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2941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-29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; Caller Code</a:t>
            </a:r>
          </a:p>
          <a:p>
            <a:r>
              <a:rPr lang="en-US" dirty="0"/>
              <a:t>PUSH 5         ; Push parameter</a:t>
            </a:r>
          </a:p>
          <a:p>
            <a:r>
              <a:rPr lang="en-US" dirty="0"/>
              <a:t>CALL SUB       ; Call subroutine</a:t>
            </a:r>
          </a:p>
          <a:p>
            <a:r>
              <a:rPr lang="en-US" dirty="0"/>
              <a:t>ADD SP, 2      ; Clean stack</a:t>
            </a:r>
          </a:p>
          <a:p>
            <a:endParaRPr lang="en-US" dirty="0"/>
          </a:p>
          <a:p>
            <a:r>
              <a:rPr lang="en-US" dirty="0"/>
              <a:t>; Subroutine</a:t>
            </a:r>
          </a:p>
          <a:p>
            <a:r>
              <a:rPr lang="en-US" dirty="0"/>
              <a:t>SUB:</a:t>
            </a:r>
          </a:p>
          <a:p>
            <a:r>
              <a:rPr lang="en-US" dirty="0"/>
              <a:t>  MOV AX, [SP] ; Access parameter</a:t>
            </a:r>
          </a:p>
          <a:p>
            <a:r>
              <a:rPr lang="en-US" dirty="0"/>
              <a:t>  ; Perform tasks</a:t>
            </a:r>
          </a:p>
          <a:p>
            <a:r>
              <a:rPr lang="en-US" dirty="0"/>
              <a:t>  RET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2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.exit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8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       ;Defining main procedure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Call addition   ;Calling procedure </a:t>
            </a:r>
          </a:p>
          <a:p>
            <a:r>
              <a:rPr lang="en-US" dirty="0"/>
              <a:t>.exit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r>
              <a:rPr lang="en-US" dirty="0"/>
              <a:t>       ;main procedure ends here</a:t>
            </a:r>
          </a:p>
          <a:p>
            <a:r>
              <a:rPr lang="en-US" dirty="0"/>
              <a:t>Addition proc   ;defining procedure</a:t>
            </a:r>
          </a:p>
          <a:p>
            <a:r>
              <a:rPr lang="en-US" dirty="0"/>
              <a:t>Add </a:t>
            </a:r>
            <a:r>
              <a:rPr lang="en-US" dirty="0" err="1"/>
              <a:t>ax,bx</a:t>
            </a:r>
            <a:r>
              <a:rPr lang="en-US" dirty="0"/>
              <a:t>       ;adding two registers</a:t>
            </a:r>
          </a:p>
          <a:p>
            <a:r>
              <a:rPr lang="en-US" dirty="0"/>
              <a:t>Ret             ;return control back to calling procedure</a:t>
            </a:r>
          </a:p>
          <a:p>
            <a:r>
              <a:rPr lang="en-US" dirty="0"/>
              <a:t>Addition </a:t>
            </a:r>
            <a:r>
              <a:rPr lang="en-US" dirty="0" err="1"/>
              <a:t>endp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0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ax,5</a:t>
            </a:r>
          </a:p>
          <a:p>
            <a:r>
              <a:rPr lang="en-US" dirty="0"/>
              <a:t>Mov bx,10</a:t>
            </a:r>
          </a:p>
          <a:p>
            <a:r>
              <a:rPr lang="en-US" dirty="0"/>
              <a:t>Push ax         ; pushing value of ax, which is 5 to stack</a:t>
            </a:r>
          </a:p>
          <a:p>
            <a:r>
              <a:rPr lang="en-US" dirty="0"/>
              <a:t>Push bx         ; pushing value of bx, which is 10 to stack </a:t>
            </a:r>
          </a:p>
          <a:p>
            <a:r>
              <a:rPr lang="en-US" dirty="0"/>
              <a:t>Call addition   ; calling procedure</a:t>
            </a:r>
          </a:p>
          <a:p>
            <a:r>
              <a:rPr lang="en-US" dirty="0"/>
              <a:t>Pop bx          ; removing number 10 from stack</a:t>
            </a:r>
          </a:p>
          <a:p>
            <a:r>
              <a:rPr lang="en-US" dirty="0"/>
              <a:t>Pop bx          ; removing number 5 from stack </a:t>
            </a:r>
          </a:p>
          <a:p>
            <a:r>
              <a:rPr lang="en-US" dirty="0"/>
              <a:t>.exit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  <a:p>
            <a:r>
              <a:rPr lang="en-US" dirty="0"/>
              <a:t>Addition proc   ; defining procedure</a:t>
            </a:r>
          </a:p>
          <a:p>
            <a:r>
              <a:rPr lang="en-US" dirty="0"/>
              <a:t>Push bp         ; storing value of BP on stack so that we can restore it later</a:t>
            </a:r>
          </a:p>
          <a:p>
            <a:r>
              <a:rPr lang="en-US" dirty="0"/>
              <a:t>Mov </a:t>
            </a:r>
            <a:r>
              <a:rPr lang="en-US" dirty="0" err="1"/>
              <a:t>bp,sp</a:t>
            </a:r>
            <a:r>
              <a:rPr lang="en-US" dirty="0"/>
              <a:t>       ; to access stack without pop instruction—moving TOS to bp</a:t>
            </a:r>
          </a:p>
          <a:p>
            <a:r>
              <a:rPr lang="en-US" dirty="0"/>
              <a:t>Mov ax,0        ; no need to push AX as it is safe to use AX register </a:t>
            </a:r>
          </a:p>
          <a:p>
            <a:r>
              <a:rPr lang="en-US" dirty="0"/>
              <a:t>Add ax,[bp+4]   ; [bp+4] contains value 10</a:t>
            </a:r>
          </a:p>
          <a:p>
            <a:r>
              <a:rPr lang="en-US" dirty="0"/>
              <a:t>Add ax,[bp+6]   ; [bp+6] contains value 5</a:t>
            </a:r>
          </a:p>
          <a:p>
            <a:r>
              <a:rPr lang="en-US" dirty="0"/>
              <a:t>Pop bp          ; restoring value of BP from stack</a:t>
            </a:r>
          </a:p>
          <a:p>
            <a:r>
              <a:rPr lang="en-US" dirty="0"/>
              <a:t>Ret             ; transferring control back to the calling procedure</a:t>
            </a:r>
          </a:p>
          <a:p>
            <a:r>
              <a:rPr lang="en-US" dirty="0"/>
              <a:t>Addition </a:t>
            </a:r>
            <a:r>
              <a:rPr lang="en-US" dirty="0" err="1"/>
              <a:t>endp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65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array </a:t>
            </a:r>
            <a:r>
              <a:rPr lang="en-US" dirty="0" err="1"/>
              <a:t>db</a:t>
            </a:r>
            <a:r>
              <a:rPr lang="en-US" dirty="0"/>
              <a:t> 1,2,3,4,5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bx,offset</a:t>
            </a:r>
            <a:r>
              <a:rPr lang="en-US" dirty="0"/>
              <a:t> array     ; base address of array </a:t>
            </a:r>
          </a:p>
          <a:p>
            <a:r>
              <a:rPr lang="en-US" dirty="0"/>
              <a:t>mov ax,5                ; size of array</a:t>
            </a:r>
          </a:p>
          <a:p>
            <a:r>
              <a:rPr lang="en-US" dirty="0"/>
              <a:t>Push bx</a:t>
            </a:r>
          </a:p>
          <a:p>
            <a:r>
              <a:rPr lang="en-US" dirty="0"/>
              <a:t>Push ax</a:t>
            </a:r>
          </a:p>
          <a:p>
            <a:r>
              <a:rPr lang="en-US" dirty="0"/>
              <a:t>Call addition           ; calling procedure </a:t>
            </a:r>
          </a:p>
          <a:p>
            <a:r>
              <a:rPr lang="en-US" dirty="0"/>
              <a:t>pop bx                  ; removing parameters from stack</a:t>
            </a:r>
          </a:p>
          <a:p>
            <a:r>
              <a:rPr lang="en-US" dirty="0"/>
              <a:t>pop bx                  ; removing parameters from stack</a:t>
            </a:r>
          </a:p>
          <a:p>
            <a:r>
              <a:rPr lang="en-US" dirty="0"/>
              <a:t>.exit 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  <a:p>
            <a:r>
              <a:rPr lang="en-US" dirty="0"/>
              <a:t>Addition proc           ; Defining procedure</a:t>
            </a:r>
          </a:p>
          <a:p>
            <a:r>
              <a:rPr lang="en-US" dirty="0"/>
              <a:t>push bp                 ; saving the value of BP on stack before using it</a:t>
            </a:r>
          </a:p>
          <a:p>
            <a:r>
              <a:rPr lang="en-US" dirty="0"/>
              <a:t>push cx                 ; saving the value of CX on stack before using it</a:t>
            </a:r>
          </a:p>
          <a:p>
            <a:r>
              <a:rPr lang="en-US" dirty="0"/>
              <a:t>push </a:t>
            </a:r>
            <a:r>
              <a:rPr lang="en-US" dirty="0" err="1"/>
              <a:t>si</a:t>
            </a:r>
            <a:r>
              <a:rPr lang="en-US" dirty="0"/>
              <a:t>                 ; saving the value of SI on stack before using it</a:t>
            </a:r>
          </a:p>
          <a:p>
            <a:r>
              <a:rPr lang="en-US" dirty="0"/>
              <a:t>mov </a:t>
            </a:r>
            <a:r>
              <a:rPr lang="en-US" dirty="0" err="1"/>
              <a:t>bp,sp</a:t>
            </a:r>
            <a:r>
              <a:rPr lang="en-US" dirty="0"/>
              <a:t>               ; moving top of the stack to bp</a:t>
            </a:r>
          </a:p>
          <a:p>
            <a:r>
              <a:rPr lang="en-US" dirty="0"/>
              <a:t>mov cx,[bp+8]           ; reading size of array</a:t>
            </a:r>
          </a:p>
          <a:p>
            <a:r>
              <a:rPr lang="en-US" dirty="0"/>
              <a:t>mov ax,[bp+10]          ; reading base address of array</a:t>
            </a:r>
          </a:p>
          <a:p>
            <a:r>
              <a:rPr lang="en-US" dirty="0"/>
              <a:t>mov </a:t>
            </a:r>
            <a:r>
              <a:rPr lang="en-US" dirty="0" err="1"/>
              <a:t>bp,ax</a:t>
            </a:r>
            <a:r>
              <a:rPr lang="en-US" dirty="0"/>
              <a:t>               ; moving base address to BP</a:t>
            </a:r>
          </a:p>
          <a:p>
            <a:r>
              <a:rPr lang="en-US" dirty="0"/>
              <a:t>mov ax,0                ; it is safe to use ax without pushing it</a:t>
            </a:r>
          </a:p>
          <a:p>
            <a:r>
              <a:rPr lang="en-US" dirty="0"/>
              <a:t>mov si,0                ; assigning index register with 0</a:t>
            </a:r>
          </a:p>
          <a:p>
            <a:r>
              <a:rPr lang="en-US" dirty="0"/>
              <a:t>l1:</a:t>
            </a:r>
          </a:p>
          <a:p>
            <a:r>
              <a:rPr lang="en-US" dirty="0"/>
              <a:t>Add </a:t>
            </a:r>
            <a:r>
              <a:rPr lang="en-US" dirty="0" err="1"/>
              <a:t>al,ds</a:t>
            </a:r>
            <a:r>
              <a:rPr lang="en-US" dirty="0"/>
              <a:t>:[</a:t>
            </a:r>
            <a:r>
              <a:rPr lang="en-US" dirty="0" err="1"/>
              <a:t>bp+si</a:t>
            </a:r>
            <a:r>
              <a:rPr lang="en-US" dirty="0"/>
              <a:t>]       ; accessing value 10</a:t>
            </a:r>
          </a:p>
          <a:p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                 ; incrementing index by 1 as the array is of a byte type</a:t>
            </a:r>
          </a:p>
          <a:p>
            <a:r>
              <a:rPr lang="en-US" dirty="0"/>
              <a:t>loop l1</a:t>
            </a:r>
          </a:p>
          <a:p>
            <a:r>
              <a:rPr lang="en-US" dirty="0"/>
              <a:t>pop </a:t>
            </a:r>
            <a:r>
              <a:rPr lang="en-US" dirty="0" err="1"/>
              <a:t>si</a:t>
            </a:r>
            <a:r>
              <a:rPr lang="en-US" dirty="0"/>
              <a:t>                  ; Restoring original value of SI from stack</a:t>
            </a:r>
          </a:p>
          <a:p>
            <a:r>
              <a:rPr lang="en-US" dirty="0"/>
              <a:t>pop cx                  ; Restoring original value of CX from stack</a:t>
            </a:r>
          </a:p>
          <a:p>
            <a:r>
              <a:rPr lang="en-US" dirty="0"/>
              <a:t>pop bp                  ; Restoring original value of BP from stack</a:t>
            </a:r>
          </a:p>
          <a:p>
            <a:r>
              <a:rPr lang="en-US" dirty="0"/>
              <a:t>ret                     ; returning control back to calling procedure</a:t>
            </a:r>
          </a:p>
          <a:p>
            <a:r>
              <a:rPr lang="en-US" dirty="0"/>
              <a:t>Addition </a:t>
            </a:r>
            <a:r>
              <a:rPr lang="en-US" dirty="0" err="1"/>
              <a:t>endp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2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 push bp                    ; storing value of bp on stack</a:t>
            </a:r>
          </a:p>
          <a:p>
            <a:r>
              <a:rPr lang="en-US" dirty="0"/>
              <a:t>mov </a:t>
            </a:r>
            <a:r>
              <a:rPr lang="en-US" dirty="0" err="1"/>
              <a:t>bp,sp</a:t>
            </a:r>
            <a:endParaRPr lang="en-US" dirty="0"/>
          </a:p>
          <a:p>
            <a:r>
              <a:rPr lang="en-US" dirty="0"/>
              <a:t>sub sp,4                    ;creating space on stack for two variables</a:t>
            </a:r>
          </a:p>
          <a:p>
            <a:r>
              <a:rPr lang="en-US" dirty="0"/>
              <a:t> mov word </a:t>
            </a:r>
            <a:r>
              <a:rPr lang="en-US" dirty="0" err="1"/>
              <a:t>ptr</a:t>
            </a:r>
            <a:r>
              <a:rPr lang="en-US" dirty="0"/>
              <a:t> [bp-2],5      ; assigning value to local variable</a:t>
            </a:r>
          </a:p>
          <a:p>
            <a:r>
              <a:rPr lang="en-US" dirty="0"/>
              <a:t> mov word </a:t>
            </a:r>
            <a:r>
              <a:rPr lang="en-US" dirty="0" err="1"/>
              <a:t>ptr</a:t>
            </a:r>
            <a:r>
              <a:rPr lang="en-US" dirty="0"/>
              <a:t> [bp-4],10     ; assigning value to local variable</a:t>
            </a:r>
          </a:p>
          <a:p>
            <a:r>
              <a:rPr lang="en-US" dirty="0"/>
              <a:t>                            ; now you may PUSH and POP equal number of times here</a:t>
            </a:r>
          </a:p>
          <a:p>
            <a:r>
              <a:rPr lang="en-US" dirty="0"/>
              <a:t>mov </a:t>
            </a:r>
            <a:r>
              <a:rPr lang="en-US" dirty="0" err="1"/>
              <a:t>sp,bp</a:t>
            </a:r>
            <a:r>
              <a:rPr lang="en-US" dirty="0"/>
              <a:t>                   ;destroying local variables before returning</a:t>
            </a:r>
          </a:p>
          <a:p>
            <a:r>
              <a:rPr lang="en-US" dirty="0"/>
              <a:t>pop bp                      ; restoring value of bp from stack</a:t>
            </a:r>
          </a:p>
          <a:p>
            <a:r>
              <a:rPr lang="en-US" dirty="0"/>
              <a:t>ret</a:t>
            </a:r>
          </a:p>
          <a:p>
            <a:r>
              <a:rPr lang="en-US" dirty="0"/>
              <a:t>.exit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0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80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6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07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0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3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4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9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16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7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7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995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80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4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564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11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66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58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0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2E2C-93F8-F48E-EFF5-5526C9451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02500-88A7-2CB9-776C-4F98FA856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7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2434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58EC-031F-7D1F-5451-35353DC2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Subroutines/Procedures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81DC-7FD6-0987-AFE2-A8B49091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Used almost interchangeably with Procedures</a:t>
            </a:r>
          </a:p>
          <a:p>
            <a:pPr algn="just"/>
            <a:r>
              <a:rPr lang="en-US" dirty="0"/>
              <a:t>Block of code designed to perform a specific task that can be reused multiple times within a program</a:t>
            </a:r>
          </a:p>
          <a:p>
            <a:pPr algn="just"/>
            <a:r>
              <a:rPr lang="en-US" dirty="0"/>
              <a:t>Allow for modular programming, making code more organized and easier to manage</a:t>
            </a:r>
          </a:p>
          <a:p>
            <a:pPr algn="just"/>
            <a:r>
              <a:rPr lang="en-US" dirty="0"/>
              <a:t>Allows you to avoid repeating code by allowing common functionality to be called from different places within the program.</a:t>
            </a:r>
          </a:p>
          <a:p>
            <a:pPr algn="just"/>
            <a:r>
              <a:rPr lang="en-US" dirty="0"/>
              <a:t>When a subroutine is called, control is transferred to the subroutine, and after it finishes, control is returned to the calling code.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3058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EB81-3F9E-818B-11D1-3248B358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Subroutine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CE7F-920F-6C23-AA3D-9E3ADD85F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7410060" cy="331893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TW" sz="2400" dirty="0"/>
              <a:t>A </a:t>
            </a:r>
            <a:r>
              <a:rPr lang="en-US" altLang="zh-TW" sz="2400" dirty="0">
                <a:solidFill>
                  <a:schemeClr val="tx2"/>
                </a:solidFill>
              </a:rPr>
              <a:t>procedure</a:t>
            </a:r>
            <a:r>
              <a:rPr lang="en-US" altLang="zh-TW" sz="2400" dirty="0"/>
              <a:t> is the assembly equivalent of a Java or C function</a:t>
            </a:r>
            <a:endParaRPr lang="en-US" b="1" dirty="0"/>
          </a:p>
          <a:p>
            <a:pPr algn="just"/>
            <a:r>
              <a:rPr lang="en-US" b="1" dirty="0"/>
              <a:t>CALL</a:t>
            </a:r>
            <a:r>
              <a:rPr lang="en-US" dirty="0"/>
              <a:t> instruction is used to call a subroutine.</a:t>
            </a:r>
          </a:p>
          <a:p>
            <a:pPr algn="just"/>
            <a:r>
              <a:rPr lang="en-US" dirty="0"/>
              <a:t>When a subroutine is called, the return address is pushed onto the stack, so after the subroutine finishes, the program can jump back to where it was called from.</a:t>
            </a:r>
          </a:p>
          <a:p>
            <a:pPr algn="just"/>
            <a:r>
              <a:rPr lang="en-US" b="1" dirty="0"/>
              <a:t>RET</a:t>
            </a:r>
            <a:r>
              <a:rPr lang="en-US" dirty="0"/>
              <a:t> instruction is used to return control to the calling function.</a:t>
            </a:r>
            <a:endParaRPr lang="en-PK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C1C15F6-4C02-E3AD-DB64-5AECAD74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379" y="2835902"/>
            <a:ext cx="2351315" cy="1918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82880" rIns="137160" bIns="18288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2400" b="1">
                <a:latin typeface="Courier New" panose="02070309020205020404" pitchFamily="49" charset="0"/>
              </a:rPr>
              <a:t>sample PROC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2400" b="1">
                <a:latin typeface="Courier New" panose="02070309020205020404" pitchFamily="49" charset="0"/>
              </a:rPr>
              <a:t>.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2400" b="1">
                <a:latin typeface="Courier New" panose="02070309020205020404" pitchFamily="49" charset="0"/>
              </a:rPr>
              <a:t>.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2400" b="1">
                <a:latin typeface="Courier New" panose="02070309020205020404" pitchFamily="49" charset="0"/>
              </a:rPr>
              <a:t>ret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TW" sz="2400" b="1">
                <a:latin typeface="Courier New" panose="02070309020205020404" pitchFamily="49" charset="0"/>
              </a:rPr>
              <a:t>sample ENDP</a:t>
            </a:r>
          </a:p>
        </p:txBody>
      </p:sp>
    </p:spTree>
    <p:extLst>
      <p:ext uri="{BB962C8B-B14F-4D97-AF65-F5344CB8AC3E}">
        <p14:creationId xmlns:p14="http://schemas.microsoft.com/office/powerpoint/2010/main" val="247290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1A06-0B2A-C70E-72FD-448FD712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Procedure Call and Return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0486E-2F41-2130-5349-259566E36D5E}"/>
              </a:ext>
            </a:extLst>
          </p:cNvPr>
          <p:cNvSpPr/>
          <p:nvPr/>
        </p:nvSpPr>
        <p:spPr>
          <a:xfrm>
            <a:off x="4921121" y="2825920"/>
            <a:ext cx="2209800" cy="30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324FBC-8555-A547-AB70-1A902D1E700B}"/>
              </a:ext>
            </a:extLst>
          </p:cNvPr>
          <p:cNvGrpSpPr>
            <a:grpSpLocks/>
          </p:cNvGrpSpPr>
          <p:nvPr/>
        </p:nvGrpSpPr>
        <p:grpSpPr bwMode="auto">
          <a:xfrm>
            <a:off x="4463921" y="2836559"/>
            <a:ext cx="2660780" cy="3039309"/>
            <a:chOff x="3352800" y="1913691"/>
            <a:chExt cx="2660780" cy="303930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FB3265E-BD39-1FB1-78D8-19DC11DA7E13}"/>
                </a:ext>
              </a:extLst>
            </p:cNvPr>
            <p:cNvCxnSpPr>
              <a:cxnSpLocks/>
            </p:cNvCxnSpPr>
            <p:nvPr/>
          </p:nvCxnSpPr>
          <p:spPr>
            <a:xfrm>
              <a:off x="3803780" y="3322344"/>
              <a:ext cx="2209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B09F51-8726-12D6-438B-3CA692E80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1913691"/>
              <a:ext cx="175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b="1"/>
                <a:t>MAIN PROC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A7EEBE-383B-C247-A96C-2482DABE6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2283023"/>
              <a:ext cx="19050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1400" b="1"/>
                <a:t>CALL PROC1</a:t>
              </a:r>
            </a:p>
            <a:p>
              <a:pPr algn="ctr" eaLnBrk="1" hangingPunct="1"/>
              <a:r>
                <a:rPr lang="en-US" altLang="en-US" sz="1400" b="1"/>
                <a:t>First instruction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28E153-418F-168C-EDED-C581E1822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3502223"/>
              <a:ext cx="19050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1400" b="1"/>
                <a:t>PROC1 PROC</a:t>
              </a:r>
            </a:p>
            <a:p>
              <a:pPr algn="ctr" eaLnBrk="1" hangingPunct="1"/>
              <a:r>
                <a:rPr lang="en-US" altLang="en-US" sz="1400" b="1"/>
                <a:t>First instruction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B50FBC-44FA-ECA3-ED54-5B6CE39C9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645223"/>
              <a:ext cx="8763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1400" b="1"/>
                <a:t>RET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A199C97-0BC4-40BF-7A74-C1EC694DD82A}"/>
                </a:ext>
              </a:extLst>
            </p:cNvPr>
            <p:cNvCxnSpPr/>
            <p:nvPr/>
          </p:nvCxnSpPr>
          <p:spPr>
            <a:xfrm>
              <a:off x="3505200" y="3810283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C51985-573A-2DAE-175F-4B08313C40D8}"/>
                </a:ext>
              </a:extLst>
            </p:cNvPr>
            <p:cNvCxnSpPr/>
            <p:nvPr/>
          </p:nvCxnSpPr>
          <p:spPr>
            <a:xfrm flipV="1">
              <a:off x="3505200" y="2439023"/>
              <a:ext cx="0" cy="1371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7174F0E-F0A6-9D57-C235-4E1F69361AC3}"/>
                </a:ext>
              </a:extLst>
            </p:cNvPr>
            <p:cNvCxnSpPr/>
            <p:nvPr/>
          </p:nvCxnSpPr>
          <p:spPr>
            <a:xfrm>
              <a:off x="3505200" y="2439023"/>
              <a:ext cx="30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06904F0-04C6-AA41-A5EB-EAF040585D05}"/>
                </a:ext>
              </a:extLst>
            </p:cNvPr>
            <p:cNvCxnSpPr>
              <a:stCxn id="11" idx="1"/>
            </p:cNvCxnSpPr>
            <p:nvPr/>
          </p:nvCxnSpPr>
          <p:spPr>
            <a:xfrm flipH="1" flipV="1">
              <a:off x="3352800" y="4799051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90C231-E125-7F65-08FF-30F844750CAC}"/>
                </a:ext>
              </a:extLst>
            </p:cNvPr>
            <p:cNvCxnSpPr/>
            <p:nvPr/>
          </p:nvCxnSpPr>
          <p:spPr>
            <a:xfrm flipV="1">
              <a:off x="3352800" y="2667566"/>
              <a:ext cx="0" cy="2133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6D7B7B9-754F-DB0A-3FB5-2C2463AEF21D}"/>
                </a:ext>
              </a:extLst>
            </p:cNvPr>
            <p:cNvCxnSpPr/>
            <p:nvPr/>
          </p:nvCxnSpPr>
          <p:spPr>
            <a:xfrm>
              <a:off x="3352800" y="2667566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195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6237-D517-9C0A-821B-311B5E3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CALL and RET Instructions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9B8B9-9236-ACEC-20C9-72C9ED9B6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r>
              <a:rPr lang="en-US" altLang="zh-TW" dirty="0"/>
              <a:t>The 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CALL</a:t>
            </a:r>
            <a:r>
              <a:rPr lang="en-US" altLang="zh-TW" dirty="0"/>
              <a:t> instruction calls a procedure </a:t>
            </a:r>
          </a:p>
          <a:p>
            <a:pPr lvl="1" algn="just">
              <a:defRPr/>
            </a:pPr>
            <a:r>
              <a:rPr lang="en-US" altLang="zh-TW" sz="2400" dirty="0"/>
              <a:t>Pushes offset of next instruction on the stack</a:t>
            </a:r>
          </a:p>
          <a:p>
            <a:pPr lvl="1" algn="just">
              <a:defRPr/>
            </a:pPr>
            <a:r>
              <a:rPr lang="en-US" altLang="zh-TW" sz="2400" dirty="0"/>
              <a:t>Copies the address of the called procedure into IP (Note: IP=Instruction Pointer)</a:t>
            </a:r>
          </a:p>
          <a:p>
            <a:pPr algn="just">
              <a:defRPr/>
            </a:pPr>
            <a:r>
              <a:rPr lang="en-US" altLang="zh-TW" dirty="0"/>
              <a:t> The 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RET</a:t>
            </a:r>
            <a:r>
              <a:rPr lang="en-US" altLang="zh-TW" dirty="0"/>
              <a:t> instruction returns from a procedure</a:t>
            </a:r>
          </a:p>
          <a:p>
            <a:pPr lvl="1" algn="just">
              <a:defRPr/>
            </a:pPr>
            <a:r>
              <a:rPr lang="en-US" altLang="zh-TW" sz="2400" dirty="0"/>
              <a:t>Pops top of stack into IP</a:t>
            </a:r>
          </a:p>
        </p:txBody>
      </p:sp>
    </p:spTree>
    <p:extLst>
      <p:ext uri="{BB962C8B-B14F-4D97-AF65-F5344CB8AC3E}">
        <p14:creationId xmlns:p14="http://schemas.microsoft.com/office/powerpoint/2010/main" val="396818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CD10-5682-82E1-722F-7DB581A0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DCF8-C9FE-1D82-9FAE-8C65684A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CALL and RET Instructions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36D9E1-EAAB-4E46-30C7-C2750B0B5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381" y="2579128"/>
            <a:ext cx="8439238" cy="3588405"/>
          </a:xfrm>
        </p:spPr>
      </p:pic>
    </p:spTree>
    <p:extLst>
      <p:ext uri="{BB962C8B-B14F-4D97-AF65-F5344CB8AC3E}">
        <p14:creationId xmlns:p14="http://schemas.microsoft.com/office/powerpoint/2010/main" val="160924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9803-4C9A-6C78-EE6D-A289E103F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Representation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604256-4D57-9C14-D8AA-1E9C36C27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429" y="2566794"/>
            <a:ext cx="5969142" cy="3584563"/>
          </a:xfrm>
        </p:spPr>
      </p:pic>
    </p:spTree>
    <p:extLst>
      <p:ext uri="{BB962C8B-B14F-4D97-AF65-F5344CB8AC3E}">
        <p14:creationId xmlns:p14="http://schemas.microsoft.com/office/powerpoint/2010/main" val="4124852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543E-05B0-8370-CAC5-3EB4BC67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67F6-2494-4F9B-150C-8D77DE57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Representation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812E3B-DBCF-F6CF-86B8-9C28AA06C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448" y="2576124"/>
            <a:ext cx="5899103" cy="3584961"/>
          </a:xfrm>
        </p:spPr>
      </p:pic>
    </p:spTree>
    <p:extLst>
      <p:ext uri="{BB962C8B-B14F-4D97-AF65-F5344CB8AC3E}">
        <p14:creationId xmlns:p14="http://schemas.microsoft.com/office/powerpoint/2010/main" val="108835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66F23-8EF9-7838-5C0F-50464C1B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337B-E33F-C3E0-A0FF-A6C91227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Representation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9F95A1-3242-3786-15BC-FBA55DD40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3686" y="2594785"/>
            <a:ext cx="5884627" cy="3607626"/>
          </a:xfrm>
        </p:spPr>
      </p:pic>
    </p:spTree>
    <p:extLst>
      <p:ext uri="{BB962C8B-B14F-4D97-AF65-F5344CB8AC3E}">
        <p14:creationId xmlns:p14="http://schemas.microsoft.com/office/powerpoint/2010/main" val="350782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1DF4-5EDE-324A-25F3-8114B3DF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3C7A-E782-9151-F925-8FE6A970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Representation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76409B-6B30-3C9D-E308-3F1A1CD9A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4421" y="2529471"/>
            <a:ext cx="5963157" cy="3688629"/>
          </a:xfrm>
        </p:spPr>
      </p:pic>
    </p:spTree>
    <p:extLst>
      <p:ext uri="{BB962C8B-B14F-4D97-AF65-F5344CB8AC3E}">
        <p14:creationId xmlns:p14="http://schemas.microsoft.com/office/powerpoint/2010/main" val="249238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1471-B134-D382-7E2F-44718841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Procedure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D008E-17FF-10DA-FB42-7C9D28A44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Called by operating system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82FE3-869F-2496-0666-4BB1C770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411" y="2812363"/>
            <a:ext cx="1394581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E582-19CE-4133-5373-793BE196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Procedure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A49B63-FC5E-6159-ACB1-993F7B10C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7343" y="2557463"/>
            <a:ext cx="4477314" cy="3615338"/>
          </a:xfrm>
        </p:spPr>
      </p:pic>
    </p:spTree>
    <p:extLst>
      <p:ext uri="{BB962C8B-B14F-4D97-AF65-F5344CB8AC3E}">
        <p14:creationId xmlns:p14="http://schemas.microsoft.com/office/powerpoint/2010/main" val="4225409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E02F-9D16-A34A-A8BE-3081F0B6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Management in Subroutines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2077B-42CD-267D-548E-8E0DC7D2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Subroutines typically use the stack to save and restore registers. </a:t>
            </a:r>
          </a:p>
          <a:p>
            <a:pPr algn="just"/>
            <a:r>
              <a:rPr lang="en-US" dirty="0"/>
              <a:t>This ensures that the calling program’s state is preserved across the subroutine call.</a:t>
            </a:r>
          </a:p>
          <a:p>
            <a:pPr algn="just"/>
            <a:r>
              <a:rPr lang="en-US" dirty="0"/>
              <a:t>The CALL instruction automatically pushes the return address onto the stack.</a:t>
            </a:r>
          </a:p>
          <a:p>
            <a:pPr algn="just"/>
            <a:r>
              <a:rPr lang="en-US" dirty="0"/>
              <a:t>The RET instruction pops the return address from the stack and jumps to it.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1719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079A-18CE-FCE5-A7B3-C9B652F2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Stack for Parameters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9C39E-BC11-48C8-19F4-F1D63FE3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Temporary storage during function execution.</a:t>
            </a:r>
          </a:p>
          <a:p>
            <a:r>
              <a:rPr lang="en-US" dirty="0"/>
              <a:t>Allows multiple nested calls without conflict.</a:t>
            </a:r>
          </a:p>
          <a:p>
            <a:r>
              <a:rPr lang="en-US" dirty="0"/>
              <a:t>Efficient parameter handling in assembly.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763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51D2-05D3-5BE7-B249-D1133D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Parameter Passing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C354-57E6-814E-D4AC-51C1ECFF0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Push Parameters</a:t>
            </a:r>
            <a:r>
              <a:rPr lang="en-US" dirty="0"/>
              <a:t>: Caller pushes arguments onto the stack.</a:t>
            </a:r>
          </a:p>
          <a:p>
            <a:pPr algn="just"/>
            <a:r>
              <a:rPr lang="en-US" b="1" dirty="0"/>
              <a:t>CALL Instruction</a:t>
            </a:r>
            <a:r>
              <a:rPr lang="en-US" dirty="0"/>
              <a:t>: Control jumps to the subroutine.</a:t>
            </a:r>
          </a:p>
          <a:p>
            <a:pPr algn="just"/>
            <a:r>
              <a:rPr lang="en-US" b="1" dirty="0"/>
              <a:t>Access Parameters</a:t>
            </a:r>
            <a:r>
              <a:rPr lang="en-US" dirty="0"/>
              <a:t>: Subroutine accesses parameters via the stack.</a:t>
            </a:r>
          </a:p>
          <a:p>
            <a:pPr algn="just"/>
            <a:r>
              <a:rPr lang="en-US" b="1" dirty="0"/>
              <a:t>Perform Operations</a:t>
            </a:r>
            <a:r>
              <a:rPr lang="en-US" dirty="0"/>
              <a:t>: Subroutine uses parameters to execute tasks.</a:t>
            </a:r>
          </a:p>
          <a:p>
            <a:pPr algn="just"/>
            <a:r>
              <a:rPr lang="en-US" b="1" dirty="0"/>
              <a:t>Clean Up</a:t>
            </a:r>
            <a:r>
              <a:rPr lang="en-US" dirty="0"/>
              <a:t>: Caller removes parameters after execution.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74099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E5E5-CE6A-1CF1-9F6B-4EF84B96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Proc with Stack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040D90-32E9-8494-A51A-5A2E541F1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3843" y="2583784"/>
            <a:ext cx="8244313" cy="360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52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55CA-DF87-71C6-7571-B82313F0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Array in Proc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7EB88B-9C83-8F9B-AF20-44819B803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06239" y="2576124"/>
            <a:ext cx="5979522" cy="3626162"/>
          </a:xfrm>
        </p:spPr>
      </p:pic>
    </p:spTree>
    <p:extLst>
      <p:ext uri="{BB962C8B-B14F-4D97-AF65-F5344CB8AC3E}">
        <p14:creationId xmlns:p14="http://schemas.microsoft.com/office/powerpoint/2010/main" val="561045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E151-1D20-7744-C829-ECB50369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Local Variables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2FF00A-A630-59F3-CA6F-746B70CC8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4076" y="3075709"/>
            <a:ext cx="9103847" cy="2160078"/>
          </a:xfrm>
        </p:spPr>
      </p:pic>
    </p:spTree>
    <p:extLst>
      <p:ext uri="{BB962C8B-B14F-4D97-AF65-F5344CB8AC3E}">
        <p14:creationId xmlns:p14="http://schemas.microsoft.com/office/powerpoint/2010/main" val="2183595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E2C6-B38C-7097-379C-3AC7D3E7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Returning Values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D616-DC9D-953D-45E3-2AFEBFF83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Via Registers</a:t>
            </a:r>
            <a:r>
              <a:rPr lang="en-US" dirty="0"/>
              <a:t>: Common method, uses AX, BX, etc.</a:t>
            </a:r>
          </a:p>
          <a:p>
            <a:r>
              <a:rPr lang="en-US" b="1" dirty="0"/>
              <a:t>Via Stack</a:t>
            </a:r>
            <a:r>
              <a:rPr lang="en-US" dirty="0"/>
              <a:t>: Push result onto the stack before RET.</a:t>
            </a:r>
          </a:p>
          <a:p>
            <a:r>
              <a:rPr lang="en-US" b="1" dirty="0"/>
              <a:t>Direct Memory</a:t>
            </a:r>
            <a:r>
              <a:rPr lang="en-US" dirty="0"/>
              <a:t>: Store result in a memory location.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1363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9DA1-3803-A450-0DEE-468845BB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Values via Registers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97D5F-EEBD-FC43-82DB-16A1150A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 AX register</a:t>
            </a:r>
          </a:p>
          <a:p>
            <a:r>
              <a:rPr lang="en-US" dirty="0"/>
              <a:t>SUB:</a:t>
            </a:r>
          </a:p>
          <a:p>
            <a:pPr lvl="1"/>
            <a:r>
              <a:rPr lang="en-US" dirty="0"/>
              <a:t>MOV AX, 10  ; Return value in AX</a:t>
            </a:r>
          </a:p>
          <a:p>
            <a:r>
              <a:rPr lang="en-US" dirty="0"/>
              <a:t>RET</a:t>
            </a:r>
          </a:p>
          <a:p>
            <a:r>
              <a:rPr lang="en-US" dirty="0"/>
              <a:t>Fast and simple for single values.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90410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797E-49DA-6C12-440B-A11335A3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Values via 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E04D3-E067-6ACD-354F-CBE97EB5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Push result onto the stack in subroutine.</a:t>
            </a:r>
          </a:p>
          <a:p>
            <a:pPr lvl="1"/>
            <a:r>
              <a:rPr lang="en-US" dirty="0"/>
              <a:t>Caller pops the result after RET.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C285B-F77B-42D4-4F9A-8A1F6149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795" y="3871901"/>
            <a:ext cx="4182887" cy="224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25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B038-EA90-F97C-6ED9-41C20FED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Values via Memory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AD580-F565-DCB9-981D-1A531A53C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for large or complex data.</a:t>
            </a:r>
          </a:p>
          <a:p>
            <a:r>
              <a:rPr lang="en-US" dirty="0"/>
              <a:t>Subroutine writes directly to a pre-defined memory address.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EC59B-9A35-BA7E-2BCE-9EF174CFF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473" y="3777673"/>
            <a:ext cx="5751054" cy="12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52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305B-BCFC-03B1-330B-F0B966A5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Methods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D3389-A421-FC0E-9C52-3C8E876B9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222" y="3069772"/>
            <a:ext cx="9325555" cy="1834198"/>
          </a:xfrm>
        </p:spPr>
      </p:pic>
    </p:spTree>
    <p:extLst>
      <p:ext uri="{BB962C8B-B14F-4D97-AF65-F5344CB8AC3E}">
        <p14:creationId xmlns:p14="http://schemas.microsoft.com/office/powerpoint/2010/main" val="3286568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403</TotalTime>
  <Words>1166</Words>
  <Application>Microsoft Office PowerPoint</Application>
  <PresentationFormat>Widescreen</PresentationFormat>
  <Paragraphs>189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新細明體</vt:lpstr>
      <vt:lpstr>Arial</vt:lpstr>
      <vt:lpstr>Calibri</vt:lpstr>
      <vt:lpstr>Courier New</vt:lpstr>
      <vt:lpstr>Garamond</vt:lpstr>
      <vt:lpstr>Organic</vt:lpstr>
      <vt:lpstr>COAL</vt:lpstr>
      <vt:lpstr>Subroutines/Procedures</vt:lpstr>
      <vt:lpstr>Calling a Subroutine</vt:lpstr>
      <vt:lpstr>Procedure Call and Return</vt:lpstr>
      <vt:lpstr>CALL and RET Instructions</vt:lpstr>
      <vt:lpstr>CALL and RET Instructions</vt:lpstr>
      <vt:lpstr>Stack Representation</vt:lpstr>
      <vt:lpstr>Stack Representation</vt:lpstr>
      <vt:lpstr>Stack Representation</vt:lpstr>
      <vt:lpstr>Stack Representation</vt:lpstr>
      <vt:lpstr>Main Procedure</vt:lpstr>
      <vt:lpstr>Addition Procedure</vt:lpstr>
      <vt:lpstr>Stack Management in Subroutines</vt:lpstr>
      <vt:lpstr>Use of Stack for Parameters</vt:lpstr>
      <vt:lpstr>Steps for Parameter Passing</vt:lpstr>
      <vt:lpstr>Addition Proc with Stack</vt:lpstr>
      <vt:lpstr>Passing Array in Proc</vt:lpstr>
      <vt:lpstr>Creating Local Variables</vt:lpstr>
      <vt:lpstr>Methods of Returning Values</vt:lpstr>
      <vt:lpstr>Returning Values via Registers</vt:lpstr>
      <vt:lpstr>Returning Values via Stack</vt:lpstr>
      <vt:lpstr>Returning Values via Memory</vt:lpstr>
      <vt:lpstr>Comparison of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43</cp:revision>
  <dcterms:created xsi:type="dcterms:W3CDTF">2023-10-17T17:30:28Z</dcterms:created>
  <dcterms:modified xsi:type="dcterms:W3CDTF">2025-11-09T17:34:05Z</dcterms:modified>
</cp:coreProperties>
</file>