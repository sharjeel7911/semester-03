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9" r:id="rId13"/>
    <p:sldId id="266" r:id="rId14"/>
    <p:sldId id="270" r:id="rId15"/>
    <p:sldId id="271" r:id="rId16"/>
    <p:sldId id="273" r:id="rId17"/>
    <p:sldId id="274" r:id="rId18"/>
    <p:sldId id="267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ax,0xb800</a:t>
            </a:r>
          </a:p>
          <a:p>
            <a:r>
              <a:rPr lang="en-US" dirty="0"/>
              <a:t>Mov es, ax</a:t>
            </a:r>
          </a:p>
          <a:p>
            <a:r>
              <a:rPr lang="en-US" dirty="0"/>
              <a:t>Mov si,0</a:t>
            </a:r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'H'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es:[</a:t>
            </a:r>
            <a:r>
              <a:rPr lang="en-US" dirty="0" err="1"/>
              <a:t>si</a:t>
            </a:r>
            <a:r>
              <a:rPr lang="en-US" dirty="0"/>
              <a:t>], 11100100b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'E'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es:[</a:t>
            </a:r>
            <a:r>
              <a:rPr lang="en-US" dirty="0" err="1"/>
              <a:t>si</a:t>
            </a:r>
            <a:r>
              <a:rPr lang="en-US" dirty="0"/>
              <a:t>], 11100100b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'L'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es:[</a:t>
            </a:r>
            <a:r>
              <a:rPr lang="en-US" dirty="0" err="1"/>
              <a:t>si</a:t>
            </a:r>
            <a:r>
              <a:rPr lang="en-US" dirty="0"/>
              <a:t>], 11100100b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'L'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es:[</a:t>
            </a:r>
            <a:r>
              <a:rPr lang="en-US" dirty="0" err="1"/>
              <a:t>si</a:t>
            </a:r>
            <a:r>
              <a:rPr lang="en-US" dirty="0"/>
              <a:t>], 11100100b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'O'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es:[</a:t>
            </a:r>
            <a:r>
              <a:rPr lang="en-US" dirty="0" err="1"/>
              <a:t>si</a:t>
            </a:r>
            <a:r>
              <a:rPr lang="en-US" dirty="0"/>
              <a:t>], 11100100b</a:t>
            </a:r>
          </a:p>
          <a:p>
            <a:r>
              <a:rPr lang="en-US" dirty="0"/>
              <a:t>Inc </a:t>
            </a:r>
            <a:r>
              <a:rPr lang="en-US" dirty="0" err="1"/>
              <a:t>si</a:t>
            </a:r>
            <a:endParaRPr lang="en-US" dirty="0"/>
          </a:p>
          <a:p>
            <a:r>
              <a:rPr lang="en-US" dirty="0"/>
              <a:t>.exit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043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ax,0xb800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r>
              <a:rPr lang="en-US" dirty="0"/>
              <a:t>Mov si,2000</a:t>
            </a:r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'H'</a:t>
            </a:r>
          </a:p>
          <a:p>
            <a:r>
              <a:rPr lang="en-US" dirty="0"/>
              <a:t>add si,2</a:t>
            </a:r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'E'</a:t>
            </a:r>
          </a:p>
          <a:p>
            <a:r>
              <a:rPr lang="en-US" dirty="0"/>
              <a:t>add si,2</a:t>
            </a:r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'L'</a:t>
            </a:r>
          </a:p>
          <a:p>
            <a:r>
              <a:rPr lang="en-US" dirty="0"/>
              <a:t>add si,2</a:t>
            </a:r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'L'</a:t>
            </a:r>
          </a:p>
          <a:p>
            <a:r>
              <a:rPr lang="en-US" dirty="0"/>
              <a:t>add si,2</a:t>
            </a:r>
          </a:p>
          <a:p>
            <a:r>
              <a:rPr lang="en-US" dirty="0"/>
              <a:t>Mov es:[</a:t>
            </a:r>
            <a:r>
              <a:rPr lang="en-US" dirty="0" err="1"/>
              <a:t>si</a:t>
            </a:r>
            <a:r>
              <a:rPr lang="en-US" dirty="0"/>
              <a:t>], 'O'</a:t>
            </a:r>
          </a:p>
          <a:p>
            <a:r>
              <a:rPr lang="en-US" dirty="0"/>
              <a:t>.exit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26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 </a:t>
            </a:r>
          </a:p>
          <a:p>
            <a:r>
              <a:rPr lang="en-US" dirty="0"/>
              <a:t>msg </a:t>
            </a:r>
            <a:r>
              <a:rPr lang="en-US" dirty="0" err="1"/>
              <a:t>db</a:t>
            </a:r>
            <a:r>
              <a:rPr lang="en-US" dirty="0"/>
              <a:t> "Hello World",0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ax,0xB800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r>
              <a:rPr lang="en-US" dirty="0"/>
              <a:t>Mov di,0 </a:t>
            </a:r>
          </a:p>
          <a:p>
            <a:r>
              <a:rPr lang="en-US" dirty="0"/>
              <a:t>mov </a:t>
            </a:r>
            <a:r>
              <a:rPr lang="en-US" dirty="0" err="1"/>
              <a:t>bx,offset</a:t>
            </a:r>
            <a:r>
              <a:rPr lang="en-US" dirty="0"/>
              <a:t> msg</a:t>
            </a:r>
          </a:p>
          <a:p>
            <a:r>
              <a:rPr lang="en-US" dirty="0"/>
              <a:t>mov si,0</a:t>
            </a:r>
          </a:p>
          <a:p>
            <a:r>
              <a:rPr lang="en-US" dirty="0"/>
              <a:t>display:</a:t>
            </a:r>
          </a:p>
          <a:p>
            <a:r>
              <a:rPr lang="en-US" dirty="0"/>
              <a:t>mov al, [</a:t>
            </a:r>
            <a:r>
              <a:rPr lang="en-US" dirty="0" err="1"/>
              <a:t>bx+si</a:t>
            </a:r>
            <a:r>
              <a:rPr lang="en-US" dirty="0"/>
              <a:t>] </a:t>
            </a:r>
          </a:p>
          <a:p>
            <a:r>
              <a:rPr lang="en-US" dirty="0"/>
              <a:t>; mov one character from array to al</a:t>
            </a:r>
          </a:p>
          <a:p>
            <a:r>
              <a:rPr lang="en-US" dirty="0" err="1"/>
              <a:t>cmp</a:t>
            </a:r>
            <a:r>
              <a:rPr lang="en-US" dirty="0"/>
              <a:t> al,0 </a:t>
            </a:r>
          </a:p>
          <a:p>
            <a:r>
              <a:rPr lang="en-US" dirty="0"/>
              <a:t>; compare is that character is null</a:t>
            </a:r>
          </a:p>
          <a:p>
            <a:r>
              <a:rPr lang="en-US" dirty="0"/>
              <a:t>je end ; if null, terminate loop</a:t>
            </a:r>
          </a:p>
          <a:p>
            <a:r>
              <a:rPr lang="en-US" dirty="0"/>
              <a:t>mov es:[di],al </a:t>
            </a:r>
          </a:p>
          <a:p>
            <a:r>
              <a:rPr lang="en-US" dirty="0"/>
              <a:t>; Otherwise, mov that character to video memory</a:t>
            </a:r>
          </a:p>
          <a:p>
            <a:r>
              <a:rPr lang="en-US" dirty="0"/>
              <a:t>add di,2 </a:t>
            </a:r>
          </a:p>
          <a:p>
            <a:r>
              <a:rPr lang="en-US" dirty="0"/>
              <a:t>; add 2 to di, skipping the attribute part</a:t>
            </a:r>
          </a:p>
          <a:p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</a:p>
          <a:p>
            <a:r>
              <a:rPr lang="en-US" dirty="0"/>
              <a:t>; </a:t>
            </a:r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to access the next character of array</a:t>
            </a:r>
          </a:p>
          <a:p>
            <a:r>
              <a:rPr lang="en-US" dirty="0" err="1"/>
              <a:t>jmp</a:t>
            </a:r>
            <a:r>
              <a:rPr lang="en-US" dirty="0"/>
              <a:t> display ; iterate loop</a:t>
            </a:r>
          </a:p>
          <a:p>
            <a:r>
              <a:rPr lang="en-US" dirty="0"/>
              <a:t>end: </a:t>
            </a:r>
          </a:p>
          <a:p>
            <a:r>
              <a:rPr lang="en-US" dirty="0"/>
              <a:t>.exit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57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 </a:t>
            </a:r>
          </a:p>
          <a:p>
            <a:r>
              <a:rPr lang="en-US" dirty="0"/>
              <a:t>msg </a:t>
            </a:r>
            <a:r>
              <a:rPr lang="en-US" dirty="0" err="1"/>
              <a:t>db</a:t>
            </a:r>
            <a:r>
              <a:rPr lang="en-US" dirty="0"/>
              <a:t> "Hello World"</a:t>
            </a:r>
          </a:p>
          <a:p>
            <a:r>
              <a:rPr lang="en-US" dirty="0" err="1"/>
              <a:t>len</a:t>
            </a:r>
            <a:r>
              <a:rPr lang="en-US" dirty="0"/>
              <a:t> </a:t>
            </a:r>
            <a:r>
              <a:rPr lang="en-US" dirty="0" err="1"/>
              <a:t>equ</a:t>
            </a:r>
            <a:r>
              <a:rPr lang="en-US" dirty="0"/>
              <a:t> $- msg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cx,len</a:t>
            </a:r>
            <a:endParaRPr lang="en-US" dirty="0"/>
          </a:p>
          <a:p>
            <a:r>
              <a:rPr lang="en-US" dirty="0"/>
              <a:t>Mov ax,0xB800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r>
              <a:rPr lang="en-US" dirty="0"/>
              <a:t>Mov di,0 </a:t>
            </a:r>
          </a:p>
          <a:p>
            <a:r>
              <a:rPr lang="en-US" dirty="0"/>
              <a:t>LEA BX, msg</a:t>
            </a:r>
          </a:p>
          <a:p>
            <a:r>
              <a:rPr lang="en-US" dirty="0"/>
              <a:t>; LEA stands for Load Effective Address</a:t>
            </a:r>
          </a:p>
          <a:p>
            <a:r>
              <a:rPr lang="en-US" dirty="0"/>
              <a:t>; same effect like this instruction (mov bx, offset msg)</a:t>
            </a:r>
          </a:p>
          <a:p>
            <a:r>
              <a:rPr lang="en-US" dirty="0"/>
              <a:t>mov si,0</a:t>
            </a:r>
          </a:p>
          <a:p>
            <a:r>
              <a:rPr lang="en-US" dirty="0"/>
              <a:t>display:</a:t>
            </a:r>
          </a:p>
          <a:p>
            <a:r>
              <a:rPr lang="en-US" dirty="0"/>
              <a:t>mov al, [</a:t>
            </a:r>
            <a:r>
              <a:rPr lang="en-US" dirty="0" err="1"/>
              <a:t>bx+si</a:t>
            </a:r>
            <a:r>
              <a:rPr lang="en-US" dirty="0"/>
              <a:t>] </a:t>
            </a:r>
          </a:p>
          <a:p>
            <a:r>
              <a:rPr lang="en-US" dirty="0"/>
              <a:t>; mov one character from array to al</a:t>
            </a:r>
          </a:p>
          <a:p>
            <a:r>
              <a:rPr lang="en-US" dirty="0"/>
              <a:t>mov es:[di],al </a:t>
            </a:r>
          </a:p>
          <a:p>
            <a:r>
              <a:rPr lang="en-US" dirty="0"/>
              <a:t>; mov that character to video memory</a:t>
            </a:r>
          </a:p>
          <a:p>
            <a:r>
              <a:rPr lang="en-US" dirty="0"/>
              <a:t>add di,2 </a:t>
            </a:r>
          </a:p>
          <a:p>
            <a:r>
              <a:rPr lang="en-US" dirty="0"/>
              <a:t>; add 2 to di, skipping the attribute part</a:t>
            </a:r>
          </a:p>
          <a:p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</a:p>
          <a:p>
            <a:r>
              <a:rPr lang="en-US" dirty="0"/>
              <a:t>; </a:t>
            </a:r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to access the next character of array</a:t>
            </a:r>
          </a:p>
          <a:p>
            <a:r>
              <a:rPr lang="en-US" dirty="0"/>
              <a:t>loop display ; iterate loop</a:t>
            </a:r>
          </a:p>
          <a:p>
            <a:r>
              <a:rPr lang="en-US" dirty="0"/>
              <a:t>end: </a:t>
            </a:r>
          </a:p>
          <a:p>
            <a:r>
              <a:rPr lang="en-US" dirty="0"/>
              <a:t>.exit</a:t>
            </a:r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50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 </a:t>
            </a:r>
          </a:p>
          <a:p>
            <a:r>
              <a:rPr lang="en-US" dirty="0"/>
              <a:t>msg </a:t>
            </a:r>
            <a:r>
              <a:rPr lang="en-US" dirty="0" err="1"/>
              <a:t>db</a:t>
            </a:r>
            <a:r>
              <a:rPr lang="en-US" dirty="0"/>
              <a:t> "Hello World",0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mov </a:t>
            </a:r>
            <a:r>
              <a:rPr lang="en-US" dirty="0" err="1"/>
              <a:t>ax,@data</a:t>
            </a:r>
            <a:endParaRPr lang="en-US" dirty="0"/>
          </a:p>
          <a:p>
            <a:r>
              <a:rPr lang="en-US" dirty="0"/>
              <a:t>mov </a:t>
            </a:r>
            <a:r>
              <a:rPr lang="en-US" dirty="0" err="1"/>
              <a:t>ds,ax</a:t>
            </a:r>
            <a:endParaRPr lang="en-US" dirty="0"/>
          </a:p>
          <a:p>
            <a:r>
              <a:rPr lang="en-US" dirty="0"/>
              <a:t>Mov ax,0xB800</a:t>
            </a:r>
          </a:p>
          <a:p>
            <a:r>
              <a:rPr lang="en-US" dirty="0"/>
              <a:t>Mov </a:t>
            </a:r>
            <a:r>
              <a:rPr lang="en-US" dirty="0" err="1"/>
              <a:t>es,ax</a:t>
            </a:r>
            <a:endParaRPr lang="en-US" dirty="0"/>
          </a:p>
          <a:p>
            <a:r>
              <a:rPr lang="en-US" dirty="0"/>
              <a:t>Mov di,2000 </a:t>
            </a:r>
          </a:p>
          <a:p>
            <a:r>
              <a:rPr lang="en-US" dirty="0"/>
              <a:t>mov </a:t>
            </a:r>
            <a:r>
              <a:rPr lang="en-US" dirty="0" err="1"/>
              <a:t>bx,offset</a:t>
            </a:r>
            <a:r>
              <a:rPr lang="en-US" dirty="0"/>
              <a:t> msg</a:t>
            </a:r>
          </a:p>
          <a:p>
            <a:r>
              <a:rPr lang="en-US" dirty="0"/>
              <a:t>mov si,0</a:t>
            </a:r>
          </a:p>
          <a:p>
            <a:r>
              <a:rPr lang="en-US" dirty="0"/>
              <a:t>display:</a:t>
            </a:r>
          </a:p>
          <a:p>
            <a:r>
              <a:rPr lang="en-US" dirty="0"/>
              <a:t>mov al, [</a:t>
            </a:r>
            <a:r>
              <a:rPr lang="en-US" dirty="0" err="1"/>
              <a:t>bx+si</a:t>
            </a:r>
            <a:r>
              <a:rPr lang="en-US" dirty="0"/>
              <a:t>] ; mov one character from array to al</a:t>
            </a:r>
          </a:p>
          <a:p>
            <a:r>
              <a:rPr lang="en-US" dirty="0" err="1"/>
              <a:t>cmp</a:t>
            </a:r>
            <a:r>
              <a:rPr lang="en-US" dirty="0"/>
              <a:t> al,0        ; compare is that character is null</a:t>
            </a:r>
          </a:p>
          <a:p>
            <a:r>
              <a:rPr lang="en-US" dirty="0"/>
              <a:t>je end          ; if null, terminate loop</a:t>
            </a:r>
          </a:p>
          <a:p>
            <a:r>
              <a:rPr lang="en-US" dirty="0"/>
              <a:t>mov es:[di],al  ; Otherwise, mov that character to video memory</a:t>
            </a:r>
          </a:p>
          <a:p>
            <a:r>
              <a:rPr lang="en-US" dirty="0" err="1"/>
              <a:t>inc</a:t>
            </a:r>
            <a:r>
              <a:rPr lang="en-US" dirty="0"/>
              <a:t> di</a:t>
            </a:r>
          </a:p>
          <a:p>
            <a:r>
              <a:rPr lang="en-US" dirty="0"/>
              <a:t>Mov byte </a:t>
            </a:r>
            <a:r>
              <a:rPr lang="en-US" dirty="0" err="1"/>
              <a:t>ptr</a:t>
            </a:r>
            <a:r>
              <a:rPr lang="en-US" dirty="0"/>
              <a:t> es:[di], 11100100b ; add 2 to di, skipping the attribute part</a:t>
            </a:r>
          </a:p>
          <a:p>
            <a:r>
              <a:rPr lang="en-US" dirty="0" err="1"/>
              <a:t>inc</a:t>
            </a:r>
            <a:r>
              <a:rPr lang="en-US" dirty="0"/>
              <a:t> di</a:t>
            </a:r>
          </a:p>
          <a:p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                         ; </a:t>
            </a:r>
            <a:r>
              <a:rPr lang="en-US" dirty="0" err="1"/>
              <a:t>inc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to access the next character of array</a:t>
            </a:r>
          </a:p>
          <a:p>
            <a:r>
              <a:rPr lang="en-US" dirty="0" err="1"/>
              <a:t>jmp</a:t>
            </a:r>
            <a:r>
              <a:rPr lang="en-US" dirty="0"/>
              <a:t> display                     ; iterate loop</a:t>
            </a:r>
          </a:p>
          <a:p>
            <a:r>
              <a:rPr lang="en-US" dirty="0"/>
              <a:t>end: </a:t>
            </a:r>
          </a:p>
          <a:p>
            <a:r>
              <a:rPr lang="en-US" dirty="0"/>
              <a:t>.exit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3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.model small</a:t>
            </a:r>
          </a:p>
          <a:p>
            <a:r>
              <a:rPr lang="en-US" dirty="0"/>
              <a:t>.stack 100h</a:t>
            </a:r>
          </a:p>
          <a:p>
            <a:r>
              <a:rPr lang="en-US" dirty="0"/>
              <a:t>.data </a:t>
            </a:r>
          </a:p>
          <a:p>
            <a:r>
              <a:rPr lang="en-US" dirty="0"/>
              <a:t>msg1 </a:t>
            </a:r>
            <a:r>
              <a:rPr lang="en-US" dirty="0" err="1"/>
              <a:t>db</a:t>
            </a:r>
            <a:r>
              <a:rPr lang="en-US" dirty="0"/>
              <a:t> "Hello World$",0  ; Source string with null terminator</a:t>
            </a:r>
          </a:p>
          <a:p>
            <a:r>
              <a:rPr lang="en-US" dirty="0"/>
              <a:t>msg2 </a:t>
            </a:r>
            <a:r>
              <a:rPr lang="en-US" dirty="0" err="1"/>
              <a:t>db</a:t>
            </a:r>
            <a:r>
              <a:rPr lang="en-US" dirty="0"/>
              <a:t> 12 dup(?)         ; Destination buffer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</a:t>
            </a:r>
          </a:p>
          <a:p>
            <a:r>
              <a:rPr lang="en-US" dirty="0"/>
              <a:t>    mov ax, @data         ; Initialize data segment</a:t>
            </a:r>
          </a:p>
          <a:p>
            <a:r>
              <a:rPr lang="en-US" dirty="0"/>
              <a:t>    mov ds, ax</a:t>
            </a:r>
          </a:p>
          <a:p>
            <a:r>
              <a:rPr lang="en-US" dirty="0"/>
              <a:t>    mov es, ax</a:t>
            </a:r>
          </a:p>
          <a:p>
            <a:endParaRPr lang="en-US" dirty="0"/>
          </a:p>
          <a:p>
            <a:r>
              <a:rPr lang="en-US" dirty="0"/>
              <a:t>    ; Copy msg1 to msg2</a:t>
            </a:r>
          </a:p>
          <a:p>
            <a:r>
              <a:rPr lang="en-US" dirty="0"/>
              <a:t>    mov </a:t>
            </a:r>
            <a:r>
              <a:rPr lang="en-US" dirty="0" err="1"/>
              <a:t>si</a:t>
            </a:r>
            <a:r>
              <a:rPr lang="en-US" dirty="0"/>
              <a:t>, offset msg1    ; Offset of msg1 to SI</a:t>
            </a:r>
          </a:p>
          <a:p>
            <a:r>
              <a:rPr lang="en-US" dirty="0"/>
              <a:t>    mov di, offset msg2    ; Offset of msg2 to DI</a:t>
            </a:r>
          </a:p>
          <a:p>
            <a:r>
              <a:rPr lang="en-US" dirty="0"/>
              <a:t>    mov cx, 12             ; Length of the string to copy</a:t>
            </a:r>
          </a:p>
          <a:p>
            <a:r>
              <a:rPr lang="en-US" dirty="0" err="1"/>
              <a:t>copy_loop</a:t>
            </a:r>
            <a:r>
              <a:rPr lang="en-US" dirty="0"/>
              <a:t>:</a:t>
            </a:r>
          </a:p>
          <a:p>
            <a:r>
              <a:rPr lang="en-US" dirty="0"/>
              <a:t>    </a:t>
            </a:r>
            <a:r>
              <a:rPr lang="en-US" dirty="0" err="1"/>
              <a:t>movsb</a:t>
            </a:r>
            <a:r>
              <a:rPr lang="en-US" dirty="0"/>
              <a:t>                  ; Copy byte from [SI] to [DI]</a:t>
            </a:r>
          </a:p>
          <a:p>
            <a:r>
              <a:rPr lang="en-US" dirty="0"/>
              <a:t>    loop </a:t>
            </a:r>
            <a:r>
              <a:rPr lang="en-US" dirty="0" err="1"/>
              <a:t>copy_loop</a:t>
            </a:r>
            <a:r>
              <a:rPr lang="en-US" dirty="0"/>
              <a:t>         ; Decrement CX and repeat until CX = 0</a:t>
            </a:r>
          </a:p>
          <a:p>
            <a:endParaRPr lang="en-US" dirty="0"/>
          </a:p>
          <a:p>
            <a:r>
              <a:rPr lang="en-US" dirty="0"/>
              <a:t>    ; Display msg2 using DOS interrupt</a:t>
            </a:r>
          </a:p>
          <a:p>
            <a:r>
              <a:rPr lang="en-US" dirty="0"/>
              <a:t>    mov dx, offset msg2    ; Offset of msg2 to DX</a:t>
            </a:r>
          </a:p>
          <a:p>
            <a:r>
              <a:rPr lang="en-US" dirty="0"/>
              <a:t>    mov ah, 09h            ; Function 09h: Display string</a:t>
            </a:r>
          </a:p>
          <a:p>
            <a:r>
              <a:rPr lang="en-US" dirty="0"/>
              <a:t>    int 21h                ; Call DOS interrupt</a:t>
            </a:r>
          </a:p>
          <a:p>
            <a:endParaRPr lang="en-US" dirty="0"/>
          </a:p>
          <a:p>
            <a:r>
              <a:rPr lang="en-US" dirty="0"/>
              <a:t>    ; Exit program</a:t>
            </a:r>
          </a:p>
          <a:p>
            <a:r>
              <a:rPr lang="en-US" dirty="0"/>
              <a:t>    mov ah, 4Ch            ; Function 4Ch: Terminate program</a:t>
            </a:r>
          </a:p>
          <a:p>
            <a:r>
              <a:rPr lang="en-US" dirty="0"/>
              <a:t>    int 21h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  <a:p>
            <a:r>
              <a:rPr lang="en-US" dirty="0"/>
              <a:t>end main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4DD0BA-05A3-4E41-BF9C-58D718839F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14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4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9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38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4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7747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28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89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225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3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2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780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051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902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41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085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219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4484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24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F7C1-E928-098B-E1FD-68DBAD5A2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COAL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3AB05-C822-CA7E-C53E-5BF64241E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10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6837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B3906-36AF-5FF2-129B-D24DC450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Video Memory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0EE14-D6AB-4DB3-65EF-A576CE22D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</a:t>
            </a:r>
            <a:r>
              <a:rPr lang="en-US" dirty="0"/>
              <a:t>: Video memory (VRAM) is a portion of system memory used to store data for display.</a:t>
            </a:r>
          </a:p>
          <a:p>
            <a:r>
              <a:rPr lang="en-US" b="1" dirty="0"/>
              <a:t>Purpose</a:t>
            </a:r>
            <a:r>
              <a:rPr lang="en-US" dirty="0"/>
              <a:t>: Holds characters, pixels, and attributes that define how the screen content appears.</a:t>
            </a:r>
          </a:p>
          <a:p>
            <a:r>
              <a:rPr lang="en-US" b="1" dirty="0"/>
              <a:t>Location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Text mode video memory starts at physical address 0xB8000</a:t>
            </a:r>
          </a:p>
          <a:p>
            <a:pPr lvl="1"/>
            <a:r>
              <a:rPr lang="en-US" dirty="0"/>
              <a:t>Commonly used in assembly for direct screen manipulation.</a:t>
            </a:r>
          </a:p>
        </p:txBody>
      </p:sp>
    </p:spTree>
    <p:extLst>
      <p:ext uri="{BB962C8B-B14F-4D97-AF65-F5344CB8AC3E}">
        <p14:creationId xmlns:p14="http://schemas.microsoft.com/office/powerpoint/2010/main" val="2118967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1017-E5E5-622A-8881-4AAB3C47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Text Mode Video Memory Layout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04BB8-C07E-36B8-B14A-92C3B071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Memory Mapping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Example for an 80x25 screen resolution:</a:t>
            </a:r>
          </a:p>
          <a:p>
            <a:pPr lvl="1"/>
            <a:r>
              <a:rPr lang="en-US" dirty="0"/>
              <a:t>There are 25 rows, and each row has 80 characters</a:t>
            </a:r>
          </a:p>
          <a:p>
            <a:pPr lvl="2"/>
            <a:r>
              <a:rPr lang="en-US" dirty="0"/>
              <a:t>Total cells = 80 columns × 25 rows = 2000 cells</a:t>
            </a:r>
          </a:p>
          <a:p>
            <a:pPr lvl="2"/>
            <a:r>
              <a:rPr lang="en-US" dirty="0"/>
              <a:t>Each cell = 2 bytes, so total memory = 4000 bytes</a:t>
            </a:r>
          </a:p>
          <a:p>
            <a:r>
              <a:rPr lang="en-US" b="1" dirty="0"/>
              <a:t>Structure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Each character cell consists of two bytes:</a:t>
            </a:r>
          </a:p>
          <a:p>
            <a:pPr lvl="2"/>
            <a:r>
              <a:rPr lang="en-US" b="1" dirty="0"/>
              <a:t>Byte 1</a:t>
            </a:r>
            <a:r>
              <a:rPr lang="en-US" dirty="0"/>
              <a:t>: ASCII code for the character</a:t>
            </a:r>
          </a:p>
          <a:p>
            <a:pPr lvl="2"/>
            <a:r>
              <a:rPr lang="en-US" b="1" dirty="0"/>
              <a:t>Byte 2</a:t>
            </a:r>
            <a:r>
              <a:rPr lang="en-US" dirty="0"/>
              <a:t>: Attribute byte (defines colors and effects)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80852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85C3-1B12-97FE-7EC5-6F839288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Attribute Byte Details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0F53-3971-E9F5-F086-3714299E7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Structure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4 least significant bits (first nibble) for foreground color.</a:t>
            </a:r>
          </a:p>
          <a:p>
            <a:pPr lvl="1"/>
            <a:r>
              <a:rPr lang="en-US" dirty="0"/>
              <a:t>4 most significant bits (second nibble) for background color.</a:t>
            </a:r>
          </a:p>
          <a:p>
            <a:r>
              <a:rPr lang="en-US" dirty="0"/>
              <a:t>Each character's background and foreground colors can be set or obtained by reading a specific byte from memory.</a:t>
            </a:r>
          </a:p>
          <a:p>
            <a:r>
              <a:rPr lang="en-US" dirty="0"/>
              <a:t>RGB are red, green, and blue colors. ‘I’ is the intensity of the color, and ‘B’ is for blink.</a:t>
            </a:r>
          </a:p>
          <a:p>
            <a:pPr lvl="1"/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BF92F-E9D1-74E6-DCBA-7081D7FB3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559" y="5322926"/>
            <a:ext cx="5082980" cy="74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93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9D0AE-8E52-FD16-AEA5-5CDC91FE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Color Codes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0CE539-6A28-6FEB-F630-E2D02CF76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30157" y="2486362"/>
            <a:ext cx="3931685" cy="3637019"/>
          </a:xfr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866782-B478-3887-AF0D-4FC5E8EEA9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433449"/>
              </p:ext>
            </p:extLst>
          </p:nvPr>
        </p:nvGraphicFramePr>
        <p:xfrm>
          <a:off x="3493602" y="2769325"/>
          <a:ext cx="636555" cy="3288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555">
                  <a:extLst>
                    <a:ext uri="{9D8B030D-6E8A-4147-A177-3AD203B41FA5}">
                      <a16:colId xmlns:a16="http://schemas.microsoft.com/office/drawing/2014/main" val="3514142074"/>
                    </a:ext>
                  </a:extLst>
                </a:gridCol>
              </a:tblGrid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0x0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055734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0x1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52875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0x2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17677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0x3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0289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0x4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24687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0x5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638773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0x6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26897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0x7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536348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0x8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024674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0x9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620507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0xA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726541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0xB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7475318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0xC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8832746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0xD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649195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0xE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808686"/>
                  </a:ext>
                </a:extLst>
              </a:tr>
              <a:tr h="205546">
                <a:tc>
                  <a:txBody>
                    <a:bodyPr/>
                    <a:lstStyle/>
                    <a:p>
                      <a:r>
                        <a:rPr lang="en-US" sz="700" dirty="0"/>
                        <a:t>0xF</a:t>
                      </a:r>
                      <a:endParaRPr lang="en-PK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57692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D00C8C5-6B88-2F93-F9FE-5791BAA2E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99" y="3739264"/>
            <a:ext cx="3048264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21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9B1A1-3B42-7C5F-89C7-2356C5F79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Direct Accessing Video Memory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5C136-4CCB-FD67-966A-6A79DD4FD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Register Setup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ES: Segment register pointing to video memory (usually 0xB8000 in text mode)</a:t>
            </a:r>
          </a:p>
          <a:p>
            <a:pPr lvl="1"/>
            <a:r>
              <a:rPr lang="en-US" dirty="0"/>
              <a:t>SI/DI: Offset within the segment for a specific character cell.</a:t>
            </a:r>
          </a:p>
          <a:p>
            <a:r>
              <a:rPr lang="en-US" b="1" dirty="0"/>
              <a:t>Basic Steps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Load video memory segment into ES</a:t>
            </a:r>
          </a:p>
          <a:p>
            <a:pPr lvl="1"/>
            <a:r>
              <a:rPr lang="en-US" dirty="0"/>
              <a:t>Calculate offset for desired screen position</a:t>
            </a:r>
          </a:p>
          <a:p>
            <a:pPr lvl="1"/>
            <a:r>
              <a:rPr lang="en-US" dirty="0"/>
              <a:t>Write ASCII and attribute bytes</a:t>
            </a:r>
          </a:p>
        </p:txBody>
      </p:sp>
    </p:spTree>
    <p:extLst>
      <p:ext uri="{BB962C8B-B14F-4D97-AF65-F5344CB8AC3E}">
        <p14:creationId xmlns:p14="http://schemas.microsoft.com/office/powerpoint/2010/main" val="30993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299A-D70D-7514-68E6-76F6F9DE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ASCII Codes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77D012-D216-A457-E766-FCC9ABAEC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8552" y="2964067"/>
            <a:ext cx="7234896" cy="2536042"/>
          </a:xfrm>
        </p:spPr>
      </p:pic>
    </p:spTree>
    <p:extLst>
      <p:ext uri="{BB962C8B-B14F-4D97-AF65-F5344CB8AC3E}">
        <p14:creationId xmlns:p14="http://schemas.microsoft.com/office/powerpoint/2010/main" val="3947150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EE96-E67B-4332-FC81-F4465A9DA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8F60D-17CC-DB69-EDA3-6EA8E1C709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84624" y="2585579"/>
            <a:ext cx="3622752" cy="3605902"/>
          </a:xfrm>
        </p:spPr>
      </p:pic>
    </p:spTree>
    <p:extLst>
      <p:ext uri="{BB962C8B-B14F-4D97-AF65-F5344CB8AC3E}">
        <p14:creationId xmlns:p14="http://schemas.microsoft.com/office/powerpoint/2010/main" val="3579704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00526-9CE0-59A4-F151-EC2ADB8A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Coordinates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C9085-AD51-C0E7-6460-7600FFABC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screen is two-dimensional, having rows and columns,</a:t>
            </a:r>
          </a:p>
          <a:p>
            <a:r>
              <a:rPr lang="en-US" dirty="0"/>
              <a:t>While the memory containing the screen's contents is linear. </a:t>
            </a:r>
          </a:p>
          <a:p>
            <a:r>
              <a:rPr lang="en-US" dirty="0"/>
              <a:t>Each character on a screen has a row and column address,</a:t>
            </a:r>
          </a:p>
          <a:p>
            <a:r>
              <a:rPr lang="en-US" dirty="0"/>
              <a:t>Which is represented as (row, column)</a:t>
            </a:r>
          </a:p>
          <a:p>
            <a:r>
              <a:rPr lang="en-US" dirty="0"/>
              <a:t>It can be translated to a linear memory address by using the following equations:</a:t>
            </a:r>
          </a:p>
        </p:txBody>
      </p:sp>
    </p:spTree>
    <p:extLst>
      <p:ext uri="{BB962C8B-B14F-4D97-AF65-F5344CB8AC3E}">
        <p14:creationId xmlns:p14="http://schemas.microsoft.com/office/powerpoint/2010/main" val="4284918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F8A4A-D01F-F2FC-FF07-816F537D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D6B6-8E43-59D2-392D-8A4062688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Equation 1 finds the linear address of the memory location where the ASCII code of the character to be shown on screen will be stored.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Linear Address (ASCII) = 2 * (Row address * Columns per Row + Column address)</a:t>
            </a:r>
          </a:p>
          <a:p>
            <a:pPr algn="just"/>
            <a:r>
              <a:rPr lang="en-US" dirty="0"/>
              <a:t>Equation 2 finds the linear address of the memory location where the character's screen attributes will be stored.</a:t>
            </a:r>
          </a:p>
          <a:p>
            <a:pPr lvl="1" algn="just"/>
            <a:r>
              <a:rPr lang="en-US" dirty="0">
                <a:solidFill>
                  <a:srgbClr val="FF0000"/>
                </a:solidFill>
              </a:rPr>
              <a:t>Linear Address (Attributes) = 2 * (Row address * Columns per Row + Column address) + 1</a:t>
            </a:r>
          </a:p>
          <a:p>
            <a:pPr algn="just"/>
            <a:r>
              <a:rPr lang="en-US" dirty="0"/>
              <a:t>This linear address will be added to the base address, i.e., 0xB8000, to form the physical address.</a:t>
            </a:r>
          </a:p>
          <a:p>
            <a:pPr algn="just"/>
            <a:r>
              <a:rPr lang="en-US" dirty="0"/>
              <a:t>Here, Number of rows = 25; Columns per Row = 80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2390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14D4C-E456-24A9-A01B-BB80D94C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DCFE7-8995-A834-3A44-1C4A1BC68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display a text on the middle of the screen, we need to know its screen coordinates which are (12,40). </a:t>
            </a:r>
          </a:p>
          <a:p>
            <a:r>
              <a:rPr lang="en-US" dirty="0"/>
              <a:t>These coordinates can be translated into physical address by using equation 1 as shown below.</a:t>
            </a:r>
          </a:p>
          <a:p>
            <a:pPr lvl="1"/>
            <a:r>
              <a:rPr lang="en-US" dirty="0"/>
              <a:t>Memory Address  (ASCII) = 2 * (12 * 80 + 40) = 2000</a:t>
            </a:r>
          </a:p>
          <a:p>
            <a:r>
              <a:rPr lang="en-US" dirty="0"/>
              <a:t>Similarly, the offset address of the attributes of center character is:</a:t>
            </a:r>
          </a:p>
          <a:p>
            <a:pPr lvl="1"/>
            <a:r>
              <a:rPr lang="en-US" dirty="0"/>
              <a:t>Memory Address (Attribute)  = 2 * (12 * 80 + 40) +1 = 2000 + 1 = 2001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12040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91827-F3AD-7BAA-E058-26FF2F900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D9E59C-6FA3-957B-F1BB-D4313A07AF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38565" y="2637105"/>
            <a:ext cx="2514870" cy="3446776"/>
          </a:xfrm>
        </p:spPr>
      </p:pic>
    </p:spTree>
    <p:extLst>
      <p:ext uri="{BB962C8B-B14F-4D97-AF65-F5344CB8AC3E}">
        <p14:creationId xmlns:p14="http://schemas.microsoft.com/office/powerpoint/2010/main" val="227749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7248-A737-B893-91A0-A7B157088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Strings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4DD50-F763-75B3-7E84-CF817B053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sequence of characters stored in consecutive memory locations.</a:t>
            </a:r>
          </a:p>
          <a:p>
            <a:pPr algn="just"/>
            <a:r>
              <a:rPr lang="en-US" dirty="0"/>
              <a:t>Strings are defined using a byte array as shown below</a:t>
            </a:r>
          </a:p>
          <a:p>
            <a:pPr lvl="1" algn="just"/>
            <a:r>
              <a:rPr lang="en-US" dirty="0"/>
              <a:t>Msg </a:t>
            </a:r>
            <a:r>
              <a:rPr lang="en-US" dirty="0" err="1"/>
              <a:t>db</a:t>
            </a:r>
            <a:r>
              <a:rPr lang="en-US" dirty="0"/>
              <a:t> “Hello World”</a:t>
            </a:r>
          </a:p>
          <a:p>
            <a:pPr algn="just"/>
            <a:r>
              <a:rPr lang="en-US" dirty="0"/>
              <a:t>A string is terminated by a character which can be NULL or ‘$’ so that the procedure handling string could know that the string has been ended.</a:t>
            </a:r>
          </a:p>
          <a:p>
            <a:pPr algn="just"/>
            <a:r>
              <a:rPr lang="en-US" dirty="0"/>
              <a:t>We will place 0, i.e., NULL character at the end of a string as shown below</a:t>
            </a:r>
          </a:p>
          <a:p>
            <a:pPr lvl="1" algn="just"/>
            <a:r>
              <a:rPr lang="en-US" dirty="0"/>
              <a:t>Msg </a:t>
            </a:r>
            <a:r>
              <a:rPr lang="en-US" dirty="0" err="1"/>
              <a:t>db</a:t>
            </a:r>
            <a:r>
              <a:rPr lang="en-US" dirty="0"/>
              <a:t> “Hello World”,0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63968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53901-FBE7-422A-15F9-DD88C50D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with Jump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04A7F8-7ADF-CD8F-8AF8-F6A942FC7A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53486" y="2597348"/>
            <a:ext cx="4485028" cy="3431663"/>
          </a:xfrm>
        </p:spPr>
      </p:pic>
    </p:spTree>
    <p:extLst>
      <p:ext uri="{BB962C8B-B14F-4D97-AF65-F5344CB8AC3E}">
        <p14:creationId xmlns:p14="http://schemas.microsoft.com/office/powerpoint/2010/main" val="1242293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4724-15C4-CE3F-D151-CD38A0E39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with Loop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6E0CFE-61B0-DAE1-663A-C6889BC6B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72879" y="2570338"/>
            <a:ext cx="5246242" cy="3541213"/>
          </a:xfrm>
        </p:spPr>
      </p:pic>
    </p:spTree>
    <p:extLst>
      <p:ext uri="{BB962C8B-B14F-4D97-AF65-F5344CB8AC3E}">
        <p14:creationId xmlns:p14="http://schemas.microsoft.com/office/powerpoint/2010/main" val="24420393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2B18-2EEE-D892-6D48-2915DEB2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Combining Color Code, Screen Attributes and String Display</a:t>
            </a:r>
            <a:endParaRPr lang="en-PK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0C137A-43EE-F073-33BF-88E661FBA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6959" y="2701841"/>
            <a:ext cx="7998082" cy="3260420"/>
          </a:xfrm>
        </p:spPr>
      </p:pic>
    </p:spTree>
    <p:extLst>
      <p:ext uri="{BB962C8B-B14F-4D97-AF65-F5344CB8AC3E}">
        <p14:creationId xmlns:p14="http://schemas.microsoft.com/office/powerpoint/2010/main" val="673936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D91E-B311-D755-F3B2-75D35A80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EAFAA-0936-9B1C-4EE6-AB80631F0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an assembly program to display your name at the center of the screen in red text with a white background.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62871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6F29-DFC3-AD66-967E-3EE8F9495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Instructions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9838A0-5874-EF0A-8104-041A1B406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5475" y="2538802"/>
            <a:ext cx="2881050" cy="3630123"/>
          </a:xfrm>
        </p:spPr>
      </p:pic>
    </p:spTree>
    <p:extLst>
      <p:ext uri="{BB962C8B-B14F-4D97-AF65-F5344CB8AC3E}">
        <p14:creationId xmlns:p14="http://schemas.microsoft.com/office/powerpoint/2010/main" val="4111666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063A-F6D1-D33D-268F-262F4F0E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5D7F5F-A825-3594-A550-17CA46702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39098" y="2557463"/>
            <a:ext cx="5913803" cy="3562532"/>
          </a:xfrm>
        </p:spPr>
      </p:pic>
    </p:spTree>
    <p:extLst>
      <p:ext uri="{BB962C8B-B14F-4D97-AF65-F5344CB8AC3E}">
        <p14:creationId xmlns:p14="http://schemas.microsoft.com/office/powerpoint/2010/main" val="11434639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5797</TotalTime>
  <Words>1493</Words>
  <Application>Microsoft Office PowerPoint</Application>
  <PresentationFormat>Widescreen</PresentationFormat>
  <Paragraphs>244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Garamond</vt:lpstr>
      <vt:lpstr>Organic</vt:lpstr>
      <vt:lpstr>COAL</vt:lpstr>
      <vt:lpstr>Video Memory</vt:lpstr>
      <vt:lpstr>Text Mode Video Memory Layout</vt:lpstr>
      <vt:lpstr>Attribute Byte Details</vt:lpstr>
      <vt:lpstr>Attribute Color Codes</vt:lpstr>
      <vt:lpstr>Direct Accessing Video Memory</vt:lpstr>
      <vt:lpstr>Common ASCII Codes</vt:lpstr>
      <vt:lpstr>Example</vt:lpstr>
      <vt:lpstr>Screen Coordinates</vt:lpstr>
      <vt:lpstr>Equations</vt:lpstr>
      <vt:lpstr>Example</vt:lpstr>
      <vt:lpstr>Example</vt:lpstr>
      <vt:lpstr>Defining Strings</vt:lpstr>
      <vt:lpstr>Example – with Jump</vt:lpstr>
      <vt:lpstr>Example – with Loop</vt:lpstr>
      <vt:lpstr>Combining Color Code, Screen Attributes and String Display</vt:lpstr>
      <vt:lpstr>Practice Problem</vt:lpstr>
      <vt:lpstr>String Instructions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43</cp:revision>
  <dcterms:created xsi:type="dcterms:W3CDTF">2023-10-17T17:30:28Z</dcterms:created>
  <dcterms:modified xsi:type="dcterms:W3CDTF">2025-12-14T18:28:16Z</dcterms:modified>
</cp:coreProperties>
</file>