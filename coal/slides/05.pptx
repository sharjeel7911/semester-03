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090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928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62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29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39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159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864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9209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58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92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812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0179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7617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028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578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776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823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7C642CD-AAAD-4E54-BAD2-9AEC05630F5D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63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33DD-3D8B-80FB-F1D6-0465AFA7F4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COAL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06DDD3-D7A6-0EC8-4921-927F6CEFD4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 5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51287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12FE-D625-0D43-FDA3-91742318D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  <a:endParaRPr lang="en-PK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C4E697-6E33-CB88-B12F-FAD7F543F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DB (Define Byte)</a:t>
            </a:r>
            <a:r>
              <a:rPr lang="en-US" dirty="0"/>
              <a:t>: Allocates space for a byte (8 bits) or initializes it with a value.</a:t>
            </a:r>
          </a:p>
          <a:p>
            <a:pPr lvl="1"/>
            <a:r>
              <a:rPr lang="en-US" dirty="0"/>
              <a:t>Value DB 10 (value is name of variable initialize to 10)</a:t>
            </a:r>
          </a:p>
          <a:p>
            <a:r>
              <a:rPr lang="en-US" b="1" dirty="0"/>
              <a:t>DW (Define Word)</a:t>
            </a:r>
            <a:r>
              <a:rPr lang="en-US" dirty="0"/>
              <a:t>: Allocates space for a word (usually 16 bits) or initializes it with a value.</a:t>
            </a:r>
          </a:p>
          <a:p>
            <a:pPr lvl="1"/>
            <a:r>
              <a:rPr lang="en-US" dirty="0"/>
              <a:t>Num DW 1234</a:t>
            </a:r>
          </a:p>
          <a:p>
            <a:r>
              <a:rPr lang="en-US" b="1" dirty="0"/>
              <a:t>DD (Define Doubleword)</a:t>
            </a:r>
            <a:r>
              <a:rPr lang="en-US" dirty="0"/>
              <a:t>: Allocates space for a doubleword (usually 32 bits) or initializes it with a value.</a:t>
            </a:r>
          </a:p>
          <a:p>
            <a:pPr lvl="1"/>
            <a:r>
              <a:rPr lang="en-US" dirty="0" err="1"/>
              <a:t>largeNum</a:t>
            </a:r>
            <a:r>
              <a:rPr lang="en-US" dirty="0"/>
              <a:t> DD 100000</a:t>
            </a:r>
          </a:p>
          <a:p>
            <a:r>
              <a:rPr lang="en-US" b="1" dirty="0"/>
              <a:t>DQ (Define Quadword)</a:t>
            </a:r>
            <a:r>
              <a:rPr lang="en-US" dirty="0"/>
              <a:t>: Allocates space for a quadword (usually 64 bits) or initializes it with a value.</a:t>
            </a:r>
          </a:p>
          <a:p>
            <a:pPr lvl="1"/>
            <a:r>
              <a:rPr lang="en-US" dirty="0" err="1"/>
              <a:t>bigNum</a:t>
            </a:r>
            <a:r>
              <a:rPr lang="en-US" dirty="0"/>
              <a:t> DQ 123456789012345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06614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4AC2C-2CE3-A85C-F4E9-D3E99959C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Declaration and Initialization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B57B3-D164-2E88-F177-DA982F523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a variable and reserves memory for it in the data segment.</a:t>
            </a:r>
          </a:p>
          <a:p>
            <a:r>
              <a:rPr lang="en-US" dirty="0"/>
              <a:t>Syntax: &lt;</a:t>
            </a:r>
            <a:r>
              <a:rPr lang="en-US" dirty="0" err="1"/>
              <a:t>variable_name</a:t>
            </a:r>
            <a:r>
              <a:rPr lang="en-US" dirty="0"/>
              <a:t>&gt; &lt;directive&gt; &lt;value&gt;</a:t>
            </a:r>
          </a:p>
          <a:p>
            <a:r>
              <a:rPr lang="en-US" dirty="0"/>
              <a:t>Assigns an initial value to the variable.</a:t>
            </a:r>
          </a:p>
          <a:p>
            <a:r>
              <a:rPr lang="en-US" dirty="0"/>
              <a:t>The ? symbol is used when you want to </a:t>
            </a:r>
            <a:r>
              <a:rPr lang="en-US" b="1" dirty="0"/>
              <a:t>reserve memory</a:t>
            </a:r>
            <a:r>
              <a:rPr lang="en-US" dirty="0"/>
              <a:t> for a variable but </a:t>
            </a:r>
            <a:r>
              <a:rPr lang="en-US" b="1" dirty="0"/>
              <a:t>do not assign a value initially</a:t>
            </a:r>
            <a:r>
              <a:rPr lang="en-US" dirty="0"/>
              <a:t>. The reserved space will contain undefined (garbage) values until assigned later in the program.</a:t>
            </a:r>
          </a:p>
          <a:p>
            <a:pPr lvl="1"/>
            <a:r>
              <a:rPr lang="en-US" dirty="0"/>
              <a:t>&lt;</a:t>
            </a:r>
            <a:r>
              <a:rPr lang="en-US" dirty="0" err="1"/>
              <a:t>variable_name</a:t>
            </a:r>
            <a:r>
              <a:rPr lang="en-US" dirty="0"/>
              <a:t>&gt; &lt;directive&gt; ?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83940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1CDE6-8DDC-E884-A788-509490BC8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0801E-CFFD-344A-B03B-2E7001347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message </a:t>
            </a:r>
            <a:r>
              <a:rPr lang="en-US" dirty="0" err="1"/>
              <a:t>db</a:t>
            </a:r>
            <a:r>
              <a:rPr lang="en-US" dirty="0"/>
              <a:t> 'Hello’, 0</a:t>
            </a:r>
          </a:p>
          <a:p>
            <a:r>
              <a:rPr lang="en-US" dirty="0"/>
              <a:t>number </a:t>
            </a:r>
            <a:r>
              <a:rPr lang="en-US" dirty="0" err="1"/>
              <a:t>dw</a:t>
            </a:r>
            <a:r>
              <a:rPr lang="en-US" dirty="0"/>
              <a:t> 5 </a:t>
            </a:r>
          </a:p>
          <a:p>
            <a:r>
              <a:rPr lang="en-US" dirty="0"/>
              <a:t>buffer </a:t>
            </a:r>
            <a:r>
              <a:rPr lang="en-US" dirty="0" err="1"/>
              <a:t>db</a:t>
            </a:r>
            <a:r>
              <a:rPr lang="en-US" dirty="0"/>
              <a:t> 10 ? </a:t>
            </a:r>
          </a:p>
          <a:p>
            <a:r>
              <a:rPr lang="en-US" dirty="0"/>
              <a:t>count dd 1000 </a:t>
            </a:r>
          </a:p>
          <a:p>
            <a:r>
              <a:rPr lang="en-US" dirty="0"/>
              <a:t>data </a:t>
            </a:r>
            <a:r>
              <a:rPr lang="en-US" dirty="0" err="1"/>
              <a:t>dw</a:t>
            </a:r>
            <a:r>
              <a:rPr lang="en-US" dirty="0"/>
              <a:t> ?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11B40F-89FB-CDFA-AA05-7F41F42DD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47" y="3429000"/>
            <a:ext cx="5560607" cy="138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3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8194-69C2-1705-179A-A214A905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Segment Handling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44800-696B-AC0B-B410-057269D37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.data</a:t>
            </a:r>
          </a:p>
          <a:p>
            <a:pPr lvl="1"/>
            <a:r>
              <a:rPr lang="en-US" dirty="0"/>
              <a:t>; declare and initialize variables</a:t>
            </a:r>
          </a:p>
          <a:p>
            <a:r>
              <a:rPr lang="en-US" dirty="0"/>
              <a:t>.code</a:t>
            </a:r>
          </a:p>
          <a:p>
            <a:pPr lvl="1"/>
            <a:r>
              <a:rPr lang="en-US" dirty="0"/>
              <a:t>MOV AX, @data ; Load data segment address into AX </a:t>
            </a:r>
          </a:p>
          <a:p>
            <a:pPr lvl="1"/>
            <a:r>
              <a:rPr lang="en-US" dirty="0"/>
              <a:t>MOV DS, AX ; Set DS to point to the data segment</a:t>
            </a:r>
          </a:p>
          <a:p>
            <a:pPr lvl="1"/>
            <a:r>
              <a:rPr lang="en-US" dirty="0"/>
              <a:t>; rest of the code</a:t>
            </a:r>
          </a:p>
          <a:p>
            <a:r>
              <a:rPr lang="en-US" dirty="0"/>
              <a:t>.exit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86798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DB6E8-702A-9BC7-E33E-146BB4848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 Operations on Variables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7CBF7-868B-AAA5-1CA9-EB54F9F60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ADD AX, num1</a:t>
            </a:r>
          </a:p>
          <a:p>
            <a:r>
              <a:rPr lang="en-US" dirty="0"/>
              <a:t>SUB CX, num2</a:t>
            </a:r>
          </a:p>
          <a:p>
            <a:r>
              <a:rPr lang="en-US" dirty="0"/>
              <a:t>INC counter</a:t>
            </a:r>
          </a:p>
          <a:p>
            <a:r>
              <a:rPr lang="en-US" dirty="0"/>
              <a:t>XOR AX, data</a:t>
            </a:r>
          </a:p>
          <a:p>
            <a:r>
              <a:rPr lang="en-US" dirty="0"/>
              <a:t>AND AX, mask</a:t>
            </a:r>
          </a:p>
          <a:p>
            <a:r>
              <a:rPr lang="en-US" dirty="0"/>
              <a:t>MUL num1</a:t>
            </a:r>
          </a:p>
          <a:p>
            <a:r>
              <a:rPr lang="en-US" dirty="0"/>
              <a:t>NEG </a:t>
            </a:r>
            <a:r>
              <a:rPr lang="en-US" dirty="0" err="1"/>
              <a:t>abc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7303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02B9-6651-D8C8-3342-4A2AA8DB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0FA5A-6744-2ED6-EDD7-227A6BE88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An array is a collection of data elements of the same type, stored in consecutive memory locations. </a:t>
            </a:r>
          </a:p>
          <a:p>
            <a:pPr algn="just"/>
            <a:r>
              <a:rPr lang="en-US" dirty="0"/>
              <a:t>In 8086 assembly, arrays are typically defined in the </a:t>
            </a:r>
            <a:r>
              <a:rPr lang="en-US" b="1" dirty="0"/>
              <a:t>.data</a:t>
            </a:r>
            <a:r>
              <a:rPr lang="en-US" dirty="0"/>
              <a:t> segment.</a:t>
            </a:r>
          </a:p>
          <a:p>
            <a:pPr lvl="1" algn="just"/>
            <a:r>
              <a:rPr lang="en-US" b="1" dirty="0"/>
              <a:t>Base address</a:t>
            </a:r>
            <a:r>
              <a:rPr lang="en-US" dirty="0"/>
              <a:t>: The address of the first element of the array.</a:t>
            </a:r>
          </a:p>
          <a:p>
            <a:pPr lvl="1" algn="just"/>
            <a:r>
              <a:rPr lang="en-US" b="1" dirty="0"/>
              <a:t>Element size</a:t>
            </a:r>
            <a:r>
              <a:rPr lang="en-US" dirty="0"/>
              <a:t>: The size of each element (byte, word, etc.).</a:t>
            </a:r>
          </a:p>
          <a:p>
            <a:pPr lvl="1" algn="just"/>
            <a:r>
              <a:rPr lang="en-US" b="1" dirty="0"/>
              <a:t>Indexing</a:t>
            </a:r>
            <a:r>
              <a:rPr lang="en-US" dirty="0"/>
              <a:t>: Elements are accessed using an index (offset) relative to the base address.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426283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3DC53-8825-CB2B-79FB-141B2DFB0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Arrays in 8086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1D083-5B90-17C5-B844-CD12205ED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DB to define array</a:t>
            </a:r>
          </a:p>
          <a:p>
            <a:pPr lvl="1"/>
            <a:r>
              <a:rPr lang="en-US" dirty="0"/>
              <a:t>.data </a:t>
            </a:r>
          </a:p>
          <a:p>
            <a:pPr lvl="1"/>
            <a:r>
              <a:rPr lang="en-US" dirty="0"/>
              <a:t>array DB 10, 20, 30, 40, 50 </a:t>
            </a:r>
          </a:p>
          <a:p>
            <a:r>
              <a:rPr lang="en-US" dirty="0"/>
              <a:t>Use DW to define array</a:t>
            </a:r>
          </a:p>
          <a:p>
            <a:pPr lvl="1"/>
            <a:r>
              <a:rPr lang="en-US" dirty="0"/>
              <a:t>.data </a:t>
            </a:r>
          </a:p>
          <a:p>
            <a:pPr lvl="1"/>
            <a:r>
              <a:rPr lang="en-US" dirty="0"/>
              <a:t>array DW 100, 200, 300, 400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9471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0B07E-F108-A5BE-9033-D3123CD49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Array Elements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1AE65-495D-3BAE-FC12-1FC8FF62E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To access array elements, you must calculate the memory address (offset) based on the array’s base address and the index.</a:t>
            </a:r>
          </a:p>
          <a:p>
            <a:r>
              <a:rPr lang="en-US" dirty="0"/>
              <a:t>Byte array (first element)</a:t>
            </a:r>
          </a:p>
          <a:p>
            <a:pPr lvl="1"/>
            <a:r>
              <a:rPr lang="it-IT" dirty="0"/>
              <a:t>MOV SI, 0 ; Set SI to index 0 </a:t>
            </a:r>
          </a:p>
          <a:p>
            <a:pPr lvl="1"/>
            <a:r>
              <a:rPr lang="it-IT" dirty="0"/>
              <a:t>MOV AL, [array + SI] ; AL = array[0]</a:t>
            </a:r>
          </a:p>
          <a:p>
            <a:pPr lvl="1"/>
            <a:r>
              <a:rPr lang="it-IT" dirty="0"/>
              <a:t>INC SI ;move to second element</a:t>
            </a:r>
          </a:p>
          <a:p>
            <a:r>
              <a:rPr lang="it-IT" dirty="0"/>
              <a:t>Word array (second element)</a:t>
            </a:r>
          </a:p>
          <a:p>
            <a:pPr lvl="1"/>
            <a:r>
              <a:rPr lang="en-US" dirty="0"/>
              <a:t>MOV SI, 2 ; Set SI to index 1 (word = 2 bytes) </a:t>
            </a:r>
          </a:p>
          <a:p>
            <a:pPr lvl="1"/>
            <a:r>
              <a:rPr lang="en-US" dirty="0"/>
              <a:t>MOV AX, [array + SI] ; AX = array[1] (word)</a:t>
            </a:r>
          </a:p>
          <a:p>
            <a:pPr lvl="1"/>
            <a:r>
              <a:rPr lang="en-US" dirty="0"/>
              <a:t>ADD SI, 2 ;move to third element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74686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B3EC-7A3A-27F5-692C-87566105A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Cont.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0DD62-A849-4BB0-F68F-FB1EAEC61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Accessing Multiple Elements</a:t>
            </a:r>
          </a:p>
          <a:p>
            <a:pPr lvl="1"/>
            <a:r>
              <a:rPr lang="it-IT" dirty="0"/>
              <a:t>MOV SI, 0 </a:t>
            </a:r>
          </a:p>
          <a:p>
            <a:pPr lvl="1"/>
            <a:r>
              <a:rPr lang="it-IT" dirty="0"/>
              <a:t>MOV AL, [array + SI] ; AL = array[0] </a:t>
            </a:r>
          </a:p>
          <a:p>
            <a:pPr lvl="1"/>
            <a:r>
              <a:rPr lang="it-IT" dirty="0"/>
              <a:t>INC SI</a:t>
            </a:r>
          </a:p>
          <a:p>
            <a:pPr lvl="1"/>
            <a:r>
              <a:rPr lang="it-IT" dirty="0"/>
              <a:t>MOV AL, [array + SI] ; AL = array[1]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17324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D08C-0B43-8678-2DE9-6823EAC11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Loop to Process Arrays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1F2E1A-37C1-2EFC-E001-378FFC7CBB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290" y="2557463"/>
            <a:ext cx="5639420" cy="3636348"/>
          </a:xfrm>
        </p:spPr>
      </p:pic>
    </p:spTree>
    <p:extLst>
      <p:ext uri="{BB962C8B-B14F-4D97-AF65-F5344CB8AC3E}">
        <p14:creationId xmlns:p14="http://schemas.microsoft.com/office/powerpoint/2010/main" val="1282777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85AF8-6954-5154-03C6-83C84ADBD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Modifying Array Elements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F88A74-5326-2D6B-E3F7-A28B2C533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8969" y="2566255"/>
            <a:ext cx="6194062" cy="862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DF97D8-0427-BEA2-ECE6-B5F30D3A3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713" y="3709256"/>
            <a:ext cx="5646574" cy="22842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2472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A11B2-B63C-8BA3-F38F-C3EEDF26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 Instruction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7A1C8-A725-88EB-5C2E-BCE6AA6F0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Jump</a:t>
            </a:r>
            <a:r>
              <a:rPr lang="en-US" dirty="0"/>
              <a:t> instructions alter the </a:t>
            </a:r>
            <a:r>
              <a:rPr lang="en-US" b="1" dirty="0"/>
              <a:t>sequence</a:t>
            </a:r>
            <a:r>
              <a:rPr lang="en-US" dirty="0"/>
              <a:t> of program execution by causing a branch to a different instruction in the program.</a:t>
            </a:r>
          </a:p>
          <a:p>
            <a:r>
              <a:rPr lang="en-US" b="1" dirty="0"/>
              <a:t>Unconditional Jump</a:t>
            </a:r>
            <a:r>
              <a:rPr lang="en-US" dirty="0"/>
              <a:t>: Always jumps to the target.</a:t>
            </a:r>
          </a:p>
          <a:p>
            <a:r>
              <a:rPr lang="en-US" b="1" dirty="0"/>
              <a:t>Conditional Jump</a:t>
            </a:r>
            <a:r>
              <a:rPr lang="en-US" dirty="0"/>
              <a:t>: Jumps based on meeting a certain condition (like comparison results; if/else).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64156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1A77-B5B1-571F-9893-10707580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Unconditional Jump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3788-72AA-DDB3-B171-62671C1E6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instructions always jump to a target address or label, regardless of any conditions.</a:t>
            </a:r>
          </a:p>
          <a:p>
            <a:r>
              <a:rPr lang="en-US" dirty="0"/>
              <a:t>Syntax: JMP label</a:t>
            </a:r>
          </a:p>
          <a:p>
            <a:pPr lvl="1"/>
            <a:r>
              <a:rPr lang="en-US" dirty="0"/>
              <a:t>Will jump to the specified label regardless of any condition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767502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69A34-AEC9-2031-2613-F066DDD2A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Distance wise JMP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321C2-8C06-F3CF-7515-5603ABC11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JMP short</a:t>
            </a:r>
          </a:p>
          <a:p>
            <a:pPr lvl="1"/>
            <a:r>
              <a:rPr lang="en-US" dirty="0"/>
              <a:t>Jumps to a nearby address</a:t>
            </a:r>
          </a:p>
          <a:p>
            <a:pPr lvl="1"/>
            <a:r>
              <a:rPr lang="en-US" dirty="0"/>
              <a:t>Used for small distances in code.</a:t>
            </a:r>
          </a:p>
          <a:p>
            <a:r>
              <a:rPr lang="en-US" dirty="0"/>
              <a:t>JMP near</a:t>
            </a:r>
          </a:p>
          <a:p>
            <a:pPr lvl="1"/>
            <a:r>
              <a:rPr lang="en-US" dirty="0"/>
              <a:t>Jumps within a range of 32K bytes (nearby memory addresses)</a:t>
            </a:r>
          </a:p>
          <a:p>
            <a:r>
              <a:rPr lang="en-US" dirty="0"/>
              <a:t>JMP far</a:t>
            </a:r>
          </a:p>
          <a:p>
            <a:pPr lvl="1"/>
            <a:r>
              <a:rPr lang="en-US" dirty="0"/>
              <a:t>Used to jump to a different </a:t>
            </a:r>
            <a:r>
              <a:rPr lang="en-US" b="1" dirty="0"/>
              <a:t>segment</a:t>
            </a:r>
            <a:r>
              <a:rPr lang="en-US" dirty="0"/>
              <a:t>. It specifies both a segment and an offset.</a:t>
            </a:r>
          </a:p>
          <a:p>
            <a:pPr lvl="1"/>
            <a:r>
              <a:rPr lang="en-US" dirty="0"/>
              <a:t>JMP FAR [</a:t>
            </a:r>
            <a:r>
              <a:rPr lang="en-US" dirty="0" err="1"/>
              <a:t>segment:offset</a:t>
            </a:r>
            <a:r>
              <a:rPr lang="en-US" dirty="0"/>
              <a:t>]</a:t>
            </a:r>
          </a:p>
          <a:p>
            <a:pPr lvl="1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944893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76F7F-736D-9DB1-5895-7FC54FD4C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CMP Instruction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B0239-A5F5-C9CD-75C9-6BEEC5BC6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Compares two operands by subtracting the second operand from the first but does not store the result</a:t>
            </a:r>
          </a:p>
          <a:p>
            <a:pPr algn="just"/>
            <a:r>
              <a:rPr lang="en-US" dirty="0"/>
              <a:t>Only updates status flags after the execution</a:t>
            </a:r>
          </a:p>
          <a:p>
            <a:pPr algn="just"/>
            <a:r>
              <a:rPr lang="en-US" dirty="0"/>
              <a:t>Typically used to set the condition flags for conditional jumps</a:t>
            </a:r>
          </a:p>
          <a:p>
            <a:pPr algn="just"/>
            <a:r>
              <a:rPr lang="en-US" dirty="0"/>
              <a:t>CMP destination, source</a:t>
            </a:r>
          </a:p>
          <a:p>
            <a:pPr lvl="1" algn="just"/>
            <a:r>
              <a:rPr lang="en-US" dirty="0"/>
              <a:t>CMP AX, BX ; Compare AX and BX (sets flags based on AX - BX)</a:t>
            </a:r>
          </a:p>
          <a:p>
            <a:pPr lvl="1" algn="just"/>
            <a:r>
              <a:rPr lang="en-US" dirty="0"/>
              <a:t>AX will remain unaffected after execution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14226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CB6DB-BC12-9525-D5D9-244FEF0CE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Instruction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FBE30-F46E-CB3E-2ACA-3A58AE30D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Performs a bitwise AND operation between two operands but does not store the result. It only sets or clears the status flags based on the result.</a:t>
            </a:r>
          </a:p>
          <a:p>
            <a:pPr algn="just"/>
            <a:r>
              <a:rPr lang="en-US" dirty="0"/>
              <a:t>Commonly used to check if specific bits in a register or memory location are set.</a:t>
            </a:r>
          </a:p>
          <a:p>
            <a:pPr algn="just"/>
            <a:r>
              <a:rPr lang="en-US" dirty="0"/>
              <a:t>TEST destination, source</a:t>
            </a:r>
          </a:p>
          <a:p>
            <a:pPr lvl="1" algn="just"/>
            <a:r>
              <a:rPr lang="en-US" dirty="0"/>
              <a:t>TEST AL, 1 ; Test if the least significant bit of AL is set (sets flags based on AL AND 1)</a:t>
            </a:r>
          </a:p>
          <a:p>
            <a:pPr lvl="1" algn="just"/>
            <a:r>
              <a:rPr lang="en-US" dirty="0"/>
              <a:t>AL will remain unaffected after execution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12615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C3701-3B7E-D2A0-C467-56A4D34A2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Jumps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86E31-5022-45F5-921A-F36199A7C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Conditional jump instructions evaluate a specific condition (based on flags set by previous instructions like CMP or TEST before jumping.</a:t>
            </a:r>
          </a:p>
          <a:p>
            <a:r>
              <a:rPr lang="en-US" dirty="0"/>
              <a:t>Syntax: J&lt;condition&gt; label</a:t>
            </a:r>
          </a:p>
          <a:p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592191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68F4B-AB61-038D-7723-CD914D1D7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JE / JZ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33C963-20D5-0363-5144-3456A012D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Jump if equal</a:t>
            </a:r>
          </a:p>
          <a:p>
            <a:r>
              <a:rPr lang="en-US" dirty="0"/>
              <a:t>Jump if zero</a:t>
            </a:r>
          </a:p>
          <a:p>
            <a:r>
              <a:rPr lang="en-US" dirty="0"/>
              <a:t>ZF = 1 in both cases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CMP AX, BX ; Compare AX with BX </a:t>
            </a:r>
          </a:p>
          <a:p>
            <a:pPr lvl="1"/>
            <a:r>
              <a:rPr lang="en-US" dirty="0"/>
              <a:t>JE equal ; Jump to “equal” if AX equals BX (ZF=1)</a:t>
            </a:r>
          </a:p>
          <a:p>
            <a:r>
              <a:rPr lang="en-US" dirty="0"/>
              <a:t>JNE / JNZ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1340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CB85C-98FB-9457-862D-6FC0129EC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 – Single Flag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4B3AFE-FB71-C362-BF29-A2EE4928A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4521" y="2557463"/>
            <a:ext cx="4562957" cy="3599825"/>
          </a:xfrm>
        </p:spPr>
      </p:pic>
    </p:spTree>
    <p:extLst>
      <p:ext uri="{BB962C8B-B14F-4D97-AF65-F5344CB8AC3E}">
        <p14:creationId xmlns:p14="http://schemas.microsoft.com/office/powerpoint/2010/main" val="40699009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BC49A-5072-7389-6A72-C4E281FB4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DD282-B1CA-4297-8F0B-A71FF7474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 – Unsigned Comparison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72C5039-0D75-85FE-D35A-625F97C11C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03880" y="2529472"/>
            <a:ext cx="5184240" cy="3638064"/>
          </a:xfrm>
        </p:spPr>
      </p:pic>
    </p:spTree>
    <p:extLst>
      <p:ext uri="{BB962C8B-B14F-4D97-AF65-F5344CB8AC3E}">
        <p14:creationId xmlns:p14="http://schemas.microsoft.com/office/powerpoint/2010/main" val="40038448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FA8C0-734A-9BDC-39F8-438C3AAE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AF130-9CAB-73FD-3441-8DBFB9D3B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Jump – Signed Comparison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601821-B5BE-0EBF-8721-210C0395F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8735" y="2557463"/>
            <a:ext cx="5614529" cy="3563419"/>
          </a:xfrm>
        </p:spPr>
      </p:pic>
    </p:spTree>
    <p:extLst>
      <p:ext uri="{BB962C8B-B14F-4D97-AF65-F5344CB8AC3E}">
        <p14:creationId xmlns:p14="http://schemas.microsoft.com/office/powerpoint/2010/main" val="1635060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403F5-5A17-C0C8-B36F-B6C8D77A1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with Conditional Jumps</a:t>
            </a:r>
            <a:endParaRPr lang="en-PK" dirty="0"/>
          </a:p>
        </p:txBody>
      </p:sp>
      <p:pic>
        <p:nvPicPr>
          <p:cNvPr id="50" name="Content Placeholder 49">
            <a:extLst>
              <a:ext uri="{FF2B5EF4-FFF2-40B4-BE49-F238E27FC236}">
                <a16:creationId xmlns:a16="http://schemas.microsoft.com/office/drawing/2014/main" id="{A5EC8776-7897-7B6A-6392-A042F487BA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2904" y="3023120"/>
            <a:ext cx="6686191" cy="1926724"/>
          </a:xfrm>
        </p:spPr>
      </p:pic>
    </p:spTree>
    <p:extLst>
      <p:ext uri="{BB962C8B-B14F-4D97-AF65-F5344CB8AC3E}">
        <p14:creationId xmlns:p14="http://schemas.microsoft.com/office/powerpoint/2010/main" val="25645248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26C9-1D6B-A6C6-0AA9-D561E933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3762B-9680-CB38-8F89-68C26A94F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 manipulation involves operations that directly modify individual bits of a binary number.</a:t>
            </a:r>
          </a:p>
          <a:p>
            <a:pPr lvl="1"/>
            <a:r>
              <a:rPr lang="en-US" dirty="0"/>
              <a:t>Flipping bits (0 to 1 and vice versa)</a:t>
            </a:r>
          </a:p>
          <a:p>
            <a:pPr lvl="1"/>
            <a:r>
              <a:rPr lang="en-US" dirty="0"/>
              <a:t>Combine bits in different ways</a:t>
            </a:r>
          </a:p>
          <a:p>
            <a:pPr lvl="1"/>
            <a:r>
              <a:rPr lang="en-US" dirty="0"/>
              <a:t>Shifting bits left or right</a:t>
            </a:r>
          </a:p>
          <a:p>
            <a:r>
              <a:rPr lang="en-US" dirty="0"/>
              <a:t>Purpose: enhance efficiency and performance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89318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D60-ED53-74C1-53B2-360897C3E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Bitwise Operators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17FF0-F098-5841-6653-CCB553E1C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 (&amp;): Sets each bit to 1 if both corresponding bits are 1</a:t>
            </a:r>
          </a:p>
          <a:p>
            <a:r>
              <a:rPr lang="en-US" dirty="0"/>
              <a:t>OR (|): Sets each bit to 1 if at least one of the corresponding bits is 1</a:t>
            </a:r>
          </a:p>
          <a:p>
            <a:r>
              <a:rPr lang="en-US" dirty="0"/>
              <a:t>XOR (^): Sets each bit to 1 if only one of the corresponding bits is 1</a:t>
            </a:r>
          </a:p>
          <a:p>
            <a:r>
              <a:rPr lang="en-US" dirty="0"/>
              <a:t>NOT (~): Inverts all bits (flips 0 to 1 and 1 to 0)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584177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870B4-9328-2AA0-0791-B1D4F5E5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Operators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2C391-7071-022F-A6BB-A0DFA57CD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Left Shift Operation (&lt;&lt;)</a:t>
            </a:r>
          </a:p>
          <a:p>
            <a:pPr lvl="1" algn="just"/>
            <a:r>
              <a:rPr lang="en-US" dirty="0"/>
              <a:t>Moves all bits in a number to the left by a certain number of positions</a:t>
            </a:r>
          </a:p>
          <a:p>
            <a:pPr lvl="1" algn="just"/>
            <a:r>
              <a:rPr lang="en-US" dirty="0"/>
              <a:t>Zeros are added to the right side as the bits are shifted left</a:t>
            </a:r>
          </a:p>
          <a:p>
            <a:pPr lvl="1" algn="just"/>
            <a:r>
              <a:rPr lang="en-US" dirty="0"/>
              <a:t>The leftmost bits are discarded if they go beyond the fixed size of the bit representation</a:t>
            </a:r>
          </a:p>
          <a:p>
            <a:pPr lvl="1" algn="just"/>
            <a:r>
              <a:rPr lang="en-US" dirty="0"/>
              <a:t>For example:</a:t>
            </a:r>
          </a:p>
          <a:p>
            <a:pPr lvl="2" algn="just"/>
            <a:r>
              <a:rPr lang="en-US" dirty="0"/>
              <a:t>5 &lt;&lt; 1 = 1010	(</a:t>
            </a:r>
            <a:r>
              <a:rPr lang="en-US" dirty="0" err="1"/>
              <a:t>mul</a:t>
            </a:r>
            <a:r>
              <a:rPr lang="en-US" dirty="0"/>
              <a:t> 2</a:t>
            </a:r>
            <a:r>
              <a:rPr lang="en-US" baseline="30000" dirty="0"/>
              <a:t>1</a:t>
            </a:r>
            <a:r>
              <a:rPr lang="en-US" dirty="0"/>
              <a:t>)</a:t>
            </a:r>
          </a:p>
          <a:p>
            <a:pPr lvl="2" algn="just"/>
            <a:r>
              <a:rPr lang="en-US" dirty="0"/>
              <a:t>3&lt;&lt; 2 = 1100	(</a:t>
            </a:r>
            <a:r>
              <a:rPr lang="en-US" dirty="0" err="1"/>
              <a:t>mul</a:t>
            </a:r>
            <a:r>
              <a:rPr lang="en-US" dirty="0"/>
              <a:t> 2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lvl="2" algn="just"/>
            <a:r>
              <a:rPr lang="en-US" dirty="0"/>
              <a:t>65535 &lt;&lt; 1 = </a:t>
            </a: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1111111111111110 (leftmost 1 is discarded because of overflow)</a:t>
            </a:r>
          </a:p>
          <a:p>
            <a:pPr lvl="1" algn="just"/>
            <a:r>
              <a:rPr lang="en-US" dirty="0"/>
              <a:t>Multiplication by power of 2</a:t>
            </a:r>
          </a:p>
          <a:p>
            <a:pPr lvl="2" algn="just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30583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7CA3-0EB2-125C-6B75-F3B28B536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Right Shift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46679-C8B7-8884-0975-7AD2BD35F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Done in unsigned numbers</a:t>
            </a:r>
          </a:p>
          <a:p>
            <a:r>
              <a:rPr lang="en-US" dirty="0"/>
              <a:t>Bits are moved to the right</a:t>
            </a:r>
          </a:p>
          <a:p>
            <a:r>
              <a:rPr lang="en-US" dirty="0"/>
              <a:t>Zeros are added on the left</a:t>
            </a:r>
          </a:p>
          <a:p>
            <a:r>
              <a:rPr lang="en-US" dirty="0"/>
              <a:t>For example:</a:t>
            </a:r>
          </a:p>
          <a:p>
            <a:pPr lvl="1"/>
            <a:r>
              <a:rPr lang="en-US" dirty="0"/>
              <a:t>FF00 &gt;&gt; 1: 1111111100000000 &gt;&gt; 1 =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1111111100000000 = 7F00</a:t>
            </a:r>
          </a:p>
          <a:p>
            <a:pPr lvl="1"/>
            <a:r>
              <a:rPr lang="en-US" dirty="0"/>
              <a:t>18 &gt;&gt; 3: 10010 &gt;&gt; 3 = 00010 = 2</a:t>
            </a:r>
          </a:p>
          <a:p>
            <a:pPr lvl="1"/>
            <a:r>
              <a:rPr lang="en-US" dirty="0"/>
              <a:t>5 &gt;&gt; 2: 101 &gt;&gt; 2 = 001 = 1</a:t>
            </a:r>
          </a:p>
          <a:p>
            <a:r>
              <a:rPr lang="en-US" dirty="0"/>
              <a:t>Division by powers of 2</a:t>
            </a:r>
          </a:p>
          <a:p>
            <a:pPr lvl="1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136825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8422C-E9F6-C447-453E-8E0D5EBDC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Right Shift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2893F-FA79-725E-EE07-A531D3541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For signed numbers only</a:t>
            </a:r>
          </a:p>
          <a:p>
            <a:pPr algn="just"/>
            <a:r>
              <a:rPr lang="en-US" dirty="0"/>
              <a:t>Leftmost 1 is preserved to maintain the sign in negative numbers</a:t>
            </a:r>
          </a:p>
          <a:p>
            <a:pPr algn="just"/>
            <a:r>
              <a:rPr lang="en-US" dirty="0"/>
              <a:t>1s are added at left side instead of 0s</a:t>
            </a:r>
          </a:p>
          <a:p>
            <a:pPr algn="just"/>
            <a:r>
              <a:rPr lang="en-US" dirty="0"/>
              <a:t>For example:</a:t>
            </a:r>
          </a:p>
          <a:p>
            <a:pPr lvl="1" algn="just"/>
            <a:r>
              <a:rPr lang="en-PK" dirty="0"/>
              <a:t>-5 &gt;&gt; 2</a:t>
            </a:r>
            <a:r>
              <a:rPr lang="en-US" dirty="0"/>
              <a:t>: 1011 &gt;&gt; 2 = 1110 = -2		11</a:t>
            </a:r>
            <a:r>
              <a:rPr lang="en-US" dirty="0">
                <a:solidFill>
                  <a:srgbClr val="FF0000"/>
                </a:solidFill>
              </a:rPr>
              <a:t>10 - -</a:t>
            </a:r>
            <a:endParaRPr lang="en-US" dirty="0"/>
          </a:p>
          <a:p>
            <a:pPr lvl="1" algn="just"/>
            <a:r>
              <a:rPr lang="en-PK" dirty="0"/>
              <a:t>-1000 &gt;&gt; 3</a:t>
            </a:r>
            <a:r>
              <a:rPr lang="en-US" dirty="0"/>
              <a:t>: </a:t>
            </a:r>
            <a:r>
              <a:rPr lang="en-PK" dirty="0"/>
              <a:t>1011100000</a:t>
            </a:r>
            <a:r>
              <a:rPr lang="en-US" dirty="0"/>
              <a:t> &gt;&gt; 3 = 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PK" dirty="0"/>
              <a:t>1011100</a:t>
            </a:r>
            <a:r>
              <a:rPr lang="en-US" dirty="0"/>
              <a:t> = -125 	</a:t>
            </a:r>
            <a:r>
              <a:rPr lang="en-PK" dirty="0"/>
              <a:t> </a:t>
            </a:r>
            <a:r>
              <a:rPr lang="en-US" dirty="0">
                <a:solidFill>
                  <a:srgbClr val="FF0000"/>
                </a:solidFill>
              </a:rPr>
              <a:t>- - -</a:t>
            </a:r>
          </a:p>
          <a:p>
            <a:pPr lvl="1" algn="just"/>
            <a:r>
              <a:rPr lang="en-US" dirty="0"/>
              <a:t>0xA0 &gt;&gt; 2: </a:t>
            </a:r>
            <a:r>
              <a:rPr lang="en-PK" dirty="0"/>
              <a:t>10100000 &gt;&gt; 2 = 11101000</a:t>
            </a:r>
            <a:r>
              <a:rPr lang="en-US" dirty="0"/>
              <a:t> = 0xE8		</a:t>
            </a:r>
            <a:r>
              <a:rPr lang="en-PK" dirty="0"/>
              <a:t> 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US" b="1" dirty="0"/>
              <a:t>1</a:t>
            </a:r>
            <a:r>
              <a:rPr lang="en-US" dirty="0"/>
              <a:t> </a:t>
            </a:r>
            <a:r>
              <a:rPr lang="en-PK" dirty="0"/>
              <a:t>101000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- -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238455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528A-833B-F151-8C16-1CB21BA32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229A7-A513-C39C-8BA7-6BCFAFCA6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Rotate Left (ROL):</a:t>
            </a:r>
          </a:p>
          <a:p>
            <a:pPr lvl="1"/>
            <a:r>
              <a:rPr lang="en-US" dirty="0"/>
              <a:t>Shifts all bits of a value to the left</a:t>
            </a:r>
          </a:p>
          <a:p>
            <a:pPr lvl="1"/>
            <a:r>
              <a:rPr lang="en-US" dirty="0"/>
              <a:t>The leftmost bit (the most significant bit) is moved into the rightmost bit position (the least significant bit)</a:t>
            </a:r>
          </a:p>
          <a:p>
            <a:pPr lvl="1"/>
            <a:r>
              <a:rPr lang="en-US" dirty="0"/>
              <a:t>The other bits are shifted one position to the left</a:t>
            </a:r>
          </a:p>
          <a:p>
            <a:pPr lvl="1"/>
            <a:r>
              <a:rPr lang="en-US" dirty="0"/>
              <a:t>For Example:</a:t>
            </a:r>
          </a:p>
          <a:p>
            <a:pPr lvl="2"/>
            <a:r>
              <a:rPr lang="en-US" dirty="0"/>
              <a:t>0001 1101 (29) = 0011 1010 (58)		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0011 101</a:t>
            </a:r>
            <a:r>
              <a:rPr lang="en-US" dirty="0">
                <a:solidFill>
                  <a:srgbClr val="FF0000"/>
                </a:solidFill>
              </a:rPr>
              <a:t>0</a:t>
            </a:r>
            <a:endParaRPr lang="en-US" dirty="0"/>
          </a:p>
          <a:p>
            <a:pPr lvl="2"/>
            <a:r>
              <a:rPr lang="en-PK" dirty="0"/>
              <a:t>0101 1100</a:t>
            </a:r>
            <a:r>
              <a:rPr lang="en-US" dirty="0"/>
              <a:t> (92) = 1011 1000 (184)</a:t>
            </a:r>
          </a:p>
          <a:p>
            <a:pPr lvl="2"/>
            <a:r>
              <a:rPr lang="en-US" dirty="0"/>
              <a:t>1100 1011 (203) = 1001 0111 (151)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422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CA330-47A1-DA7F-2E53-D9839006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40D6F-08C7-E429-FE7B-1218347BA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Rotations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046E0-671A-C792-221F-52D667A8A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Rotate Right (ROR):</a:t>
            </a:r>
          </a:p>
          <a:p>
            <a:pPr lvl="1"/>
            <a:r>
              <a:rPr lang="en-US" dirty="0"/>
              <a:t>Shifts all bits of a value to the right</a:t>
            </a:r>
          </a:p>
          <a:p>
            <a:pPr lvl="1"/>
            <a:r>
              <a:rPr lang="en-US" dirty="0"/>
              <a:t>The rightmost bit (the least significant bit) is moved into the leftmost bit position (the most significant bit)</a:t>
            </a:r>
          </a:p>
          <a:p>
            <a:pPr lvl="1"/>
            <a:r>
              <a:rPr lang="en-US" dirty="0"/>
              <a:t>The other bits are shifted one position to the right</a:t>
            </a:r>
          </a:p>
          <a:p>
            <a:pPr lvl="1"/>
            <a:r>
              <a:rPr lang="en-US" dirty="0"/>
              <a:t>For Example:</a:t>
            </a:r>
          </a:p>
          <a:p>
            <a:pPr lvl="2"/>
            <a:r>
              <a:rPr lang="en-US" dirty="0"/>
              <a:t>0001 1101 (29) = 1000 1110 (142)		1000 1110	 </a:t>
            </a:r>
            <a:r>
              <a:rPr lang="en-US" dirty="0">
                <a:solidFill>
                  <a:srgbClr val="FF0000"/>
                </a:solidFill>
              </a:rPr>
              <a:t>1</a:t>
            </a:r>
            <a:r>
              <a:rPr lang="en-US" dirty="0"/>
              <a:t>000 1110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PK" dirty="0"/>
              <a:t>0110 0101</a:t>
            </a:r>
            <a:r>
              <a:rPr lang="en-US" dirty="0"/>
              <a:t> (101) = 1011 0010 (178)</a:t>
            </a:r>
          </a:p>
          <a:p>
            <a:pPr lvl="2"/>
            <a:r>
              <a:rPr lang="en-PK" dirty="0"/>
              <a:t>1111 0001</a:t>
            </a:r>
            <a:r>
              <a:rPr lang="en-US" dirty="0"/>
              <a:t> (241) = 1111 1000 (232)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452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574</TotalTime>
  <Words>1470</Words>
  <Application>Microsoft Office PowerPoint</Application>
  <PresentationFormat>Widescreen</PresentationFormat>
  <Paragraphs>171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Garamond</vt:lpstr>
      <vt:lpstr>Organic</vt:lpstr>
      <vt:lpstr>COAL</vt:lpstr>
      <vt:lpstr>Data Types</vt:lpstr>
      <vt:lpstr>Variable Declaration and Initialization</vt:lpstr>
      <vt:lpstr>Examples</vt:lpstr>
      <vt:lpstr>Data Segment Handling</vt:lpstr>
      <vt:lpstr>ALU Operations on Variables</vt:lpstr>
      <vt:lpstr>Arrays</vt:lpstr>
      <vt:lpstr>Defining Arrays in 8086</vt:lpstr>
      <vt:lpstr>Accessing Array Elements</vt:lpstr>
      <vt:lpstr>Cont.</vt:lpstr>
      <vt:lpstr>Using Loop to Process Arrays</vt:lpstr>
      <vt:lpstr>Modifying Array Elements</vt:lpstr>
      <vt:lpstr>Jump Instruction</vt:lpstr>
      <vt:lpstr>Unconditional Jump</vt:lpstr>
      <vt:lpstr>Distance wise JMP</vt:lpstr>
      <vt:lpstr>CMP Instruction</vt:lpstr>
      <vt:lpstr>Test Instruction</vt:lpstr>
      <vt:lpstr>Conditional Jumps</vt:lpstr>
      <vt:lpstr>JE / JZ</vt:lpstr>
      <vt:lpstr>Jump – Single Flag</vt:lpstr>
      <vt:lpstr>Jump – Unsigned Comparison</vt:lpstr>
      <vt:lpstr>Jump – Signed Comparison</vt:lpstr>
      <vt:lpstr>Looping with Conditional Jumps</vt:lpstr>
      <vt:lpstr>Bit Manipulation</vt:lpstr>
      <vt:lpstr>Basic Bitwise Operators</vt:lpstr>
      <vt:lpstr>Shift Operators</vt:lpstr>
      <vt:lpstr>Logical Right Shift</vt:lpstr>
      <vt:lpstr>Arithmetic Right Shift</vt:lpstr>
      <vt:lpstr>Rotations</vt:lpstr>
      <vt:lpstr>Rotations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Sehar Ali</cp:lastModifiedBy>
  <cp:revision>41</cp:revision>
  <dcterms:created xsi:type="dcterms:W3CDTF">2023-10-17T17:30:28Z</dcterms:created>
  <dcterms:modified xsi:type="dcterms:W3CDTF">2025-10-19T10:39:02Z</dcterms:modified>
</cp:coreProperties>
</file>