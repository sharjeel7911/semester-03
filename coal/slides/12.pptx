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3" r:id="rId9"/>
    <p:sldId id="264" r:id="rId10"/>
    <p:sldId id="265" r:id="rId11"/>
    <p:sldId id="280" r:id="rId12"/>
    <p:sldId id="266" r:id="rId13"/>
    <p:sldId id="267" r:id="rId14"/>
    <p:sldId id="278" r:id="rId15"/>
    <p:sldId id="268" r:id="rId16"/>
    <p:sldId id="269" r:id="rId17"/>
    <p:sldId id="270" r:id="rId18"/>
    <p:sldId id="271" r:id="rId19"/>
    <p:sldId id="272" r:id="rId20"/>
    <p:sldId id="281" r:id="rId21"/>
    <p:sldId id="282" r:id="rId22"/>
    <p:sldId id="279" r:id="rId23"/>
    <p:sldId id="273" r:id="rId24"/>
    <p:sldId id="274" r:id="rId25"/>
    <p:sldId id="275" r:id="rId26"/>
    <p:sldId id="276" r:id="rId27"/>
    <p:sldId id="277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18" autoAdjust="0"/>
  </p:normalViewPr>
  <p:slideViewPr>
    <p:cSldViewPr snapToGrid="0">
      <p:cViewPr varScale="1">
        <p:scale>
          <a:sx n="77" d="100"/>
          <a:sy n="77" d="100"/>
        </p:scale>
        <p:origin x="88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A82F45-1B78-41B9-B96E-3130AAEF4743}" type="datetimeFigureOut">
              <a:rPr lang="en-PK" smtClean="0"/>
              <a:t>29/12/2025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DBF62-3935-47A4-8AA6-46EC8BC35C7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14860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Data Parallelism</a:t>
            </a:r>
            <a:r>
              <a:rPr lang="en-US" dirty="0"/>
              <a:t>: Focuses on dividing data. </a:t>
            </a:r>
            <a:r>
              <a:rPr lang="en-US" b="1" dirty="0"/>
              <a:t>Task Parallelism</a:t>
            </a:r>
            <a:r>
              <a:rPr lang="en-US" dirty="0"/>
              <a:t>: Focuses on dividing tasks.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DBF62-3935-47A4-8AA6-46EC8BC35C77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81713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size = 8;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array1[size] = { 12,2,3,4,5,6,7,8 };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array2[size] = { 1,7,8,9,10,11,12,13 };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array3[size];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__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asm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movq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mm0, [array1]</a:t>
            </a:r>
          </a:p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move 8 bytes from address pointed by array1 to mm0 register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movq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mm1, [array2]</a:t>
            </a:r>
          </a:p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move 8 bytes from address pointed by array2 to mm1 register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paddb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mm0, mm1</a:t>
            </a:r>
          </a:p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add corresponding bytes of mm0 and mm1 and store result to mm0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movq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[array3], mm0</a:t>
            </a:r>
          </a:p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mov 8 bytes from mm0 to address pointed by array3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emms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clearing multimedia state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size; i++)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"Sum of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)array1[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and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)array2[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is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)array3[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DBF62-3935-47A4-8AA6-46EC8BC35C77}" type="slidenum">
              <a:rPr lang="en-PK" smtClean="0"/>
              <a:t>24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09162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size = 6;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array1[size] = { 1,2,3,4,5,6 };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array2[size];</a:t>
            </a:r>
          </a:p>
          <a:p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size * 4; i = i + 8)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__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asm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it-IT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 esi, i</a:t>
            </a:r>
            <a:r>
              <a:rPr lang="it-IT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mov i to esi register</a:t>
            </a:r>
            <a:endParaRPr lang="it-IT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movq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mm0, [array1 +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moving 8 bytes from address pointed by array1 +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esi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pslld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mm0, 1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Shifting left every double word in mm0 register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movq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[array2 +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], mm0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//moving contents of mm0 to memory pointed by array2 +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esi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emms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clearing mmx state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size; i++)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"Sum of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)array2[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DBF62-3935-47A4-8AA6-46EC8BC35C77}" type="slidenum">
              <a:rPr lang="en-PK" smtClean="0"/>
              <a:t>25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733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size = 8;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array1[size] = { 25,50,80,110,125,127,30,90 };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array2[size] = { 100,100,100,100,100,100,100,100 };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array3[size];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sum = 0;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__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asm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movq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mm0, [array1]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moving 8 bytes from array1 to mm0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movq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mm1, [array2]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moving 8 bytes from array2 to mm1 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pcmpgtb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mm0, mm1</a:t>
            </a:r>
          </a:p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/*/ 0xFF will replace bytes in mm0 that are greater than the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corresponding bytes in mm1 and 0x00 will replace bytes in mm0 that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are less than the corresponding bytes in mm1 /*/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pand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mm0, [array1]</a:t>
            </a:r>
          </a:p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/*/ After bitwise and operation, mm0 will contain bytes that will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 greater than 100 /*/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movq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[array3], mm0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moving mm0 to array3 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emms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size; i++)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 += array3[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];</a:t>
            </a: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"Sum of numbers greater than 100 is: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sum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DBF62-3935-47A4-8AA6-46EC8BC35C77}" type="slidenum">
              <a:rPr lang="en-PK" smtClean="0"/>
              <a:t>26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22743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#include&lt;iostream&gt;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using namespace std;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int main()</a:t>
            </a:r>
          </a:p>
          <a:p>
            <a:r>
              <a:rPr lang="en-PK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const int size = 4;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short int array1[] = { 2,3,4,5 };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short int array2[] = { 1,2,3,4 };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short int array3[size];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__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asm</a:t>
            </a:r>
            <a:endParaRPr lang="en-US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PK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movq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mm0, [array1] // moving 8 bytes from array1 to mm0</a:t>
            </a:r>
          </a:p>
          <a:p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movq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mm1, [array2] // moving 8 bytes from array2 to mm1</a:t>
            </a:r>
          </a:p>
          <a:p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pmullw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mm0, mm1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/*/ multiply corresponding word of mm0 and mm1 and store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the lower word to mm0/*/</a:t>
            </a:r>
          </a:p>
          <a:p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movq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[array3], mm0 //moving product to array3</a:t>
            </a:r>
          </a:p>
          <a:p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emms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// clearing multimedia state</a:t>
            </a:r>
          </a:p>
          <a:p>
            <a:r>
              <a:rPr lang="en-PK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}</a:t>
            </a:r>
          </a:p>
          <a:p>
            <a:r>
              <a:rPr lang="nn-NO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for (int i = 0; i &lt; size; i++)</a:t>
            </a:r>
          </a:p>
          <a:p>
            <a:r>
              <a:rPr lang="en-PK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cout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&lt;&lt; "Product of " &lt;&lt; (int)array1[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] &lt;&lt; " and " &lt;&lt;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(int)array2[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] &lt;&lt; " is " &lt;&lt; (int)array3[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] &lt;&lt;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endl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PK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return 0;</a:t>
            </a:r>
          </a:p>
          <a:p>
            <a:r>
              <a:rPr lang="en-PK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DBF62-3935-47A4-8AA6-46EC8BC35C77}" type="slidenum">
              <a:rPr lang="en-PK" smtClean="0"/>
              <a:t>27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94651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8F43656-4F49-40DF-ACA5-ABF43FEC2AFB}" type="datetimeFigureOut">
              <a:rPr lang="en-PK" smtClean="0"/>
              <a:t>29/12/2025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2F9081C-5858-48E1-852A-2083F07CFC73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587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3656-4F49-40DF-ACA5-ABF43FEC2AFB}" type="datetimeFigureOut">
              <a:rPr lang="en-PK" smtClean="0"/>
              <a:t>29/12/2025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081C-5858-48E1-852A-2083F07CFC7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9390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3656-4F49-40DF-ACA5-ABF43FEC2AFB}" type="datetimeFigureOut">
              <a:rPr lang="en-PK" smtClean="0"/>
              <a:t>29/12/2025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081C-5858-48E1-852A-2083F07CFC73}" type="slidenum">
              <a:rPr lang="en-PK" smtClean="0"/>
              <a:t>‹#›</a:t>
            </a:fld>
            <a:endParaRPr lang="en-PK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079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3656-4F49-40DF-ACA5-ABF43FEC2AFB}" type="datetimeFigureOut">
              <a:rPr lang="en-PK" smtClean="0"/>
              <a:t>29/12/2025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081C-5858-48E1-852A-2083F07CFC7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92952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3656-4F49-40DF-ACA5-ABF43FEC2AFB}" type="datetimeFigureOut">
              <a:rPr lang="en-PK" smtClean="0"/>
              <a:t>29/12/2025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081C-5858-48E1-852A-2083F07CFC73}" type="slidenum">
              <a:rPr lang="en-PK" smtClean="0"/>
              <a:t>‹#›</a:t>
            </a:fld>
            <a:endParaRPr lang="en-PK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863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3656-4F49-40DF-ACA5-ABF43FEC2AFB}" type="datetimeFigureOut">
              <a:rPr lang="en-PK" smtClean="0"/>
              <a:t>29/12/2025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081C-5858-48E1-852A-2083F07CFC73}" type="slidenum">
              <a:rPr lang="en-PK" smtClean="0"/>
              <a:t>‹#›</a:t>
            </a:fld>
            <a:endParaRPr lang="en-PK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010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3656-4F49-40DF-ACA5-ABF43FEC2AFB}" type="datetimeFigureOut">
              <a:rPr lang="en-PK" smtClean="0"/>
              <a:t>29/12/2025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081C-5858-48E1-852A-2083F07CFC7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43766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3656-4F49-40DF-ACA5-ABF43FEC2AFB}" type="datetimeFigureOut">
              <a:rPr lang="en-PK" smtClean="0"/>
              <a:t>29/12/2025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081C-5858-48E1-852A-2083F07CFC73}" type="slidenum">
              <a:rPr lang="en-PK" smtClean="0"/>
              <a:t>‹#›</a:t>
            </a:fld>
            <a:endParaRPr lang="en-PK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06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3656-4F49-40DF-ACA5-ABF43FEC2AFB}" type="datetimeFigureOut">
              <a:rPr lang="en-PK" smtClean="0"/>
              <a:t>29/12/2025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081C-5858-48E1-852A-2083F07CFC7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96058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3656-4F49-40DF-ACA5-ABF43FEC2AFB}" type="datetimeFigureOut">
              <a:rPr lang="en-PK" smtClean="0"/>
              <a:t>29/12/2025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081C-5858-48E1-852A-2083F07CFC7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93211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3656-4F49-40DF-ACA5-ABF43FEC2AFB}" type="datetimeFigureOut">
              <a:rPr lang="en-PK" smtClean="0"/>
              <a:t>29/12/2025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081C-5858-48E1-852A-2083F07CFC73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119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3656-4F49-40DF-ACA5-ABF43FEC2AFB}" type="datetimeFigureOut">
              <a:rPr lang="en-PK" smtClean="0"/>
              <a:t>29/12/2025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081C-5858-48E1-852A-2083F07CFC73}" type="slidenum">
              <a:rPr lang="en-PK" smtClean="0"/>
              <a:t>‹#›</a:t>
            </a:fld>
            <a:endParaRPr lang="en-PK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0880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3656-4F49-40DF-ACA5-ABF43FEC2AFB}" type="datetimeFigureOut">
              <a:rPr lang="en-PK" smtClean="0"/>
              <a:t>29/12/2025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081C-5858-48E1-852A-2083F07CFC7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6173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3656-4F49-40DF-ACA5-ABF43FEC2AFB}" type="datetimeFigureOut">
              <a:rPr lang="en-PK" smtClean="0"/>
              <a:t>29/12/2025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081C-5858-48E1-852A-2083F07CFC73}" type="slidenum">
              <a:rPr lang="en-PK" smtClean="0"/>
              <a:t>‹#›</a:t>
            </a:fld>
            <a:endParaRPr lang="en-PK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02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3656-4F49-40DF-ACA5-ABF43FEC2AFB}" type="datetimeFigureOut">
              <a:rPr lang="en-PK" smtClean="0"/>
              <a:t>29/12/2025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081C-5858-48E1-852A-2083F07CFC73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75500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3656-4F49-40DF-ACA5-ABF43FEC2AFB}" type="datetimeFigureOut">
              <a:rPr lang="en-PK" smtClean="0"/>
              <a:t>29/12/2025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081C-5858-48E1-852A-2083F07CFC73}" type="slidenum">
              <a:rPr lang="en-PK" smtClean="0"/>
              <a:t>‹#›</a:t>
            </a:fld>
            <a:endParaRPr lang="en-PK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420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3656-4F49-40DF-ACA5-ABF43FEC2AFB}" type="datetimeFigureOut">
              <a:rPr lang="en-PK" smtClean="0"/>
              <a:t>29/12/2025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081C-5858-48E1-852A-2083F07CFC73}" type="slidenum">
              <a:rPr lang="en-PK" smtClean="0"/>
              <a:t>‹#›</a:t>
            </a:fld>
            <a:endParaRPr lang="en-PK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812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8F43656-4F49-40DF-ACA5-ABF43FEC2AFB}" type="datetimeFigureOut">
              <a:rPr lang="en-PK" smtClean="0"/>
              <a:t>29/12/2025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2F9081C-5858-48E1-852A-2083F07CFC7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93029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505D-D995-5291-5FA0-8F0AC7762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MMX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E04540-E04E-153A-FB67-C42F1B7F09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12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12652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1031-4B5E-C248-9F98-76A3DD6DB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31F9-49BC-97C7-DB9E-6B505CFB7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MMX (</a:t>
            </a:r>
            <a:r>
              <a:rPr lang="en-US" dirty="0" err="1"/>
              <a:t>MultiMedia</a:t>
            </a:r>
            <a:r>
              <a:rPr lang="en-US" dirty="0"/>
              <a:t> </a:t>
            </a:r>
            <a:r>
              <a:rPr lang="en-US" dirty="0" err="1"/>
              <a:t>eXtension</a:t>
            </a:r>
            <a:r>
              <a:rPr lang="en-US" dirty="0"/>
              <a:t>) is a set of instructions introduced by Intel to improve the performance of multimedia and data processing tasks, like image, audio, and video processing.</a:t>
            </a:r>
          </a:p>
          <a:p>
            <a:pPr algn="just"/>
            <a:r>
              <a:rPr lang="en-US" dirty="0"/>
              <a:t>It uses </a:t>
            </a:r>
            <a:r>
              <a:rPr lang="en-US" b="1" dirty="0"/>
              <a:t>SIMD (Single Instruction, Multiple Data)</a:t>
            </a:r>
            <a:r>
              <a:rPr lang="en-US" dirty="0"/>
              <a:t>, which means one instruction can process multiple pieces of data at once.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59169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5696C-01B8-0AE8-3088-4218AE70B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SIMD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C942A-A148-3AD7-3389-04CE55B05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Single Instruction works on Multiple Data</a:t>
            </a:r>
          </a:p>
          <a:p>
            <a:r>
              <a:rPr lang="en-US" dirty="0"/>
              <a:t>Is there a way to manipulate array data with single instruction while working with General Purpose Registers (GPRs)?</a:t>
            </a:r>
          </a:p>
          <a:p>
            <a:pPr lvl="1"/>
            <a:r>
              <a:rPr lang="en-US" dirty="0"/>
              <a:t>No, we need indexing (offset + index; [BX+SI])</a:t>
            </a:r>
          </a:p>
          <a:p>
            <a:r>
              <a:rPr lang="en-US" dirty="0"/>
              <a:t>Time consuming</a:t>
            </a:r>
          </a:p>
          <a:p>
            <a:r>
              <a:rPr lang="en-US" dirty="0"/>
              <a:t>Less efficient</a:t>
            </a:r>
          </a:p>
          <a:p>
            <a:r>
              <a:rPr lang="en-US" dirty="0"/>
              <a:t>Need a method that works on all elements of array parallelly</a:t>
            </a:r>
          </a:p>
          <a:p>
            <a:r>
              <a:rPr lang="en-US" dirty="0"/>
              <a:t>Data must be </a:t>
            </a:r>
            <a:r>
              <a:rPr lang="en-US" i="1" dirty="0"/>
              <a:t>packed</a:t>
            </a:r>
            <a:r>
              <a:rPr lang="en-US" dirty="0"/>
              <a:t> into a vector 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61775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3ABED-484A-19C2-5FC7-76DAB6125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SIMD Registers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45AEE-95D9-6533-932A-7F5B240DB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GPRs only work on scalar (one value at a time) data </a:t>
            </a:r>
          </a:p>
          <a:p>
            <a:r>
              <a:rPr lang="en-US" dirty="0"/>
              <a:t>They do not support SIMD</a:t>
            </a:r>
          </a:p>
          <a:p>
            <a:r>
              <a:rPr lang="en-US" dirty="0"/>
              <a:t>SIMDS needs 64 bit storage space as registers.</a:t>
            </a:r>
          </a:p>
          <a:p>
            <a:r>
              <a:rPr lang="en-US" dirty="0"/>
              <a:t>Makes use of Floating Point Unit (FPU) registers</a:t>
            </a:r>
          </a:p>
          <a:p>
            <a:r>
              <a:rPr lang="en-US" dirty="0"/>
              <a:t>FPU is a part of CPU designated to perform operations on floating point data</a:t>
            </a:r>
          </a:p>
          <a:p>
            <a:r>
              <a:rPr lang="en-US" dirty="0"/>
              <a:t>MMX uses these FP registers to manipulate integer data only</a:t>
            </a:r>
          </a:p>
        </p:txBody>
      </p:sp>
    </p:spTree>
    <p:extLst>
      <p:ext uri="{BB962C8B-B14F-4D97-AF65-F5344CB8AC3E}">
        <p14:creationId xmlns:p14="http://schemas.microsoft.com/office/powerpoint/2010/main" val="1864360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3FD02-D769-E134-8F68-2856FC4D0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SIMD Registers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42E5D-F60B-7B64-4A36-D1B9BC819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Eight 80 bit registers, out which only least 64 bits are used for MMX</a:t>
            </a:r>
          </a:p>
          <a:p>
            <a:r>
              <a:rPr lang="en-US" dirty="0"/>
              <a:t>MMX0 … MMX7</a:t>
            </a:r>
          </a:p>
          <a:p>
            <a:r>
              <a:rPr lang="en-US" dirty="0"/>
              <a:t>Stacked together, keeping MMX0 on top</a:t>
            </a:r>
          </a:p>
          <a:p>
            <a:r>
              <a:rPr lang="en-US" dirty="0"/>
              <a:t>Switching modes between FPU and MMX</a:t>
            </a:r>
          </a:p>
          <a:p>
            <a:pPr lvl="1"/>
            <a:r>
              <a:rPr lang="en-US" dirty="0"/>
              <a:t>EMMS instruction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C13DE1-4D7F-DAD7-290D-E957C1912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051" y="3187486"/>
            <a:ext cx="3189546" cy="295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32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5A10F-9A86-EF8F-FB03-A3E766EF7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SIMD for MMX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AFA95-A520-89C7-1E7D-0D10F7339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MMX is used for image, audio or video processing</a:t>
            </a:r>
          </a:p>
          <a:p>
            <a:r>
              <a:rPr lang="en-US" dirty="0"/>
              <a:t>Bulk data has to be processed like;</a:t>
            </a:r>
          </a:p>
          <a:p>
            <a:pPr lvl="1"/>
            <a:r>
              <a:rPr lang="en-US" dirty="0"/>
              <a:t>Processing pixels of an image</a:t>
            </a:r>
          </a:p>
          <a:p>
            <a:pPr lvl="1"/>
            <a:r>
              <a:rPr lang="en-US" dirty="0"/>
              <a:t>Applying filters or transformations to audio samples</a:t>
            </a:r>
          </a:p>
          <a:p>
            <a:pPr lvl="1"/>
            <a:r>
              <a:rPr lang="en-US" dirty="0"/>
              <a:t>Applying effects frame by frame on video samples</a:t>
            </a:r>
          </a:p>
          <a:p>
            <a:pPr lvl="1"/>
            <a:r>
              <a:rPr lang="en-US" dirty="0"/>
              <a:t>Matrix multiplication</a:t>
            </a:r>
          </a:p>
          <a:p>
            <a:pPr lvl="1"/>
            <a:r>
              <a:rPr lang="en-US" dirty="0"/>
              <a:t>Calculations for animations in games</a:t>
            </a:r>
          </a:p>
          <a:p>
            <a:r>
              <a:rPr lang="en-US" dirty="0"/>
              <a:t>If GPRs are used, the processing will take a lot of time.</a:t>
            </a:r>
          </a:p>
        </p:txBody>
      </p:sp>
    </p:spTree>
    <p:extLst>
      <p:ext uri="{BB962C8B-B14F-4D97-AF65-F5344CB8AC3E}">
        <p14:creationId xmlns:p14="http://schemas.microsoft.com/office/powerpoint/2010/main" val="3551748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5F488-EB28-E369-E63C-F186FCBCC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AE2CE-3542-F6EA-E0A0-45302D820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MMX operates on </a:t>
            </a:r>
            <a:r>
              <a:rPr lang="en-US" b="1" dirty="0"/>
              <a:t>64-bit registers</a:t>
            </a:r>
            <a:r>
              <a:rPr lang="en-US" dirty="0"/>
              <a:t> (reusing the floating-point registers).</a:t>
            </a:r>
          </a:p>
          <a:p>
            <a:pPr algn="just"/>
            <a:r>
              <a:rPr lang="en-US" dirty="0"/>
              <a:t>It works with </a:t>
            </a:r>
            <a:r>
              <a:rPr lang="en-US" b="1" dirty="0"/>
              <a:t>integer data types</a:t>
            </a:r>
            <a:r>
              <a:rPr lang="en-US" dirty="0"/>
              <a:t> (e.g., bytes, words, double words).</a:t>
            </a:r>
          </a:p>
          <a:p>
            <a:pPr algn="just"/>
            <a:r>
              <a:rPr lang="en-US" dirty="0"/>
              <a:t>Commonly used for operations like adding, multiplying, or shifting multiple data values simultaneously.</a:t>
            </a:r>
          </a:p>
          <a:p>
            <a:pPr algn="just"/>
            <a:r>
              <a:rPr lang="en-US" dirty="0"/>
              <a:t>It makes multimedia tasks faster by processing data in parallel instead of one at a time.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5849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8A09-B443-EAD1-FC2C-E428AF314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36C98-D6AF-2CF8-F04B-648833214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Works only on integer data, not FP</a:t>
            </a:r>
          </a:p>
          <a:p>
            <a:r>
              <a:rPr lang="en-US" dirty="0"/>
              <a:t>Applies uniform operation of all data elements</a:t>
            </a:r>
          </a:p>
          <a:p>
            <a:r>
              <a:rPr lang="en-US" dirty="0"/>
              <a:t>Cannot work on irregular data structures like linked lists, trees</a:t>
            </a:r>
          </a:p>
          <a:p>
            <a:r>
              <a:rPr lang="en-US" dirty="0"/>
              <a:t>Performing division operation is challenging because of irregular pattern</a:t>
            </a:r>
          </a:p>
          <a:p>
            <a:r>
              <a:rPr lang="en-US" dirty="0"/>
              <a:t>Performs well with data-parallel processes rather than task-parallel processes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60180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B816-DDBB-B5E0-2029-3367FAD0D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 of MMX Registers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E9ACC3-683D-1B06-0B5B-33C2B0CCD9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1609" y="2538802"/>
            <a:ext cx="2788781" cy="3639976"/>
          </a:xfrm>
        </p:spPr>
      </p:pic>
    </p:spTree>
    <p:extLst>
      <p:ext uri="{BB962C8B-B14F-4D97-AF65-F5344CB8AC3E}">
        <p14:creationId xmlns:p14="http://schemas.microsoft.com/office/powerpoint/2010/main" val="3716228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F123A-F139-ECDB-3E37-D54751A39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MMX Operations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67B488-48F6-091C-ACE7-1FA9FC930A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0349" y="2737938"/>
            <a:ext cx="4731302" cy="2935074"/>
          </a:xfrm>
        </p:spPr>
      </p:pic>
    </p:spTree>
    <p:extLst>
      <p:ext uri="{BB962C8B-B14F-4D97-AF65-F5344CB8AC3E}">
        <p14:creationId xmlns:p14="http://schemas.microsoft.com/office/powerpoint/2010/main" val="490517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6B732ED1-3D4C-4777-AA79-F10D192F1F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56892" y="951880"/>
            <a:ext cx="8912225" cy="1281112"/>
          </a:xfrm>
        </p:spPr>
        <p:txBody>
          <a:bodyPr/>
          <a:lstStyle/>
          <a:p>
            <a:r>
              <a:rPr lang="en-US" altLang="en-PK" sz="2800" b="1" dirty="0"/>
              <a:t>Pack: </a:t>
            </a:r>
            <a:r>
              <a:rPr lang="en-US" altLang="en-PK" sz="2800" dirty="0"/>
              <a:t>The PACK instructions in MMX are used to pack data elements from two MMX registers into a single MMX register</a:t>
            </a:r>
          </a:p>
        </p:txBody>
      </p:sp>
      <p:pic>
        <p:nvPicPr>
          <p:cNvPr id="29699" name="Content Placeholder 5">
            <a:extLst>
              <a:ext uri="{FF2B5EF4-FFF2-40B4-BE49-F238E27FC236}">
                <a16:creationId xmlns:a16="http://schemas.microsoft.com/office/drawing/2014/main" id="{16C9BEB6-CEF6-ED2D-678A-FC7999E5C6A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53717" y="2679700"/>
            <a:ext cx="8915400" cy="34290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40E9C-1B8B-EE8C-3286-9931483E0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923F8A-CC57-46F7-8111-921122E96AB5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16A9E-C568-8540-C835-5350F661E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MMX Instruction Set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0A1C19-EF2F-995C-1204-5D12710876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7192" y="2557463"/>
            <a:ext cx="2960563" cy="3614485"/>
          </a:xfrm>
        </p:spPr>
      </p:pic>
    </p:spTree>
    <p:extLst>
      <p:ext uri="{BB962C8B-B14F-4D97-AF65-F5344CB8AC3E}">
        <p14:creationId xmlns:p14="http://schemas.microsoft.com/office/powerpoint/2010/main" val="1102623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42CEA-ED18-D08B-1059-3726FCA18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 Around Add</a:t>
            </a:r>
            <a:endParaRPr lang="en-P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809FEB-F5D9-F169-0925-760559262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Suppose, we are dealing with 16 bit packed data</a:t>
            </a:r>
          </a:p>
          <a:p>
            <a:pPr lvl="1" algn="just"/>
            <a:r>
              <a:rPr lang="en-US" dirty="0"/>
              <a:t>4 slots of 16 bit data comprising 64 bits in total</a:t>
            </a:r>
          </a:p>
          <a:p>
            <a:pPr algn="just"/>
            <a:r>
              <a:rPr lang="en-US" dirty="0"/>
              <a:t>If sum exceeds 16 bits in any of the destination slot, or in other words, there is a carry on the most significant bit;</a:t>
            </a:r>
          </a:p>
          <a:p>
            <a:pPr lvl="1" algn="just"/>
            <a:r>
              <a:rPr lang="en-US" dirty="0"/>
              <a:t>The carry (or the 17</a:t>
            </a:r>
            <a:r>
              <a:rPr lang="en-US" baseline="30000" dirty="0"/>
              <a:t>th</a:t>
            </a:r>
            <a:r>
              <a:rPr lang="en-US" dirty="0"/>
              <a:t> bit) will be discarded and the sum will be wrapped around to keep it to 16 bits</a:t>
            </a:r>
          </a:p>
          <a:p>
            <a:pPr algn="just"/>
            <a:r>
              <a:rPr lang="en-US" dirty="0"/>
              <a:t>Wrap-around: Adding anything to the max → goes back to min (like a clock).</a:t>
            </a:r>
          </a:p>
          <a:p>
            <a:pPr algn="just"/>
            <a:r>
              <a:rPr lang="en-US" dirty="0"/>
              <a:t>Saturation: Adding anything to the max → stays at max; subtracting from min → stays at min.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01329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19CE9-FFA1-C6E0-7E1F-A87F18301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 Around and Saturation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9DA370-143E-1B8D-D951-FC89B29B93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8601004"/>
              </p:ext>
            </p:extLst>
          </p:nvPr>
        </p:nvGraphicFramePr>
        <p:xfrm>
          <a:off x="2733678" y="2538472"/>
          <a:ext cx="6724644" cy="35730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20774">
                  <a:extLst>
                    <a:ext uri="{9D8B030D-6E8A-4147-A177-3AD203B41FA5}">
                      <a16:colId xmlns:a16="http://schemas.microsoft.com/office/drawing/2014/main" val="1585819133"/>
                    </a:ext>
                  </a:extLst>
                </a:gridCol>
                <a:gridCol w="1120774">
                  <a:extLst>
                    <a:ext uri="{9D8B030D-6E8A-4147-A177-3AD203B41FA5}">
                      <a16:colId xmlns:a16="http://schemas.microsoft.com/office/drawing/2014/main" val="2476467815"/>
                    </a:ext>
                  </a:extLst>
                </a:gridCol>
                <a:gridCol w="1120774">
                  <a:extLst>
                    <a:ext uri="{9D8B030D-6E8A-4147-A177-3AD203B41FA5}">
                      <a16:colId xmlns:a16="http://schemas.microsoft.com/office/drawing/2014/main" val="702162854"/>
                    </a:ext>
                  </a:extLst>
                </a:gridCol>
                <a:gridCol w="1120774">
                  <a:extLst>
                    <a:ext uri="{9D8B030D-6E8A-4147-A177-3AD203B41FA5}">
                      <a16:colId xmlns:a16="http://schemas.microsoft.com/office/drawing/2014/main" val="2034299991"/>
                    </a:ext>
                  </a:extLst>
                </a:gridCol>
                <a:gridCol w="1120774">
                  <a:extLst>
                    <a:ext uri="{9D8B030D-6E8A-4147-A177-3AD203B41FA5}">
                      <a16:colId xmlns:a16="http://schemas.microsoft.com/office/drawing/2014/main" val="1116605615"/>
                    </a:ext>
                  </a:extLst>
                </a:gridCol>
                <a:gridCol w="1120774">
                  <a:extLst>
                    <a:ext uri="{9D8B030D-6E8A-4147-A177-3AD203B41FA5}">
                      <a16:colId xmlns:a16="http://schemas.microsoft.com/office/drawing/2014/main" val="1814924964"/>
                    </a:ext>
                  </a:extLst>
                </a:gridCol>
              </a:tblGrid>
              <a:tr h="4102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/>
                        <a:t>Bit-width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/>
                        <a:t>Type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/>
                        <a:t>Addition Behavior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/>
                        <a:t>Min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/>
                        <a:t>Max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/>
                        <a:t>Example (FF + 01)</a:t>
                      </a:r>
                    </a:p>
                  </a:txBody>
                  <a:tcPr marL="54391" marR="54391" marT="27196" marB="27196" anchor="ctr"/>
                </a:tc>
                <a:extLst>
                  <a:ext uri="{0D108BD9-81ED-4DB2-BD59-A6C34878D82A}">
                    <a16:rowId xmlns:a16="http://schemas.microsoft.com/office/drawing/2014/main" val="1217296222"/>
                  </a:ext>
                </a:extLst>
              </a:tr>
              <a:tr h="2337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8-bit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-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Wrap-around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100"/>
                        <a:t>00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FF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FF + 01 → 00</a:t>
                      </a:r>
                    </a:p>
                  </a:txBody>
                  <a:tcPr marL="54391" marR="54391" marT="27196" marB="27196" anchor="ctr"/>
                </a:tc>
                <a:extLst>
                  <a:ext uri="{0D108BD9-81ED-4DB2-BD59-A6C34878D82A}">
                    <a16:rowId xmlns:a16="http://schemas.microsoft.com/office/drawing/2014/main" val="938057581"/>
                  </a:ext>
                </a:extLst>
              </a:tr>
              <a:tr h="2337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8-bit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Unsigned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Saturation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100"/>
                        <a:t>00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FF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FF + 01 → FF</a:t>
                      </a:r>
                    </a:p>
                  </a:txBody>
                  <a:tcPr marL="54391" marR="54391" marT="27196" marB="27196" anchor="ctr"/>
                </a:tc>
                <a:extLst>
                  <a:ext uri="{0D108BD9-81ED-4DB2-BD59-A6C34878D82A}">
                    <a16:rowId xmlns:a16="http://schemas.microsoft.com/office/drawing/2014/main" val="3589665126"/>
                  </a:ext>
                </a:extLst>
              </a:tr>
              <a:tr h="2337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8-bit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Signed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Saturation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100"/>
                        <a:t>80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7F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7F + 01 → 7F</a:t>
                      </a:r>
                    </a:p>
                  </a:txBody>
                  <a:tcPr marL="54391" marR="54391" marT="27196" marB="27196" anchor="ctr"/>
                </a:tc>
                <a:extLst>
                  <a:ext uri="{0D108BD9-81ED-4DB2-BD59-A6C34878D82A}">
                    <a16:rowId xmlns:a16="http://schemas.microsoft.com/office/drawing/2014/main" val="2584058999"/>
                  </a:ext>
                </a:extLst>
              </a:tr>
              <a:tr h="4102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16-bit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-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Wrap-around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100" dirty="0"/>
                        <a:t>0000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FFFF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FFFF + 0001 → 0000</a:t>
                      </a:r>
                    </a:p>
                  </a:txBody>
                  <a:tcPr marL="54391" marR="54391" marT="27196" marB="27196" anchor="ctr"/>
                </a:tc>
                <a:extLst>
                  <a:ext uri="{0D108BD9-81ED-4DB2-BD59-A6C34878D82A}">
                    <a16:rowId xmlns:a16="http://schemas.microsoft.com/office/drawing/2014/main" val="2295421037"/>
                  </a:ext>
                </a:extLst>
              </a:tr>
              <a:tr h="4102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16-bit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Unsigned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Saturation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100"/>
                        <a:t>0000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FFFF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FFFF + 0001 → FFFF</a:t>
                      </a:r>
                    </a:p>
                  </a:txBody>
                  <a:tcPr marL="54391" marR="54391" marT="27196" marB="27196" anchor="ctr"/>
                </a:tc>
                <a:extLst>
                  <a:ext uri="{0D108BD9-81ED-4DB2-BD59-A6C34878D82A}">
                    <a16:rowId xmlns:a16="http://schemas.microsoft.com/office/drawing/2014/main" val="2821912375"/>
                  </a:ext>
                </a:extLst>
              </a:tr>
              <a:tr h="4102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16-bit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Signed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Saturation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100"/>
                        <a:t>8000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7FFF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7FFF + 0001 → 7FFF</a:t>
                      </a:r>
                    </a:p>
                  </a:txBody>
                  <a:tcPr marL="54391" marR="54391" marT="27196" marB="27196" anchor="ctr"/>
                </a:tc>
                <a:extLst>
                  <a:ext uri="{0D108BD9-81ED-4DB2-BD59-A6C34878D82A}">
                    <a16:rowId xmlns:a16="http://schemas.microsoft.com/office/drawing/2014/main" val="3495963659"/>
                  </a:ext>
                </a:extLst>
              </a:tr>
              <a:tr h="4102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32-bit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-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Wrap-around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100"/>
                        <a:t>00000000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FFFFFFFF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FFFFFFFF + 1 → 00000000</a:t>
                      </a:r>
                    </a:p>
                  </a:txBody>
                  <a:tcPr marL="54391" marR="54391" marT="27196" marB="27196" anchor="ctr"/>
                </a:tc>
                <a:extLst>
                  <a:ext uri="{0D108BD9-81ED-4DB2-BD59-A6C34878D82A}">
                    <a16:rowId xmlns:a16="http://schemas.microsoft.com/office/drawing/2014/main" val="791560990"/>
                  </a:ext>
                </a:extLst>
              </a:tr>
              <a:tr h="4102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32-bit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Unsigned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Saturation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100"/>
                        <a:t>00000000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FFFFFFFF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FFFFFFFF + 1 → FFFFFFFF</a:t>
                      </a:r>
                    </a:p>
                  </a:txBody>
                  <a:tcPr marL="54391" marR="54391" marT="27196" marB="27196" anchor="ctr"/>
                </a:tc>
                <a:extLst>
                  <a:ext uri="{0D108BD9-81ED-4DB2-BD59-A6C34878D82A}">
                    <a16:rowId xmlns:a16="http://schemas.microsoft.com/office/drawing/2014/main" val="4025483706"/>
                  </a:ext>
                </a:extLst>
              </a:tr>
              <a:tr h="4102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32-bit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/>
                        <a:t>Signed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Saturation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100" dirty="0"/>
                        <a:t>80000000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7FFFFFFF</a:t>
                      </a:r>
                    </a:p>
                  </a:txBody>
                  <a:tcPr marL="54391" marR="54391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7FFFFFFF + 1 → 7FFFFFFF</a:t>
                      </a:r>
                    </a:p>
                  </a:txBody>
                  <a:tcPr marL="54391" marR="54391" marT="27196" marB="27196" anchor="ctr"/>
                </a:tc>
                <a:extLst>
                  <a:ext uri="{0D108BD9-81ED-4DB2-BD59-A6C34878D82A}">
                    <a16:rowId xmlns:a16="http://schemas.microsoft.com/office/drawing/2014/main" val="2251170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3421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C9D71-6265-60C7-25DE-A82BD169C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11867-5570-318C-36F3-D01EF9FC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Signed Saturation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51B9B2-BBBF-09D0-BA02-193CA72E66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0831"/>
          <a:stretch>
            <a:fillRect/>
          </a:stretch>
        </p:blipFill>
        <p:spPr>
          <a:xfrm>
            <a:off x="3068919" y="2768072"/>
            <a:ext cx="6054162" cy="2625022"/>
          </a:xfrm>
        </p:spPr>
      </p:pic>
    </p:spTree>
    <p:extLst>
      <p:ext uri="{BB962C8B-B14F-4D97-AF65-F5344CB8AC3E}">
        <p14:creationId xmlns:p14="http://schemas.microsoft.com/office/powerpoint/2010/main" val="1441611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DBC0-93FA-F7A1-0F43-B04E23D2A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Unsigned Saturation</a:t>
            </a:r>
            <a:endParaRPr lang="en-P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D55EA8-4AE1-D6AE-B1AA-43938A636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case of overflow or underflow (for subtraction), the result will be saturated/clamped to a specified value</a:t>
            </a:r>
          </a:p>
          <a:p>
            <a:r>
              <a:rPr lang="en-US" dirty="0"/>
              <a:t>The range for 16 bit data is 0x0000 to 0xFFFF (0-65535 in decimal)</a:t>
            </a:r>
          </a:p>
          <a:p>
            <a:r>
              <a:rPr lang="en-US" dirty="0"/>
              <a:t>If the result is lower than zero, it will be automatically converted (saturated) to 0x0000</a:t>
            </a:r>
          </a:p>
          <a:p>
            <a:r>
              <a:rPr lang="en-US" dirty="0"/>
              <a:t>If the result exceeds 65535, it will be saturated to 0xFFFF</a:t>
            </a:r>
          </a:p>
          <a:p>
            <a:r>
              <a:rPr lang="en-US" dirty="0"/>
              <a:t>For a signed word the largest and the smallest representable values are 7FFFh and 0x8000.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52061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0E6F2-5200-403D-F4D2-E8243AA76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9C8FD-EBBE-E503-603F-59C521AAB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Unsigned Saturation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4EBFEE-5A5A-DB0E-10CA-BEDDAD9DEF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1700" y="2809671"/>
            <a:ext cx="6288599" cy="2921616"/>
          </a:xfrm>
        </p:spPr>
      </p:pic>
    </p:spTree>
    <p:extLst>
      <p:ext uri="{BB962C8B-B14F-4D97-AF65-F5344CB8AC3E}">
        <p14:creationId xmlns:p14="http://schemas.microsoft.com/office/powerpoint/2010/main" val="623080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2E0B3-FC14-4730-A102-D12FB0322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Multiplication using MMX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35616D-47DD-B0FA-C23F-3254A2FCF7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5895" y="2642194"/>
            <a:ext cx="6340210" cy="3338728"/>
          </a:xfrm>
        </p:spPr>
      </p:pic>
    </p:spTree>
    <p:extLst>
      <p:ext uri="{BB962C8B-B14F-4D97-AF65-F5344CB8AC3E}">
        <p14:creationId xmlns:p14="http://schemas.microsoft.com/office/powerpoint/2010/main" val="4202950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71D27-61D9-8B5A-D402-813059C87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using MMX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39931B-2906-B54B-8E5E-5293DC67AC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9084" y="2682256"/>
            <a:ext cx="6793832" cy="3062135"/>
          </a:xfrm>
        </p:spPr>
      </p:pic>
    </p:spTree>
    <p:extLst>
      <p:ext uri="{BB962C8B-B14F-4D97-AF65-F5344CB8AC3E}">
        <p14:creationId xmlns:p14="http://schemas.microsoft.com/office/powerpoint/2010/main" val="1925595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9465E-86B1-D394-AA0F-48F836D59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Word -&gt; Word</a:t>
            </a:r>
            <a:endParaRPr lang="en-PK" dirty="0"/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BB9106C9-6B0A-2405-2EF5-F0FE4ACC2E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971" y="2706550"/>
            <a:ext cx="6440057" cy="331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6274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8FD5A-3412-7ACD-53DB-EB6EBBF9D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3C568-C274-5DCE-3C7D-F8179DB3F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-&gt; Byte</a:t>
            </a:r>
            <a:endParaRPr lang="en-PK" dirty="0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471A1349-9CFB-B46E-DF25-FD7BF6727B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054" y="2587280"/>
            <a:ext cx="6545891" cy="357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8427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006C8-BF84-7CFF-A1FC-FB07BABAE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Interleave – </a:t>
            </a:r>
            <a:r>
              <a:rPr lang="en-US" dirty="0" err="1"/>
              <a:t>punpcklwd</a:t>
            </a:r>
            <a:endParaRPr lang="en-PK" dirty="0"/>
          </a:p>
        </p:txBody>
      </p:sp>
      <p:pic>
        <p:nvPicPr>
          <p:cNvPr id="2052" name="Picture 4" descr="11.7 MMX Technology Instructions">
            <a:extLst>
              <a:ext uri="{FF2B5EF4-FFF2-40B4-BE49-F238E27FC236}">
                <a16:creationId xmlns:a16="http://schemas.microsoft.com/office/drawing/2014/main" id="{8EA2397C-5059-D62F-AB78-281E9D1ED8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006" y="2557463"/>
            <a:ext cx="5973988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944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22106-FDA3-4E34-4D15-7BBDF105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EMMS Instruction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D6876-86B7-72EC-A4B3-9A10BCFAD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Used to clear the multimedia state after performing MMX operations</a:t>
            </a:r>
          </a:p>
          <a:p>
            <a:pPr algn="just"/>
            <a:r>
              <a:rPr lang="en-US" dirty="0"/>
              <a:t>Used to ensure that the MMX state is not accidentally used in subsequent floating-point operations</a:t>
            </a:r>
          </a:p>
          <a:p>
            <a:pPr algn="just"/>
            <a:r>
              <a:rPr lang="en-US" dirty="0"/>
              <a:t>Used to reset the multimedia state of the processor, clearing any MMX registers and freeing them up for use by other instructions</a:t>
            </a:r>
          </a:p>
          <a:p>
            <a:pPr algn="just"/>
            <a:r>
              <a:rPr lang="en-US" dirty="0"/>
              <a:t>Used at the end of a block of code that uses MMX instructions to ensure that the processor’s multimedia state is in a known state before continuing to execute other instructions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95964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80C-F349-79DC-9AD9-911FF6135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1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E814BC-43FD-184A-3E50-B6F463F39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21589" y="2566794"/>
            <a:ext cx="4548822" cy="3596892"/>
          </a:xfrm>
        </p:spPr>
      </p:pic>
    </p:spTree>
    <p:extLst>
      <p:ext uri="{BB962C8B-B14F-4D97-AF65-F5344CB8AC3E}">
        <p14:creationId xmlns:p14="http://schemas.microsoft.com/office/powerpoint/2010/main" val="264064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9251-DA81-A8D1-7E0A-798A98738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2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772748-7DEC-DA76-9B97-22CCDBCBE9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80384" y="2557463"/>
            <a:ext cx="7031231" cy="3614114"/>
          </a:xfrm>
        </p:spPr>
      </p:pic>
    </p:spTree>
    <p:extLst>
      <p:ext uri="{BB962C8B-B14F-4D97-AF65-F5344CB8AC3E}">
        <p14:creationId xmlns:p14="http://schemas.microsoft.com/office/powerpoint/2010/main" val="62360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F5F3A-22B7-480D-65B2-953E05A6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3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D21459-61AD-2C5A-1D5F-5240DEEA3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77307" y="2520141"/>
            <a:ext cx="4637385" cy="3642756"/>
          </a:xfrm>
        </p:spPr>
      </p:pic>
    </p:spTree>
    <p:extLst>
      <p:ext uri="{BB962C8B-B14F-4D97-AF65-F5344CB8AC3E}">
        <p14:creationId xmlns:p14="http://schemas.microsoft.com/office/powerpoint/2010/main" val="12873188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DC11-8E5D-59C2-0E3A-68BD49B68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4</a:t>
            </a:r>
            <a:endParaRPr lang="en-PK" dirty="0"/>
          </a:p>
        </p:txBody>
      </p:sp>
      <p:pic>
        <p:nvPicPr>
          <p:cNvPr id="7" name="Content Placeholder 6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C7D48357-C665-2245-ABB3-82D817BAC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25514" y="2507767"/>
            <a:ext cx="4340971" cy="367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2840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254</TotalTime>
  <Words>1557</Words>
  <Application>Microsoft Office PowerPoint</Application>
  <PresentationFormat>Widescreen</PresentationFormat>
  <Paragraphs>249</Paragraphs>
  <Slides>27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Cascadia Mono</vt:lpstr>
      <vt:lpstr>Garamond</vt:lpstr>
      <vt:lpstr>Organic</vt:lpstr>
      <vt:lpstr>MMX</vt:lpstr>
      <vt:lpstr>Definition</vt:lpstr>
      <vt:lpstr>SIMD</vt:lpstr>
      <vt:lpstr>SIMD Registers</vt:lpstr>
      <vt:lpstr>SIMD Registers</vt:lpstr>
      <vt:lpstr>Why SIMD for MMX</vt:lpstr>
      <vt:lpstr>Key Points</vt:lpstr>
      <vt:lpstr>Limitations</vt:lpstr>
      <vt:lpstr>Organization of MMX Registers</vt:lpstr>
      <vt:lpstr>MMX Operations</vt:lpstr>
      <vt:lpstr>Pack: The PACK instructions in MMX are used to pack data elements from two MMX registers into a single MMX register</vt:lpstr>
      <vt:lpstr>MMX Instruction Set</vt:lpstr>
      <vt:lpstr>Wrap Around Add</vt:lpstr>
      <vt:lpstr>Wrap Around and Saturation</vt:lpstr>
      <vt:lpstr>Signed Saturation</vt:lpstr>
      <vt:lpstr>Unsigned Saturation</vt:lpstr>
      <vt:lpstr>Unsigned Saturation</vt:lpstr>
      <vt:lpstr>Multiplication using MMX</vt:lpstr>
      <vt:lpstr>Comparison using MMX</vt:lpstr>
      <vt:lpstr>Double Word -&gt; Word</vt:lpstr>
      <vt:lpstr>Word -&gt; Byte</vt:lpstr>
      <vt:lpstr>Interleave – punpcklwd</vt:lpstr>
      <vt:lpstr>EMMS Instruction</vt:lpstr>
      <vt:lpstr>Example – 1</vt:lpstr>
      <vt:lpstr>Example – 2</vt:lpstr>
      <vt:lpstr>Example – 3</vt:lpstr>
      <vt:lpstr>Example –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Sehar Ali</dc:creator>
  <cp:lastModifiedBy>Sehar Ali</cp:lastModifiedBy>
  <cp:revision>43</cp:revision>
  <dcterms:created xsi:type="dcterms:W3CDTF">2025-01-15T18:17:19Z</dcterms:created>
  <dcterms:modified xsi:type="dcterms:W3CDTF">2025-12-29T11:07:11Z</dcterms:modified>
</cp:coreProperties>
</file>